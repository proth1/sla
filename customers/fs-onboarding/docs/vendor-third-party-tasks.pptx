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92608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7315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10058400" cy="914400"/>
          </a:xfrm>
          <a:prstGeom prst="rect">
            <a:avLst/>
          </a:prstGeom>
          <a:noFill/>
        </p:spPr>
        <p:txBody>
          <a:bodyPr wrap="square">
            <a:spAutoFit/>
          </a:bodyPr>
          <a:lstStyle/>
          <a:p>
            <a:pPr algn="l">
              <a:defRPr sz="3600" b="1">
                <a:solidFill>
                  <a:srgbClr val="FFFFFF"/>
                </a:solidFill>
                <a:latin typeface="Calibri"/>
              </a:defRPr>
            </a:pPr>
            <a:r>
              <a:t>Vendor / Third Party</a:t>
            </a:r>
          </a:p>
        </p:txBody>
      </p:sp>
      <p:sp>
        <p:nvSpPr>
          <p:cNvPr id="5" name="TextBox 4"/>
          <p:cNvSpPr txBox="1"/>
          <p:nvPr/>
        </p:nvSpPr>
        <p:spPr>
          <a:xfrm>
            <a:off x="914400" y="1554480"/>
            <a:ext cx="10058400" cy="548640"/>
          </a:xfrm>
          <a:prstGeom prst="rect">
            <a:avLst/>
          </a:prstGeom>
          <a:noFill/>
        </p:spPr>
        <p:txBody>
          <a:bodyPr wrap="square">
            <a:spAutoFit/>
          </a:bodyPr>
          <a:lstStyle/>
          <a:p>
            <a:pPr algn="l">
              <a:defRPr sz="2400" b="0">
                <a:solidFill>
                  <a:srgbClr val="A0C4FF"/>
                </a:solidFill>
                <a:latin typeface="Calibri"/>
              </a:defRPr>
            </a:pPr>
            <a:r>
              <a:t>External Software or Contracting</a:t>
            </a:r>
          </a:p>
        </p:txBody>
      </p:sp>
      <p:sp>
        <p:nvSpPr>
          <p:cNvPr id="6" name="TextBox 5"/>
          <p:cNvSpPr txBox="1"/>
          <p:nvPr/>
        </p:nvSpPr>
        <p:spPr>
          <a:xfrm>
            <a:off x="914400" y="2194560"/>
            <a:ext cx="10058400" cy="457200"/>
          </a:xfrm>
          <a:prstGeom prst="rect">
            <a:avLst/>
          </a:prstGeom>
          <a:noFill/>
        </p:spPr>
        <p:txBody>
          <a:bodyPr wrap="square">
            <a:spAutoFit/>
          </a:bodyPr>
          <a:lstStyle/>
          <a:p>
            <a:pPr algn="l">
              <a:defRPr sz="1400" b="0">
                <a:solidFill>
                  <a:srgbClr val="80A8E0"/>
                </a:solidFill>
                <a:latin typeface="Calibri"/>
              </a:defRPr>
            </a:pPr>
            <a:r>
              <a:t>Swimlane User Task Documentation  |  Onboarding Ideal State v2</a:t>
            </a:r>
          </a:p>
        </p:txBody>
      </p:sp>
      <p:sp>
        <p:nvSpPr>
          <p:cNvPr id="7" name="TextBox 6"/>
          <p:cNvSpPr txBox="1"/>
          <p:nvPr/>
        </p:nvSpPr>
        <p:spPr>
          <a:xfrm>
            <a:off x="914400" y="3474720"/>
            <a:ext cx="10058400" cy="457200"/>
          </a:xfrm>
          <a:prstGeom prst="rect">
            <a:avLst/>
          </a:prstGeom>
          <a:noFill/>
        </p:spPr>
        <p:txBody>
          <a:bodyPr wrap="square">
            <a:spAutoFit/>
          </a:bodyPr>
          <a:lstStyle/>
          <a:p>
            <a:pPr algn="l">
              <a:defRPr sz="2000" b="1">
                <a:solidFill>
                  <a:srgbClr val="00338D"/>
                </a:solidFill>
                <a:latin typeface="Calibri"/>
              </a:defRPr>
            </a:pPr>
            <a:r>
              <a:t>10 User Tasks in the Vendor Lifecycle</a:t>
            </a:r>
          </a:p>
        </p:txBody>
      </p:sp>
      <p:sp>
        <p:nvSpPr>
          <p:cNvPr id="8" name="Rectangle 7"/>
          <p:cNvSpPr/>
          <p:nvPr/>
        </p:nvSpPr>
        <p:spPr>
          <a:xfrm>
            <a:off x="914400" y="4114800"/>
            <a:ext cx="1920240" cy="7772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000" b="1">
                <a:solidFill>
                  <a:srgbClr val="00338D"/>
                </a:solidFill>
                <a:latin typeface="Calibri"/>
              </a:defRPr>
            </a:pPr>
            <a:r>
              <a:t>1. Vendor Intake and Qualification</a:t>
            </a:r>
          </a:p>
        </p:txBody>
      </p:sp>
      <p:sp>
        <p:nvSpPr>
          <p:cNvPr id="9" name="Rectangle 8"/>
          <p:cNvSpPr/>
          <p:nvPr/>
        </p:nvSpPr>
        <p:spPr>
          <a:xfrm>
            <a:off x="3017520" y="4114800"/>
            <a:ext cx="1920240" cy="7772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000" b="1">
                <a:solidFill>
                  <a:srgbClr val="00338D"/>
                </a:solidFill>
                <a:latin typeface="Calibri"/>
              </a:defRPr>
            </a:pPr>
            <a:r>
              <a:t>2. Vendor Proposal</a:t>
            </a:r>
          </a:p>
        </p:txBody>
      </p:sp>
      <p:sp>
        <p:nvSpPr>
          <p:cNvPr id="10" name="Rectangle 9"/>
          <p:cNvSpPr/>
          <p:nvPr/>
        </p:nvSpPr>
        <p:spPr>
          <a:xfrm>
            <a:off x="5120640" y="4114800"/>
            <a:ext cx="1920240" cy="7772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000" b="1">
                <a:solidFill>
                  <a:srgbClr val="00338D"/>
                </a:solidFill>
                <a:latin typeface="Calibri"/>
              </a:defRPr>
            </a:pPr>
            <a:r>
              <a:t>3. Security Questionnaire</a:t>
            </a:r>
          </a:p>
        </p:txBody>
      </p:sp>
      <p:sp>
        <p:nvSpPr>
          <p:cNvPr id="11" name="Rectangle 10"/>
          <p:cNvSpPr/>
          <p:nvPr/>
        </p:nvSpPr>
        <p:spPr>
          <a:xfrm>
            <a:off x="7223759" y="4114800"/>
            <a:ext cx="1920240" cy="7772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000" b="1">
                <a:solidFill>
                  <a:srgbClr val="00338D"/>
                </a:solidFill>
                <a:latin typeface="Calibri"/>
              </a:defRPr>
            </a:pPr>
            <a:r>
              <a:t>4. Compliance Documentation</a:t>
            </a:r>
          </a:p>
        </p:txBody>
      </p:sp>
      <p:sp>
        <p:nvSpPr>
          <p:cNvPr id="12" name="Rectangle 11"/>
          <p:cNvSpPr/>
          <p:nvPr/>
        </p:nvSpPr>
        <p:spPr>
          <a:xfrm>
            <a:off x="9326880" y="4114800"/>
            <a:ext cx="1920240" cy="7772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000" b="1">
                <a:solidFill>
                  <a:srgbClr val="00338D"/>
                </a:solidFill>
                <a:latin typeface="Calibri"/>
              </a:defRPr>
            </a:pPr>
            <a:r>
              <a:t>5. Technical Demonstration</a:t>
            </a:r>
          </a:p>
        </p:txBody>
      </p:sp>
      <p:sp>
        <p:nvSpPr>
          <p:cNvPr id="13" name="Rectangle 12"/>
          <p:cNvSpPr/>
          <p:nvPr/>
        </p:nvSpPr>
        <p:spPr>
          <a:xfrm>
            <a:off x="914400" y="5120640"/>
            <a:ext cx="1920240" cy="7772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000" b="1">
                <a:solidFill>
                  <a:srgbClr val="00338D"/>
                </a:solidFill>
                <a:latin typeface="Calibri"/>
              </a:defRPr>
            </a:pPr>
            <a:r>
              <a:t>6. Vendor Contract Review</a:t>
            </a:r>
          </a:p>
        </p:txBody>
      </p:sp>
      <p:sp>
        <p:nvSpPr>
          <p:cNvPr id="14" name="Rectangle 13"/>
          <p:cNvSpPr/>
          <p:nvPr/>
        </p:nvSpPr>
        <p:spPr>
          <a:xfrm>
            <a:off x="3017520" y="5120640"/>
            <a:ext cx="1920240" cy="7772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000" b="1">
                <a:solidFill>
                  <a:srgbClr val="00338D"/>
                </a:solidFill>
                <a:latin typeface="Calibri"/>
              </a:defRPr>
            </a:pPr>
            <a:r>
              <a:t>7. Contract Execution</a:t>
            </a:r>
          </a:p>
        </p:txBody>
      </p:sp>
      <p:sp>
        <p:nvSpPr>
          <p:cNvPr id="15" name="Rectangle 14"/>
          <p:cNvSpPr/>
          <p:nvPr/>
        </p:nvSpPr>
        <p:spPr>
          <a:xfrm>
            <a:off x="5120640" y="5120640"/>
            <a:ext cx="1920240" cy="7772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000" b="1">
                <a:solidFill>
                  <a:srgbClr val="00338D"/>
                </a:solidFill>
                <a:latin typeface="Calibri"/>
              </a:defRPr>
            </a:pPr>
            <a:r>
              <a:t>8. Vendor Onboarding</a:t>
            </a:r>
          </a:p>
        </p:txBody>
      </p:sp>
      <p:sp>
        <p:nvSpPr>
          <p:cNvPr id="16" name="Rectangle 15"/>
          <p:cNvSpPr/>
          <p:nvPr/>
        </p:nvSpPr>
        <p:spPr>
          <a:xfrm>
            <a:off x="7223759" y="5120640"/>
            <a:ext cx="1920240" cy="7772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000" b="1">
                <a:solidFill>
                  <a:srgbClr val="00338D"/>
                </a:solidFill>
                <a:latin typeface="Calibri"/>
              </a:defRPr>
            </a:pPr>
            <a:r>
              <a:t>9. Deployment Support</a:t>
            </a:r>
          </a:p>
        </p:txBody>
      </p:sp>
      <p:sp>
        <p:nvSpPr>
          <p:cNvPr id="17" name="Rectangle 16"/>
          <p:cNvSpPr/>
          <p:nvPr/>
        </p:nvSpPr>
        <p:spPr>
          <a:xfrm>
            <a:off x="9326880" y="5120640"/>
            <a:ext cx="1920240" cy="7772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000" b="1">
                <a:solidFill>
                  <a:srgbClr val="00338D"/>
                </a:solidFill>
                <a:latin typeface="Calibri"/>
              </a:defRPr>
            </a:pPr>
            <a:r>
              <a:t>10. Close Request</a:t>
            </a:r>
          </a:p>
        </p:txBody>
      </p:sp>
      <p:sp>
        <p:nvSpPr>
          <p:cNvPr id="18" name="Rectangle 17"/>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20" name="TextBox 19"/>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1 of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01</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Vendor Intake and Qualification</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BPMN ID: Task_VendorIntake  |  Candidate Group: vendor-response</a:t>
            </a:r>
          </a:p>
        </p:txBody>
      </p:sp>
      <p:sp>
        <p:nvSpPr>
          <p:cNvPr id="7" name="Rectangle 6"/>
          <p:cNvSpPr/>
          <p:nvPr/>
        </p:nvSpPr>
        <p:spPr>
          <a:xfrm>
            <a:off x="457200" y="1051560"/>
            <a:ext cx="11247120" cy="14630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97280"/>
            <a:ext cx="10881360" cy="274320"/>
          </a:xfrm>
          <a:prstGeom prst="rect">
            <a:avLst/>
          </a:prstGeom>
          <a:noFill/>
        </p:spPr>
        <p:txBody>
          <a:bodyPr wrap="square">
            <a:spAutoFit/>
          </a:bodyPr>
          <a:lstStyle/>
          <a:p>
            <a:pPr algn="l">
              <a:defRPr sz="1000" b="1">
                <a:solidFill>
                  <a:srgbClr val="0053AE"/>
                </a:solidFill>
                <a:latin typeface="Calibri"/>
              </a:defRPr>
            </a:pPr>
            <a:r>
              <a:t>DESCRIPTION</a:t>
            </a:r>
          </a:p>
        </p:txBody>
      </p:sp>
      <p:sp>
        <p:nvSpPr>
          <p:cNvPr id="9" name="TextBox 8"/>
          <p:cNvSpPr txBox="1"/>
          <p:nvPr/>
        </p:nvSpPr>
        <p:spPr>
          <a:xfrm>
            <a:off x="640080" y="1371600"/>
            <a:ext cx="10881360" cy="1097280"/>
          </a:xfrm>
          <a:prstGeom prst="rect">
            <a:avLst/>
          </a:prstGeom>
          <a:noFill/>
        </p:spPr>
        <p:txBody>
          <a:bodyPr wrap="square">
            <a:spAutoFit/>
          </a:bodyPr>
          <a:lstStyle/>
          <a:p>
            <a:pPr algn="l">
              <a:defRPr sz="1100" b="0">
                <a:solidFill>
                  <a:srgbClr val="2D2D2D"/>
                </a:solidFill>
                <a:latin typeface="Calibri"/>
              </a:defRPr>
            </a:pPr>
            <a:r>
              <a:t>Screen vendor eligibility and establish baseline qualification before any substantive information exchange begins. Collect vendor legal entity details, ownership structure, financial stability indicators, geographic footprint, and existing certifications. Perform conflict-of-interest screening and preliminary risk tier classification. Verify the vendor is not on any sanctions or exclusion lists. Establish the lawful basis for data collection under applicable privacy regulations.</a:t>
            </a:r>
          </a:p>
        </p:txBody>
      </p:sp>
      <p:sp>
        <p:nvSpPr>
          <p:cNvPr id="10" name="TextBox 9"/>
          <p:cNvSpPr txBox="1"/>
          <p:nvPr/>
        </p:nvSpPr>
        <p:spPr>
          <a:xfrm>
            <a:off x="457200" y="2697480"/>
            <a:ext cx="10972800" cy="274320"/>
          </a:xfrm>
          <a:prstGeom prst="rect">
            <a:avLst/>
          </a:prstGeom>
          <a:noFill/>
        </p:spPr>
        <p:txBody>
          <a:bodyPr wrap="square">
            <a:spAutoFit/>
          </a:bodyPr>
          <a:lstStyle/>
          <a:p>
            <a:pPr algn="l">
              <a:defRPr sz="1200" b="1">
                <a:solidFill>
                  <a:srgbClr val="00338D"/>
                </a:solidFill>
                <a:latin typeface="Calibri"/>
              </a:defRPr>
            </a:pPr>
            <a:r>
              <a:t>REGULATORY CONTROLS</a:t>
            </a:r>
          </a:p>
        </p:txBody>
      </p:sp>
      <p:sp>
        <p:nvSpPr>
          <p:cNvPr id="11" name="Rectangle 10"/>
          <p:cNvSpPr/>
          <p:nvPr/>
        </p:nvSpPr>
        <p:spPr>
          <a:xfrm>
            <a:off x="457200" y="2971800"/>
            <a:ext cx="11247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63240"/>
            <a:ext cx="10881360" cy="228600"/>
          </a:xfrm>
          <a:prstGeom prst="rect">
            <a:avLst/>
          </a:prstGeom>
          <a:noFill/>
        </p:spPr>
        <p:txBody>
          <a:bodyPr wrap="square">
            <a:spAutoFit/>
          </a:bodyPr>
          <a:lstStyle/>
          <a:p>
            <a:pPr algn="l">
              <a:defRPr sz="1000" b="1">
                <a:solidFill>
                  <a:srgbClr val="007B5F"/>
                </a:solidFill>
                <a:latin typeface="Calibri"/>
              </a:defRPr>
            </a:pPr>
            <a:r>
              <a:t>OCC 2023-17 Sections 30-35</a:t>
            </a:r>
          </a:p>
        </p:txBody>
      </p:sp>
      <p:sp>
        <p:nvSpPr>
          <p:cNvPr id="13" name="TextBox 12"/>
          <p:cNvSpPr txBox="1"/>
          <p:nvPr/>
        </p:nvSpPr>
        <p:spPr>
          <a:xfrm>
            <a:off x="822960" y="3264408"/>
            <a:ext cx="10698480" cy="320040"/>
          </a:xfrm>
          <a:prstGeom prst="rect">
            <a:avLst/>
          </a:prstGeom>
          <a:noFill/>
        </p:spPr>
        <p:txBody>
          <a:bodyPr wrap="square">
            <a:spAutoFit/>
          </a:bodyPr>
          <a:lstStyle/>
          <a:p>
            <a:pPr algn="l">
              <a:defRPr sz="900" b="0">
                <a:solidFill>
                  <a:srgbClr val="5F6368"/>
                </a:solidFill>
                <a:latin typeface="Calibri"/>
              </a:defRPr>
            </a:pPr>
            <a:r>
              <a:t>Pre-engagement due diligence requirements — verify vendor identity, assess concentration risk, determine if vendor is critical or significant.</a:t>
            </a:r>
          </a:p>
        </p:txBody>
      </p:sp>
      <p:sp>
        <p:nvSpPr>
          <p:cNvPr id="14" name="TextBox 13"/>
          <p:cNvSpPr txBox="1"/>
          <p:nvPr/>
        </p:nvSpPr>
        <p:spPr>
          <a:xfrm>
            <a:off x="640080" y="3584448"/>
            <a:ext cx="10881360" cy="228600"/>
          </a:xfrm>
          <a:prstGeom prst="rect">
            <a:avLst/>
          </a:prstGeom>
          <a:noFill/>
        </p:spPr>
        <p:txBody>
          <a:bodyPr wrap="square">
            <a:spAutoFit/>
          </a:bodyPr>
          <a:lstStyle/>
          <a:p>
            <a:pPr algn="l">
              <a:defRPr sz="1000" b="1">
                <a:solidFill>
                  <a:srgbClr val="007B5F"/>
                </a:solidFill>
                <a:latin typeface="Calibri"/>
              </a:defRPr>
            </a:pPr>
            <a:r>
              <a:t>NIST CSF 2.0 GV.OC-05</a:t>
            </a:r>
          </a:p>
        </p:txBody>
      </p:sp>
      <p:sp>
        <p:nvSpPr>
          <p:cNvPr id="15" name="TextBox 14"/>
          <p:cNvSpPr txBox="1"/>
          <p:nvPr/>
        </p:nvSpPr>
        <p:spPr>
          <a:xfrm>
            <a:off x="822960" y="3785616"/>
            <a:ext cx="10698480" cy="320040"/>
          </a:xfrm>
          <a:prstGeom prst="rect">
            <a:avLst/>
          </a:prstGeom>
          <a:noFill/>
        </p:spPr>
        <p:txBody>
          <a:bodyPr wrap="square">
            <a:spAutoFit/>
          </a:bodyPr>
          <a:lstStyle/>
          <a:p>
            <a:pPr algn="l">
              <a:defRPr sz="900" b="0">
                <a:solidFill>
                  <a:srgbClr val="5F6368"/>
                </a:solidFill>
                <a:latin typeface="Calibri"/>
              </a:defRPr>
            </a:pPr>
            <a:r>
              <a:t>Supply chain risk identification at initial onboarding — document risk factors in the vendor risk register.</a:t>
            </a:r>
          </a:p>
        </p:txBody>
      </p:sp>
      <p:sp>
        <p:nvSpPr>
          <p:cNvPr id="16" name="TextBox 15"/>
          <p:cNvSpPr txBox="1"/>
          <p:nvPr/>
        </p:nvSpPr>
        <p:spPr>
          <a:xfrm>
            <a:off x="640080" y="4105656"/>
            <a:ext cx="10881360" cy="228600"/>
          </a:xfrm>
          <a:prstGeom prst="rect">
            <a:avLst/>
          </a:prstGeom>
          <a:noFill/>
        </p:spPr>
        <p:txBody>
          <a:bodyPr wrap="square">
            <a:spAutoFit/>
          </a:bodyPr>
          <a:lstStyle/>
          <a:p>
            <a:pPr algn="l">
              <a:defRPr sz="1000" b="1">
                <a:solidFill>
                  <a:srgbClr val="007B5F"/>
                </a:solidFill>
                <a:latin typeface="Calibri"/>
              </a:defRPr>
            </a:pPr>
            <a:r>
              <a:t>GDPR Article 6 / CCPA</a:t>
            </a:r>
          </a:p>
        </p:txBody>
      </p:sp>
      <p:sp>
        <p:nvSpPr>
          <p:cNvPr id="17" name="TextBox 16"/>
          <p:cNvSpPr txBox="1"/>
          <p:nvPr/>
        </p:nvSpPr>
        <p:spPr>
          <a:xfrm>
            <a:off x="822960" y="4306824"/>
            <a:ext cx="10698480" cy="320040"/>
          </a:xfrm>
          <a:prstGeom prst="rect">
            <a:avLst/>
          </a:prstGeom>
          <a:noFill/>
        </p:spPr>
        <p:txBody>
          <a:bodyPr wrap="square">
            <a:spAutoFit/>
          </a:bodyPr>
          <a:lstStyle/>
          <a:p>
            <a:pPr algn="l">
              <a:defRPr sz="900" b="0">
                <a:solidFill>
                  <a:srgbClr val="5F6368"/>
                </a:solidFill>
                <a:latin typeface="Calibri"/>
              </a:defRPr>
            </a:pPr>
            <a:r>
              <a:t>Establish lawful basis before collecting any personal data from or about the vendor.</a:t>
            </a:r>
          </a:p>
        </p:txBody>
      </p:sp>
      <p:sp>
        <p:nvSpPr>
          <p:cNvPr id="18" name="Rectangle 17"/>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20" name="TextBox 19"/>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2 of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01</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Vendor Intake and Qualification — Evidence &amp; Data</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Evidence Collection Requirements and Key Data Points</a:t>
            </a:r>
          </a:p>
        </p:txBody>
      </p:sp>
      <p:sp>
        <p:nvSpPr>
          <p:cNvPr id="7" name="TextBox 6"/>
          <p:cNvSpPr txBox="1"/>
          <p:nvPr/>
        </p:nvSpPr>
        <p:spPr>
          <a:xfrm>
            <a:off x="457200" y="1051560"/>
            <a:ext cx="6400800" cy="274320"/>
          </a:xfrm>
          <a:prstGeom prst="rect">
            <a:avLst/>
          </a:prstGeom>
          <a:noFill/>
        </p:spPr>
        <p:txBody>
          <a:bodyPr wrap="square">
            <a:spAutoFit/>
          </a:bodyPr>
          <a:lstStyle/>
          <a:p>
            <a:pPr algn="l">
              <a:defRPr sz="1200" b="1">
                <a:solidFill>
                  <a:srgbClr val="00338D"/>
                </a:solidFill>
                <a:latin typeface="Calibri"/>
              </a:defRPr>
            </a:pPr>
            <a:r>
              <a:t>EVIDENCE COLLECTION</a:t>
            </a:r>
          </a:p>
        </p:txBody>
      </p:sp>
      <p:sp>
        <p:nvSpPr>
          <p:cNvPr id="8" name="Rectangle 7"/>
          <p:cNvSpPr/>
          <p:nvPr/>
        </p:nvSpPr>
        <p:spPr>
          <a:xfrm>
            <a:off x="457200" y="1325880"/>
            <a:ext cx="6675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0" name="TextBox 9"/>
          <p:cNvSpPr txBox="1"/>
          <p:nvPr/>
        </p:nvSpPr>
        <p:spPr>
          <a:xfrm>
            <a:off x="868680" y="1463040"/>
            <a:ext cx="6126480" cy="365760"/>
          </a:xfrm>
          <a:prstGeom prst="rect">
            <a:avLst/>
          </a:prstGeom>
          <a:noFill/>
        </p:spPr>
        <p:txBody>
          <a:bodyPr wrap="square">
            <a:spAutoFit/>
          </a:bodyPr>
          <a:lstStyle/>
          <a:p>
            <a:pPr algn="l">
              <a:defRPr sz="1000" b="0">
                <a:solidFill>
                  <a:srgbClr val="2D2D2D"/>
                </a:solidFill>
                <a:latin typeface="Calibri"/>
              </a:defRPr>
            </a:pPr>
            <a:r>
              <a:t>Completed vendor qualification form with legal entity name, DUNS number, jurisdiction of incorporation</a:t>
            </a:r>
          </a:p>
        </p:txBody>
      </p:sp>
      <p:sp>
        <p:nvSpPr>
          <p:cNvPr id="11" name="TextBox 10"/>
          <p:cNvSpPr txBox="1"/>
          <p:nvPr/>
        </p:nvSpPr>
        <p:spPr>
          <a:xfrm>
            <a:off x="548640" y="184708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2" name="TextBox 11"/>
          <p:cNvSpPr txBox="1"/>
          <p:nvPr/>
        </p:nvSpPr>
        <p:spPr>
          <a:xfrm>
            <a:off x="868680" y="1847088"/>
            <a:ext cx="6126480" cy="365760"/>
          </a:xfrm>
          <a:prstGeom prst="rect">
            <a:avLst/>
          </a:prstGeom>
          <a:noFill/>
        </p:spPr>
        <p:txBody>
          <a:bodyPr wrap="square">
            <a:spAutoFit/>
          </a:bodyPr>
          <a:lstStyle/>
          <a:p>
            <a:pPr algn="l">
              <a:defRPr sz="1000" b="0">
                <a:solidFill>
                  <a:srgbClr val="2D2D2D"/>
                </a:solidFill>
                <a:latin typeface="Calibri"/>
              </a:defRPr>
            </a:pPr>
            <a:r>
              <a:t>Risk tier pre-assessment worksheet (feeds into DMN_RiskTierClassification)</a:t>
            </a:r>
          </a:p>
        </p:txBody>
      </p:sp>
      <p:sp>
        <p:nvSpPr>
          <p:cNvPr id="13" name="TextBox 12"/>
          <p:cNvSpPr txBox="1"/>
          <p:nvPr/>
        </p:nvSpPr>
        <p:spPr>
          <a:xfrm>
            <a:off x="548640" y="2231136"/>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4" name="TextBox 13"/>
          <p:cNvSpPr txBox="1"/>
          <p:nvPr/>
        </p:nvSpPr>
        <p:spPr>
          <a:xfrm>
            <a:off x="868680" y="2231136"/>
            <a:ext cx="6126480" cy="365760"/>
          </a:xfrm>
          <a:prstGeom prst="rect">
            <a:avLst/>
          </a:prstGeom>
          <a:noFill/>
        </p:spPr>
        <p:txBody>
          <a:bodyPr wrap="square">
            <a:spAutoFit/>
          </a:bodyPr>
          <a:lstStyle/>
          <a:p>
            <a:pPr algn="l">
              <a:defRPr sz="1000" b="0">
                <a:solidFill>
                  <a:srgbClr val="2D2D2D"/>
                </a:solidFill>
                <a:latin typeface="Calibri"/>
              </a:defRPr>
            </a:pPr>
            <a:r>
              <a:t>Signed conflict-of-interest declaration from the requesting business unit</a:t>
            </a:r>
          </a:p>
        </p:txBody>
      </p:sp>
      <p:sp>
        <p:nvSpPr>
          <p:cNvPr id="15" name="TextBox 14"/>
          <p:cNvSpPr txBox="1"/>
          <p:nvPr/>
        </p:nvSpPr>
        <p:spPr>
          <a:xfrm>
            <a:off x="548640" y="2615184"/>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6" name="TextBox 15"/>
          <p:cNvSpPr txBox="1"/>
          <p:nvPr/>
        </p:nvSpPr>
        <p:spPr>
          <a:xfrm>
            <a:off x="868680" y="2615184"/>
            <a:ext cx="6126480" cy="365760"/>
          </a:xfrm>
          <a:prstGeom prst="rect">
            <a:avLst/>
          </a:prstGeom>
          <a:noFill/>
        </p:spPr>
        <p:txBody>
          <a:bodyPr wrap="square">
            <a:spAutoFit/>
          </a:bodyPr>
          <a:lstStyle/>
          <a:p>
            <a:pPr algn="l">
              <a:defRPr sz="1000" b="0">
                <a:solidFill>
                  <a:srgbClr val="2D2D2D"/>
                </a:solidFill>
                <a:latin typeface="Calibri"/>
              </a:defRPr>
            </a:pPr>
            <a:r>
              <a:t>Sanctions screening result (OFAC, EU consolidated list)</a:t>
            </a:r>
          </a:p>
        </p:txBody>
      </p:sp>
      <p:sp>
        <p:nvSpPr>
          <p:cNvPr id="17" name="TextBox 16"/>
          <p:cNvSpPr txBox="1"/>
          <p:nvPr/>
        </p:nvSpPr>
        <p:spPr>
          <a:xfrm>
            <a:off x="548640" y="2999232"/>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8" name="TextBox 17"/>
          <p:cNvSpPr txBox="1"/>
          <p:nvPr/>
        </p:nvSpPr>
        <p:spPr>
          <a:xfrm>
            <a:off x="868680" y="2999232"/>
            <a:ext cx="6126480" cy="365760"/>
          </a:xfrm>
          <a:prstGeom prst="rect">
            <a:avLst/>
          </a:prstGeom>
          <a:noFill/>
        </p:spPr>
        <p:txBody>
          <a:bodyPr wrap="square">
            <a:spAutoFit/>
          </a:bodyPr>
          <a:lstStyle/>
          <a:p>
            <a:pPr algn="l">
              <a:defRPr sz="1000" b="0">
                <a:solidFill>
                  <a:srgbClr val="2D2D2D"/>
                </a:solidFill>
                <a:latin typeface="Calibri"/>
              </a:defRPr>
            </a:pPr>
            <a:r>
              <a:t>Vendor financial stability indicators (credit rating, annual revenue, years in operation)</a:t>
            </a:r>
          </a:p>
        </p:txBody>
      </p:sp>
      <p:sp>
        <p:nvSpPr>
          <p:cNvPr id="19" name="TextBox 18"/>
          <p:cNvSpPr txBox="1"/>
          <p:nvPr/>
        </p:nvSpPr>
        <p:spPr>
          <a:xfrm>
            <a:off x="548640" y="3383279"/>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0" name="TextBox 19"/>
          <p:cNvSpPr txBox="1"/>
          <p:nvPr/>
        </p:nvSpPr>
        <p:spPr>
          <a:xfrm>
            <a:off x="868680" y="3383279"/>
            <a:ext cx="6126480" cy="365760"/>
          </a:xfrm>
          <a:prstGeom prst="rect">
            <a:avLst/>
          </a:prstGeom>
          <a:noFill/>
        </p:spPr>
        <p:txBody>
          <a:bodyPr wrap="square">
            <a:spAutoFit/>
          </a:bodyPr>
          <a:lstStyle/>
          <a:p>
            <a:pPr algn="l">
              <a:defRPr sz="1000" b="0">
                <a:solidFill>
                  <a:srgbClr val="2D2D2D"/>
                </a:solidFill>
                <a:latin typeface="Calibri"/>
              </a:defRPr>
            </a:pPr>
            <a:r>
              <a:t>Proof of insurance certificates (E&amp;O, cyber liability)</a:t>
            </a:r>
          </a:p>
        </p:txBody>
      </p:sp>
      <p:sp>
        <p:nvSpPr>
          <p:cNvPr id="21" name="Rectangle 20"/>
          <p:cNvSpPr/>
          <p:nvPr/>
        </p:nvSpPr>
        <p:spPr>
          <a:xfrm>
            <a:off x="7498079" y="1051560"/>
            <a:ext cx="4206240" cy="502920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0" y="1143000"/>
            <a:ext cx="3840480" cy="274320"/>
          </a:xfrm>
          <a:prstGeom prst="rect">
            <a:avLst/>
          </a:prstGeom>
          <a:noFill/>
        </p:spPr>
        <p:txBody>
          <a:bodyPr wrap="square">
            <a:spAutoFit/>
          </a:bodyPr>
          <a:lstStyle/>
          <a:p>
            <a:pPr algn="l">
              <a:defRPr sz="1200" b="1">
                <a:solidFill>
                  <a:srgbClr val="00338D"/>
                </a:solidFill>
                <a:latin typeface="Calibri"/>
              </a:defRPr>
            </a:pPr>
            <a:r>
              <a:t>KEY DATA POINTS</a:t>
            </a:r>
          </a:p>
        </p:txBody>
      </p:sp>
      <p:sp>
        <p:nvSpPr>
          <p:cNvPr id="23" name="Rectangle 22"/>
          <p:cNvSpPr/>
          <p:nvPr/>
        </p:nvSpPr>
        <p:spPr>
          <a:xfrm>
            <a:off x="7680960" y="1417320"/>
            <a:ext cx="384048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0" y="155448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5" name="TextBox 24"/>
          <p:cNvSpPr txBox="1"/>
          <p:nvPr/>
        </p:nvSpPr>
        <p:spPr>
          <a:xfrm>
            <a:off x="8001000" y="1554480"/>
            <a:ext cx="3474720" cy="274320"/>
          </a:xfrm>
          <a:prstGeom prst="rect">
            <a:avLst/>
          </a:prstGeom>
          <a:noFill/>
        </p:spPr>
        <p:txBody>
          <a:bodyPr wrap="square">
            <a:spAutoFit/>
          </a:bodyPr>
          <a:lstStyle/>
          <a:p>
            <a:pPr algn="l">
              <a:defRPr sz="900" b="0">
                <a:solidFill>
                  <a:srgbClr val="2D2D2D"/>
                </a:solidFill>
                <a:latin typeface="Calibri"/>
              </a:defRPr>
            </a:pPr>
            <a:r>
              <a:t>Legal entity name</a:t>
            </a:r>
          </a:p>
        </p:txBody>
      </p:sp>
      <p:sp>
        <p:nvSpPr>
          <p:cNvPr id="26" name="TextBox 25"/>
          <p:cNvSpPr txBox="1"/>
          <p:nvPr/>
        </p:nvSpPr>
        <p:spPr>
          <a:xfrm>
            <a:off x="7772400" y="181051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7" name="TextBox 26"/>
          <p:cNvSpPr txBox="1"/>
          <p:nvPr/>
        </p:nvSpPr>
        <p:spPr>
          <a:xfrm>
            <a:off x="8001000" y="1810512"/>
            <a:ext cx="3474720" cy="274320"/>
          </a:xfrm>
          <a:prstGeom prst="rect">
            <a:avLst/>
          </a:prstGeom>
          <a:noFill/>
        </p:spPr>
        <p:txBody>
          <a:bodyPr wrap="square">
            <a:spAutoFit/>
          </a:bodyPr>
          <a:lstStyle/>
          <a:p>
            <a:pPr algn="l">
              <a:defRPr sz="900" b="0">
                <a:solidFill>
                  <a:srgbClr val="2D2D2D"/>
                </a:solidFill>
                <a:latin typeface="Calibri"/>
              </a:defRPr>
            </a:pPr>
            <a:r>
              <a:t>tax ID</a:t>
            </a:r>
          </a:p>
        </p:txBody>
      </p:sp>
      <p:sp>
        <p:nvSpPr>
          <p:cNvPr id="28" name="TextBox 27"/>
          <p:cNvSpPr txBox="1"/>
          <p:nvPr/>
        </p:nvSpPr>
        <p:spPr>
          <a:xfrm>
            <a:off x="7772400" y="2066543"/>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9" name="TextBox 28"/>
          <p:cNvSpPr txBox="1"/>
          <p:nvPr/>
        </p:nvSpPr>
        <p:spPr>
          <a:xfrm>
            <a:off x="8001000" y="2066543"/>
            <a:ext cx="3474720" cy="274320"/>
          </a:xfrm>
          <a:prstGeom prst="rect">
            <a:avLst/>
          </a:prstGeom>
          <a:noFill/>
        </p:spPr>
        <p:txBody>
          <a:bodyPr wrap="square">
            <a:spAutoFit/>
          </a:bodyPr>
          <a:lstStyle/>
          <a:p>
            <a:pPr algn="l">
              <a:defRPr sz="900" b="0">
                <a:solidFill>
                  <a:srgbClr val="2D2D2D"/>
                </a:solidFill>
                <a:latin typeface="Calibri"/>
              </a:defRPr>
            </a:pPr>
            <a:r>
              <a:t>DUNS</a:t>
            </a:r>
          </a:p>
        </p:txBody>
      </p:sp>
      <p:sp>
        <p:nvSpPr>
          <p:cNvPr id="30" name="TextBox 29"/>
          <p:cNvSpPr txBox="1"/>
          <p:nvPr/>
        </p:nvSpPr>
        <p:spPr>
          <a:xfrm>
            <a:off x="7772400" y="232257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1" name="TextBox 30"/>
          <p:cNvSpPr txBox="1"/>
          <p:nvPr/>
        </p:nvSpPr>
        <p:spPr>
          <a:xfrm>
            <a:off x="8001000" y="2322576"/>
            <a:ext cx="3474720" cy="274320"/>
          </a:xfrm>
          <a:prstGeom prst="rect">
            <a:avLst/>
          </a:prstGeom>
          <a:noFill/>
        </p:spPr>
        <p:txBody>
          <a:bodyPr wrap="square">
            <a:spAutoFit/>
          </a:bodyPr>
          <a:lstStyle/>
          <a:p>
            <a:pPr algn="l">
              <a:defRPr sz="900" b="0">
                <a:solidFill>
                  <a:srgbClr val="2D2D2D"/>
                </a:solidFill>
                <a:latin typeface="Calibri"/>
              </a:defRPr>
            </a:pPr>
            <a:r>
              <a:t>ownership structure (UBO disclosure for &gt;25% holders)</a:t>
            </a:r>
          </a:p>
        </p:txBody>
      </p:sp>
      <p:sp>
        <p:nvSpPr>
          <p:cNvPr id="32" name="TextBox 31"/>
          <p:cNvSpPr txBox="1"/>
          <p:nvPr/>
        </p:nvSpPr>
        <p:spPr>
          <a:xfrm>
            <a:off x="7772400" y="2578608"/>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3" name="TextBox 32"/>
          <p:cNvSpPr txBox="1"/>
          <p:nvPr/>
        </p:nvSpPr>
        <p:spPr>
          <a:xfrm>
            <a:off x="8001000" y="2578608"/>
            <a:ext cx="3474720" cy="274320"/>
          </a:xfrm>
          <a:prstGeom prst="rect">
            <a:avLst/>
          </a:prstGeom>
          <a:noFill/>
        </p:spPr>
        <p:txBody>
          <a:bodyPr wrap="square">
            <a:spAutoFit/>
          </a:bodyPr>
          <a:lstStyle/>
          <a:p>
            <a:pPr algn="l">
              <a:defRPr sz="900" b="0">
                <a:solidFill>
                  <a:srgbClr val="2D2D2D"/>
                </a:solidFill>
                <a:latin typeface="Calibri"/>
              </a:defRPr>
            </a:pPr>
            <a:r>
              <a:t>primary contact</a:t>
            </a:r>
          </a:p>
        </p:txBody>
      </p:sp>
      <p:sp>
        <p:nvSpPr>
          <p:cNvPr id="34" name="TextBox 33"/>
          <p:cNvSpPr txBox="1"/>
          <p:nvPr/>
        </p:nvSpPr>
        <p:spPr>
          <a:xfrm>
            <a:off x="7772400" y="283464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5" name="TextBox 34"/>
          <p:cNvSpPr txBox="1"/>
          <p:nvPr/>
        </p:nvSpPr>
        <p:spPr>
          <a:xfrm>
            <a:off x="8001000" y="2834640"/>
            <a:ext cx="3474720" cy="274320"/>
          </a:xfrm>
          <a:prstGeom prst="rect">
            <a:avLst/>
          </a:prstGeom>
          <a:noFill/>
        </p:spPr>
        <p:txBody>
          <a:bodyPr wrap="square">
            <a:spAutoFit/>
          </a:bodyPr>
          <a:lstStyle/>
          <a:p>
            <a:pPr algn="l">
              <a:defRPr sz="900" b="0">
                <a:solidFill>
                  <a:srgbClr val="2D2D2D"/>
                </a:solidFill>
                <a:latin typeface="Calibri"/>
              </a:defRPr>
            </a:pPr>
            <a:r>
              <a:t>geographic presence</a:t>
            </a:r>
          </a:p>
        </p:txBody>
      </p:sp>
      <p:sp>
        <p:nvSpPr>
          <p:cNvPr id="36" name="TextBox 35"/>
          <p:cNvSpPr txBox="1"/>
          <p:nvPr/>
        </p:nvSpPr>
        <p:spPr>
          <a:xfrm>
            <a:off x="7772400" y="309067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7" name="TextBox 36"/>
          <p:cNvSpPr txBox="1"/>
          <p:nvPr/>
        </p:nvSpPr>
        <p:spPr>
          <a:xfrm>
            <a:off x="8001000" y="3090672"/>
            <a:ext cx="3474720" cy="274320"/>
          </a:xfrm>
          <a:prstGeom prst="rect">
            <a:avLst/>
          </a:prstGeom>
          <a:noFill/>
        </p:spPr>
        <p:txBody>
          <a:bodyPr wrap="square">
            <a:spAutoFit/>
          </a:bodyPr>
          <a:lstStyle/>
          <a:p>
            <a:pPr algn="l">
              <a:defRPr sz="900" b="0">
                <a:solidFill>
                  <a:srgbClr val="2D2D2D"/>
                </a:solidFill>
                <a:latin typeface="Calibri"/>
              </a:defRPr>
            </a:pPr>
            <a:r>
              <a:t>industry certifications held</a:t>
            </a:r>
          </a:p>
        </p:txBody>
      </p:sp>
      <p:sp>
        <p:nvSpPr>
          <p:cNvPr id="38" name="TextBox 37"/>
          <p:cNvSpPr txBox="1"/>
          <p:nvPr/>
        </p:nvSpPr>
        <p:spPr>
          <a:xfrm>
            <a:off x="7772400" y="3346704"/>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9" name="TextBox 38"/>
          <p:cNvSpPr txBox="1"/>
          <p:nvPr/>
        </p:nvSpPr>
        <p:spPr>
          <a:xfrm>
            <a:off x="8001000" y="3346704"/>
            <a:ext cx="3474720" cy="274320"/>
          </a:xfrm>
          <a:prstGeom prst="rect">
            <a:avLst/>
          </a:prstGeom>
          <a:noFill/>
        </p:spPr>
        <p:txBody>
          <a:bodyPr wrap="square">
            <a:spAutoFit/>
          </a:bodyPr>
          <a:lstStyle/>
          <a:p>
            <a:pPr algn="l">
              <a:defRPr sz="900" b="0">
                <a:solidFill>
                  <a:srgbClr val="2D2D2D"/>
                </a:solidFill>
                <a:latin typeface="Calibri"/>
              </a:defRPr>
            </a:pPr>
            <a:r>
              <a:t>number of employees</a:t>
            </a:r>
          </a:p>
        </p:txBody>
      </p:sp>
      <p:sp>
        <p:nvSpPr>
          <p:cNvPr id="40" name="TextBox 39"/>
          <p:cNvSpPr txBox="1"/>
          <p:nvPr/>
        </p:nvSpPr>
        <p:spPr>
          <a:xfrm>
            <a:off x="7772400" y="360273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1" name="TextBox 40"/>
          <p:cNvSpPr txBox="1"/>
          <p:nvPr/>
        </p:nvSpPr>
        <p:spPr>
          <a:xfrm>
            <a:off x="8001000" y="3602736"/>
            <a:ext cx="3474720" cy="274320"/>
          </a:xfrm>
          <a:prstGeom prst="rect">
            <a:avLst/>
          </a:prstGeom>
          <a:noFill/>
        </p:spPr>
        <p:txBody>
          <a:bodyPr wrap="square">
            <a:spAutoFit/>
          </a:bodyPr>
          <a:lstStyle/>
          <a:p>
            <a:pPr algn="l">
              <a:defRPr sz="900" b="0">
                <a:solidFill>
                  <a:srgbClr val="2D2D2D"/>
                </a:solidFill>
                <a:latin typeface="Calibri"/>
              </a:defRPr>
            </a:pPr>
            <a:r>
              <a:t>annual revenue range</a:t>
            </a:r>
          </a:p>
        </p:txBody>
      </p:sp>
      <p:sp>
        <p:nvSpPr>
          <p:cNvPr id="42" name="TextBox 41"/>
          <p:cNvSpPr txBox="1"/>
          <p:nvPr/>
        </p:nvSpPr>
        <p:spPr>
          <a:xfrm>
            <a:off x="7772400" y="3858768"/>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3" name="TextBox 42"/>
          <p:cNvSpPr txBox="1"/>
          <p:nvPr/>
        </p:nvSpPr>
        <p:spPr>
          <a:xfrm>
            <a:off x="8001000" y="3858768"/>
            <a:ext cx="3474720" cy="274320"/>
          </a:xfrm>
          <a:prstGeom prst="rect">
            <a:avLst/>
          </a:prstGeom>
          <a:noFill/>
        </p:spPr>
        <p:txBody>
          <a:bodyPr wrap="square">
            <a:spAutoFit/>
          </a:bodyPr>
          <a:lstStyle/>
          <a:p>
            <a:pPr algn="l">
              <a:defRPr sz="900" b="0">
                <a:solidFill>
                  <a:srgbClr val="2D2D2D"/>
                </a:solidFill>
                <a:latin typeface="Calibri"/>
              </a:defRPr>
            </a:pPr>
            <a:r>
              <a:t>existing client references in financial services</a:t>
            </a:r>
          </a:p>
        </p:txBody>
      </p:sp>
      <p:sp>
        <p:nvSpPr>
          <p:cNvPr id="44" name="Rectangle 43"/>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46" name="TextBox 45"/>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3 of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02</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Vendor Proposal</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BPMN ID: Task_VendorProposal  |  Candidate Group: vendor-response</a:t>
            </a:r>
          </a:p>
        </p:txBody>
      </p:sp>
      <p:sp>
        <p:nvSpPr>
          <p:cNvPr id="7" name="Rectangle 6"/>
          <p:cNvSpPr/>
          <p:nvPr/>
        </p:nvSpPr>
        <p:spPr>
          <a:xfrm>
            <a:off x="457200" y="1051560"/>
            <a:ext cx="11247120" cy="14630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97280"/>
            <a:ext cx="10881360" cy="274320"/>
          </a:xfrm>
          <a:prstGeom prst="rect">
            <a:avLst/>
          </a:prstGeom>
          <a:noFill/>
        </p:spPr>
        <p:txBody>
          <a:bodyPr wrap="square">
            <a:spAutoFit/>
          </a:bodyPr>
          <a:lstStyle/>
          <a:p>
            <a:pPr algn="l">
              <a:defRPr sz="1000" b="1">
                <a:solidFill>
                  <a:srgbClr val="0053AE"/>
                </a:solidFill>
                <a:latin typeface="Calibri"/>
              </a:defRPr>
            </a:pPr>
            <a:r>
              <a:t>DESCRIPTION</a:t>
            </a:r>
          </a:p>
        </p:txBody>
      </p:sp>
      <p:sp>
        <p:nvSpPr>
          <p:cNvPr id="9" name="TextBox 8"/>
          <p:cNvSpPr txBox="1"/>
          <p:nvPr/>
        </p:nvSpPr>
        <p:spPr>
          <a:xfrm>
            <a:off x="640080" y="1371600"/>
            <a:ext cx="10881360" cy="1097280"/>
          </a:xfrm>
          <a:prstGeom prst="rect">
            <a:avLst/>
          </a:prstGeom>
          <a:noFill/>
        </p:spPr>
        <p:txBody>
          <a:bodyPr wrap="square">
            <a:spAutoFit/>
          </a:bodyPr>
          <a:lstStyle/>
          <a:p>
            <a:pPr algn="l">
              <a:defRPr sz="1100" b="0">
                <a:solidFill>
                  <a:srgbClr val="2D2D2D"/>
                </a:solidFill>
                <a:latin typeface="Calibri"/>
              </a:defRPr>
            </a:pPr>
            <a:r>
              <a:t>Vendor prepares and submits a formal commercial and technical proposal in response to the organization's requirements. The proposal must address functional requirements, technical architecture, SLA commitments, pricing model, implementation timeline, and support structure. Vendor should disclose financial stability information, sub-contractor dependencies, and data handling practices.</a:t>
            </a:r>
          </a:p>
        </p:txBody>
      </p:sp>
      <p:sp>
        <p:nvSpPr>
          <p:cNvPr id="10" name="TextBox 9"/>
          <p:cNvSpPr txBox="1"/>
          <p:nvPr/>
        </p:nvSpPr>
        <p:spPr>
          <a:xfrm>
            <a:off x="457200" y="2697480"/>
            <a:ext cx="10972800" cy="274320"/>
          </a:xfrm>
          <a:prstGeom prst="rect">
            <a:avLst/>
          </a:prstGeom>
          <a:noFill/>
        </p:spPr>
        <p:txBody>
          <a:bodyPr wrap="square">
            <a:spAutoFit/>
          </a:bodyPr>
          <a:lstStyle/>
          <a:p>
            <a:pPr algn="l">
              <a:defRPr sz="1200" b="1">
                <a:solidFill>
                  <a:srgbClr val="00338D"/>
                </a:solidFill>
                <a:latin typeface="Calibri"/>
              </a:defRPr>
            </a:pPr>
            <a:r>
              <a:t>REGULATORY CONTROLS</a:t>
            </a:r>
          </a:p>
        </p:txBody>
      </p:sp>
      <p:sp>
        <p:nvSpPr>
          <p:cNvPr id="11" name="Rectangle 10"/>
          <p:cNvSpPr/>
          <p:nvPr/>
        </p:nvSpPr>
        <p:spPr>
          <a:xfrm>
            <a:off x="457200" y="2971800"/>
            <a:ext cx="11247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63240"/>
            <a:ext cx="10881360" cy="228600"/>
          </a:xfrm>
          <a:prstGeom prst="rect">
            <a:avLst/>
          </a:prstGeom>
          <a:noFill/>
        </p:spPr>
        <p:txBody>
          <a:bodyPr wrap="square">
            <a:spAutoFit/>
          </a:bodyPr>
          <a:lstStyle/>
          <a:p>
            <a:pPr algn="l">
              <a:defRPr sz="1000" b="1">
                <a:solidFill>
                  <a:srgbClr val="007B5F"/>
                </a:solidFill>
                <a:latin typeface="Calibri"/>
              </a:defRPr>
            </a:pPr>
            <a:r>
              <a:t>OCC 2023-17 Section 40</a:t>
            </a:r>
          </a:p>
        </p:txBody>
      </p:sp>
      <p:sp>
        <p:nvSpPr>
          <p:cNvPr id="13" name="TextBox 12"/>
          <p:cNvSpPr txBox="1"/>
          <p:nvPr/>
        </p:nvSpPr>
        <p:spPr>
          <a:xfrm>
            <a:off x="822960" y="3264408"/>
            <a:ext cx="10698480" cy="320040"/>
          </a:xfrm>
          <a:prstGeom prst="rect">
            <a:avLst/>
          </a:prstGeom>
          <a:noFill/>
        </p:spPr>
        <p:txBody>
          <a:bodyPr wrap="square">
            <a:spAutoFit/>
          </a:bodyPr>
          <a:lstStyle/>
          <a:p>
            <a:pPr algn="l">
              <a:defRPr sz="900" b="0">
                <a:solidFill>
                  <a:srgbClr val="5F6368"/>
                </a:solidFill>
                <a:latin typeface="Calibri"/>
              </a:defRPr>
            </a:pPr>
            <a:r>
              <a:t>RFP/RFI requirements — vendor must demonstrate capability, financial stability, and willingness to comply with regulatory examination requirements.</a:t>
            </a:r>
          </a:p>
        </p:txBody>
      </p:sp>
      <p:sp>
        <p:nvSpPr>
          <p:cNvPr id="14" name="TextBox 13"/>
          <p:cNvSpPr txBox="1"/>
          <p:nvPr/>
        </p:nvSpPr>
        <p:spPr>
          <a:xfrm>
            <a:off x="640080" y="3584448"/>
            <a:ext cx="10881360" cy="228600"/>
          </a:xfrm>
          <a:prstGeom prst="rect">
            <a:avLst/>
          </a:prstGeom>
          <a:noFill/>
        </p:spPr>
        <p:txBody>
          <a:bodyPr wrap="square">
            <a:spAutoFit/>
          </a:bodyPr>
          <a:lstStyle/>
          <a:p>
            <a:pPr algn="l">
              <a:defRPr sz="1000" b="1">
                <a:solidFill>
                  <a:srgbClr val="007B5F"/>
                </a:solidFill>
                <a:latin typeface="Calibri"/>
              </a:defRPr>
            </a:pPr>
            <a:r>
              <a:t>SOX Section 404</a:t>
            </a:r>
          </a:p>
        </p:txBody>
      </p:sp>
      <p:sp>
        <p:nvSpPr>
          <p:cNvPr id="15" name="TextBox 14"/>
          <p:cNvSpPr txBox="1"/>
          <p:nvPr/>
        </p:nvSpPr>
        <p:spPr>
          <a:xfrm>
            <a:off x="822960" y="3785616"/>
            <a:ext cx="10698480" cy="320040"/>
          </a:xfrm>
          <a:prstGeom prst="rect">
            <a:avLst/>
          </a:prstGeom>
          <a:noFill/>
        </p:spPr>
        <p:txBody>
          <a:bodyPr wrap="square">
            <a:spAutoFit/>
          </a:bodyPr>
          <a:lstStyle/>
          <a:p>
            <a:pPr algn="l">
              <a:defRPr sz="900" b="0">
                <a:solidFill>
                  <a:srgbClr val="5F6368"/>
                </a:solidFill>
                <a:latin typeface="Calibri"/>
              </a:defRPr>
            </a:pPr>
            <a:r>
              <a:t>Proposed financial controls and reporting capabilities must be documented to ensure auditability of financial data flows.</a:t>
            </a:r>
          </a:p>
        </p:txBody>
      </p:sp>
      <p:sp>
        <p:nvSpPr>
          <p:cNvPr id="16" name="TextBox 15"/>
          <p:cNvSpPr txBox="1"/>
          <p:nvPr/>
        </p:nvSpPr>
        <p:spPr>
          <a:xfrm>
            <a:off x="640080" y="4105656"/>
            <a:ext cx="10881360" cy="228600"/>
          </a:xfrm>
          <a:prstGeom prst="rect">
            <a:avLst/>
          </a:prstGeom>
          <a:noFill/>
        </p:spPr>
        <p:txBody>
          <a:bodyPr wrap="square">
            <a:spAutoFit/>
          </a:bodyPr>
          <a:lstStyle/>
          <a:p>
            <a:pPr algn="l">
              <a:defRPr sz="1000" b="1">
                <a:solidFill>
                  <a:srgbClr val="007B5F"/>
                </a:solidFill>
                <a:latin typeface="Calibri"/>
              </a:defRPr>
            </a:pPr>
            <a:r>
              <a:t>DORA Article 28</a:t>
            </a:r>
          </a:p>
        </p:txBody>
      </p:sp>
      <p:sp>
        <p:nvSpPr>
          <p:cNvPr id="17" name="TextBox 16"/>
          <p:cNvSpPr txBox="1"/>
          <p:nvPr/>
        </p:nvSpPr>
        <p:spPr>
          <a:xfrm>
            <a:off x="822960" y="4306824"/>
            <a:ext cx="10698480" cy="320040"/>
          </a:xfrm>
          <a:prstGeom prst="rect">
            <a:avLst/>
          </a:prstGeom>
          <a:noFill/>
        </p:spPr>
        <p:txBody>
          <a:bodyPr wrap="square">
            <a:spAutoFit/>
          </a:bodyPr>
          <a:lstStyle/>
          <a:p>
            <a:pPr algn="l">
              <a:defRPr sz="900" b="0">
                <a:solidFill>
                  <a:srgbClr val="5F6368"/>
                </a:solidFill>
                <a:latin typeface="Calibri"/>
              </a:defRPr>
            </a:pPr>
            <a:r>
              <a:t>ICT third-party provider must assert resilience capabilities, including RTO, availability targets, and incident notification commitments.</a:t>
            </a:r>
          </a:p>
        </p:txBody>
      </p:sp>
      <p:sp>
        <p:nvSpPr>
          <p:cNvPr id="18" name="Rectangle 17"/>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20" name="TextBox 19"/>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4 of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02</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Vendor Proposal — Evidence &amp; Data</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Evidence Collection Requirements and Key Data Points</a:t>
            </a:r>
          </a:p>
        </p:txBody>
      </p:sp>
      <p:sp>
        <p:nvSpPr>
          <p:cNvPr id="7" name="TextBox 6"/>
          <p:cNvSpPr txBox="1"/>
          <p:nvPr/>
        </p:nvSpPr>
        <p:spPr>
          <a:xfrm>
            <a:off x="457200" y="1051560"/>
            <a:ext cx="6400800" cy="274320"/>
          </a:xfrm>
          <a:prstGeom prst="rect">
            <a:avLst/>
          </a:prstGeom>
          <a:noFill/>
        </p:spPr>
        <p:txBody>
          <a:bodyPr wrap="square">
            <a:spAutoFit/>
          </a:bodyPr>
          <a:lstStyle/>
          <a:p>
            <a:pPr algn="l">
              <a:defRPr sz="1200" b="1">
                <a:solidFill>
                  <a:srgbClr val="00338D"/>
                </a:solidFill>
                <a:latin typeface="Calibri"/>
              </a:defRPr>
            </a:pPr>
            <a:r>
              <a:t>EVIDENCE COLLECTION</a:t>
            </a:r>
          </a:p>
        </p:txBody>
      </p:sp>
      <p:sp>
        <p:nvSpPr>
          <p:cNvPr id="8" name="Rectangle 7"/>
          <p:cNvSpPr/>
          <p:nvPr/>
        </p:nvSpPr>
        <p:spPr>
          <a:xfrm>
            <a:off x="457200" y="1325880"/>
            <a:ext cx="6675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0" name="TextBox 9"/>
          <p:cNvSpPr txBox="1"/>
          <p:nvPr/>
        </p:nvSpPr>
        <p:spPr>
          <a:xfrm>
            <a:off x="868680" y="1463040"/>
            <a:ext cx="6126480" cy="365760"/>
          </a:xfrm>
          <a:prstGeom prst="rect">
            <a:avLst/>
          </a:prstGeom>
          <a:noFill/>
        </p:spPr>
        <p:txBody>
          <a:bodyPr wrap="square">
            <a:spAutoFit/>
          </a:bodyPr>
          <a:lstStyle/>
          <a:p>
            <a:pPr algn="l">
              <a:defRPr sz="1000" b="0">
                <a:solidFill>
                  <a:srgbClr val="2D2D2D"/>
                </a:solidFill>
                <a:latin typeface="Calibri"/>
              </a:defRPr>
            </a:pPr>
            <a:r>
              <a:t>Signed proposal document with commercial terms, technical specifications, and SLA commitments</a:t>
            </a:r>
          </a:p>
        </p:txBody>
      </p:sp>
      <p:sp>
        <p:nvSpPr>
          <p:cNvPr id="11" name="TextBox 10"/>
          <p:cNvSpPr txBox="1"/>
          <p:nvPr/>
        </p:nvSpPr>
        <p:spPr>
          <a:xfrm>
            <a:off x="548640" y="184708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2" name="TextBox 11"/>
          <p:cNvSpPr txBox="1"/>
          <p:nvPr/>
        </p:nvSpPr>
        <p:spPr>
          <a:xfrm>
            <a:off x="868680" y="1847088"/>
            <a:ext cx="6126480" cy="365760"/>
          </a:xfrm>
          <a:prstGeom prst="rect">
            <a:avLst/>
          </a:prstGeom>
          <a:noFill/>
        </p:spPr>
        <p:txBody>
          <a:bodyPr wrap="square">
            <a:spAutoFit/>
          </a:bodyPr>
          <a:lstStyle/>
          <a:p>
            <a:pPr algn="l">
              <a:defRPr sz="1000" b="0">
                <a:solidFill>
                  <a:srgbClr val="2D2D2D"/>
                </a:solidFill>
                <a:latin typeface="Calibri"/>
              </a:defRPr>
            </a:pPr>
            <a:r>
              <a:t>Vendor capability matrix mapping proposed features to stated requirements</a:t>
            </a:r>
          </a:p>
        </p:txBody>
      </p:sp>
      <p:sp>
        <p:nvSpPr>
          <p:cNvPr id="13" name="TextBox 12"/>
          <p:cNvSpPr txBox="1"/>
          <p:nvPr/>
        </p:nvSpPr>
        <p:spPr>
          <a:xfrm>
            <a:off x="548640" y="2231136"/>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4" name="TextBox 13"/>
          <p:cNvSpPr txBox="1"/>
          <p:nvPr/>
        </p:nvSpPr>
        <p:spPr>
          <a:xfrm>
            <a:off x="868680" y="2231136"/>
            <a:ext cx="6126480" cy="365760"/>
          </a:xfrm>
          <a:prstGeom prst="rect">
            <a:avLst/>
          </a:prstGeom>
          <a:noFill/>
        </p:spPr>
        <p:txBody>
          <a:bodyPr wrap="square">
            <a:spAutoFit/>
          </a:bodyPr>
          <a:lstStyle/>
          <a:p>
            <a:pPr algn="l">
              <a:defRPr sz="1000" b="0">
                <a:solidFill>
                  <a:srgbClr val="2D2D2D"/>
                </a:solidFill>
                <a:latin typeface="Calibri"/>
              </a:defRPr>
            </a:pPr>
            <a:r>
              <a:t>Financial stability disclosures (audited financials, credit references, or parent company guarantee)</a:t>
            </a:r>
          </a:p>
        </p:txBody>
      </p:sp>
      <p:sp>
        <p:nvSpPr>
          <p:cNvPr id="15" name="TextBox 14"/>
          <p:cNvSpPr txBox="1"/>
          <p:nvPr/>
        </p:nvSpPr>
        <p:spPr>
          <a:xfrm>
            <a:off x="548640" y="2615184"/>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6" name="TextBox 15"/>
          <p:cNvSpPr txBox="1"/>
          <p:nvPr/>
        </p:nvSpPr>
        <p:spPr>
          <a:xfrm>
            <a:off x="868680" y="2615184"/>
            <a:ext cx="6126480" cy="365760"/>
          </a:xfrm>
          <a:prstGeom prst="rect">
            <a:avLst/>
          </a:prstGeom>
          <a:noFill/>
        </p:spPr>
        <p:txBody>
          <a:bodyPr wrap="square">
            <a:spAutoFit/>
          </a:bodyPr>
          <a:lstStyle/>
          <a:p>
            <a:pPr algn="l">
              <a:defRPr sz="1000" b="0">
                <a:solidFill>
                  <a:srgbClr val="2D2D2D"/>
                </a:solidFill>
                <a:latin typeface="Calibri"/>
              </a:defRPr>
            </a:pPr>
            <a:r>
              <a:t>Sub-contractor dependency disclosure listing all fourth parties involved in service delivery</a:t>
            </a:r>
          </a:p>
        </p:txBody>
      </p:sp>
      <p:sp>
        <p:nvSpPr>
          <p:cNvPr id="17" name="TextBox 16"/>
          <p:cNvSpPr txBox="1"/>
          <p:nvPr/>
        </p:nvSpPr>
        <p:spPr>
          <a:xfrm>
            <a:off x="548640" y="2999232"/>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8" name="TextBox 17"/>
          <p:cNvSpPr txBox="1"/>
          <p:nvPr/>
        </p:nvSpPr>
        <p:spPr>
          <a:xfrm>
            <a:off x="868680" y="2999232"/>
            <a:ext cx="6126480" cy="365760"/>
          </a:xfrm>
          <a:prstGeom prst="rect">
            <a:avLst/>
          </a:prstGeom>
          <a:noFill/>
        </p:spPr>
        <p:txBody>
          <a:bodyPr wrap="square">
            <a:spAutoFit/>
          </a:bodyPr>
          <a:lstStyle/>
          <a:p>
            <a:pPr algn="l">
              <a:defRPr sz="1000" b="0">
                <a:solidFill>
                  <a:srgbClr val="2D2D2D"/>
                </a:solidFill>
                <a:latin typeface="Calibri"/>
              </a:defRPr>
            </a:pPr>
            <a:r>
              <a:t>Data handling and residency commitments</a:t>
            </a:r>
          </a:p>
        </p:txBody>
      </p:sp>
      <p:sp>
        <p:nvSpPr>
          <p:cNvPr id="19" name="TextBox 18"/>
          <p:cNvSpPr txBox="1"/>
          <p:nvPr/>
        </p:nvSpPr>
        <p:spPr>
          <a:xfrm>
            <a:off x="548640" y="3383279"/>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0" name="TextBox 19"/>
          <p:cNvSpPr txBox="1"/>
          <p:nvPr/>
        </p:nvSpPr>
        <p:spPr>
          <a:xfrm>
            <a:off x="868680" y="3383279"/>
            <a:ext cx="6126480" cy="365760"/>
          </a:xfrm>
          <a:prstGeom prst="rect">
            <a:avLst/>
          </a:prstGeom>
          <a:noFill/>
        </p:spPr>
        <p:txBody>
          <a:bodyPr wrap="square">
            <a:spAutoFit/>
          </a:bodyPr>
          <a:lstStyle/>
          <a:p>
            <a:pPr algn="l">
              <a:defRPr sz="1000" b="0">
                <a:solidFill>
                  <a:srgbClr val="2D2D2D"/>
                </a:solidFill>
                <a:latin typeface="Calibri"/>
              </a:defRPr>
            </a:pPr>
            <a:r>
              <a:t>Implementation timeline with milestones and resource commitments</a:t>
            </a:r>
          </a:p>
        </p:txBody>
      </p:sp>
      <p:sp>
        <p:nvSpPr>
          <p:cNvPr id="21" name="Rectangle 20"/>
          <p:cNvSpPr/>
          <p:nvPr/>
        </p:nvSpPr>
        <p:spPr>
          <a:xfrm>
            <a:off x="7498079" y="1051560"/>
            <a:ext cx="4206240" cy="502920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0" y="1143000"/>
            <a:ext cx="3840480" cy="274320"/>
          </a:xfrm>
          <a:prstGeom prst="rect">
            <a:avLst/>
          </a:prstGeom>
          <a:noFill/>
        </p:spPr>
        <p:txBody>
          <a:bodyPr wrap="square">
            <a:spAutoFit/>
          </a:bodyPr>
          <a:lstStyle/>
          <a:p>
            <a:pPr algn="l">
              <a:defRPr sz="1200" b="1">
                <a:solidFill>
                  <a:srgbClr val="00338D"/>
                </a:solidFill>
                <a:latin typeface="Calibri"/>
              </a:defRPr>
            </a:pPr>
            <a:r>
              <a:t>KEY DATA POINTS</a:t>
            </a:r>
          </a:p>
        </p:txBody>
      </p:sp>
      <p:sp>
        <p:nvSpPr>
          <p:cNvPr id="23" name="Rectangle 22"/>
          <p:cNvSpPr/>
          <p:nvPr/>
        </p:nvSpPr>
        <p:spPr>
          <a:xfrm>
            <a:off x="7680960" y="1417320"/>
            <a:ext cx="384048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0" y="155448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5" name="TextBox 24"/>
          <p:cNvSpPr txBox="1"/>
          <p:nvPr/>
        </p:nvSpPr>
        <p:spPr>
          <a:xfrm>
            <a:off x="8001000" y="1554480"/>
            <a:ext cx="3474720" cy="274320"/>
          </a:xfrm>
          <a:prstGeom prst="rect">
            <a:avLst/>
          </a:prstGeom>
          <a:noFill/>
        </p:spPr>
        <p:txBody>
          <a:bodyPr wrap="square">
            <a:spAutoFit/>
          </a:bodyPr>
          <a:lstStyle/>
          <a:p>
            <a:pPr algn="l">
              <a:defRPr sz="900" b="0">
                <a:solidFill>
                  <a:srgbClr val="2D2D2D"/>
                </a:solidFill>
                <a:latin typeface="Calibri"/>
              </a:defRPr>
            </a:pPr>
            <a:r>
              <a:t>Proposed pricing model</a:t>
            </a:r>
          </a:p>
        </p:txBody>
      </p:sp>
      <p:sp>
        <p:nvSpPr>
          <p:cNvPr id="26" name="TextBox 25"/>
          <p:cNvSpPr txBox="1"/>
          <p:nvPr/>
        </p:nvSpPr>
        <p:spPr>
          <a:xfrm>
            <a:off x="7772400" y="181051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7" name="TextBox 26"/>
          <p:cNvSpPr txBox="1"/>
          <p:nvPr/>
        </p:nvSpPr>
        <p:spPr>
          <a:xfrm>
            <a:off x="8001000" y="1810512"/>
            <a:ext cx="3474720" cy="274320"/>
          </a:xfrm>
          <a:prstGeom prst="rect">
            <a:avLst/>
          </a:prstGeom>
          <a:noFill/>
        </p:spPr>
        <p:txBody>
          <a:bodyPr wrap="square">
            <a:spAutoFit/>
          </a:bodyPr>
          <a:lstStyle/>
          <a:p>
            <a:pPr algn="l">
              <a:defRPr sz="900" b="0">
                <a:solidFill>
                  <a:srgbClr val="2D2D2D"/>
                </a:solidFill>
                <a:latin typeface="Calibri"/>
              </a:defRPr>
            </a:pPr>
            <a:r>
              <a:t>TCO estimate over 3-5 years</a:t>
            </a:r>
          </a:p>
        </p:txBody>
      </p:sp>
      <p:sp>
        <p:nvSpPr>
          <p:cNvPr id="28" name="TextBox 27"/>
          <p:cNvSpPr txBox="1"/>
          <p:nvPr/>
        </p:nvSpPr>
        <p:spPr>
          <a:xfrm>
            <a:off x="7772400" y="2066543"/>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9" name="TextBox 28"/>
          <p:cNvSpPr txBox="1"/>
          <p:nvPr/>
        </p:nvSpPr>
        <p:spPr>
          <a:xfrm>
            <a:off x="8001000" y="2066543"/>
            <a:ext cx="3474720" cy="274320"/>
          </a:xfrm>
          <a:prstGeom prst="rect">
            <a:avLst/>
          </a:prstGeom>
          <a:noFill/>
        </p:spPr>
        <p:txBody>
          <a:bodyPr wrap="square">
            <a:spAutoFit/>
          </a:bodyPr>
          <a:lstStyle/>
          <a:p>
            <a:pPr algn="l">
              <a:defRPr sz="900" b="0">
                <a:solidFill>
                  <a:srgbClr val="2D2D2D"/>
                </a:solidFill>
                <a:latin typeface="Calibri"/>
              </a:defRPr>
            </a:pPr>
            <a:r>
              <a:t>SLA targets (uptime</a:t>
            </a:r>
          </a:p>
        </p:txBody>
      </p:sp>
      <p:sp>
        <p:nvSpPr>
          <p:cNvPr id="30" name="TextBox 29"/>
          <p:cNvSpPr txBox="1"/>
          <p:nvPr/>
        </p:nvSpPr>
        <p:spPr>
          <a:xfrm>
            <a:off x="7772400" y="232257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1" name="TextBox 30"/>
          <p:cNvSpPr txBox="1"/>
          <p:nvPr/>
        </p:nvSpPr>
        <p:spPr>
          <a:xfrm>
            <a:off x="8001000" y="2322576"/>
            <a:ext cx="3474720" cy="274320"/>
          </a:xfrm>
          <a:prstGeom prst="rect">
            <a:avLst/>
          </a:prstGeom>
          <a:noFill/>
        </p:spPr>
        <p:txBody>
          <a:bodyPr wrap="square">
            <a:spAutoFit/>
          </a:bodyPr>
          <a:lstStyle/>
          <a:p>
            <a:pPr algn="l">
              <a:defRPr sz="900" b="0">
                <a:solidFill>
                  <a:srgbClr val="2D2D2D"/>
                </a:solidFill>
                <a:latin typeface="Calibri"/>
              </a:defRPr>
            </a:pPr>
            <a:r>
              <a:t>response time</a:t>
            </a:r>
          </a:p>
        </p:txBody>
      </p:sp>
      <p:sp>
        <p:nvSpPr>
          <p:cNvPr id="32" name="TextBox 31"/>
          <p:cNvSpPr txBox="1"/>
          <p:nvPr/>
        </p:nvSpPr>
        <p:spPr>
          <a:xfrm>
            <a:off x="7772400" y="2578608"/>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3" name="TextBox 32"/>
          <p:cNvSpPr txBox="1"/>
          <p:nvPr/>
        </p:nvSpPr>
        <p:spPr>
          <a:xfrm>
            <a:off x="8001000" y="2578608"/>
            <a:ext cx="3474720" cy="274320"/>
          </a:xfrm>
          <a:prstGeom prst="rect">
            <a:avLst/>
          </a:prstGeom>
          <a:noFill/>
        </p:spPr>
        <p:txBody>
          <a:bodyPr wrap="square">
            <a:spAutoFit/>
          </a:bodyPr>
          <a:lstStyle/>
          <a:p>
            <a:pPr algn="l">
              <a:defRPr sz="900" b="0">
                <a:solidFill>
                  <a:srgbClr val="2D2D2D"/>
                </a:solidFill>
                <a:latin typeface="Calibri"/>
              </a:defRPr>
            </a:pPr>
            <a:r>
              <a:t>resolution time)</a:t>
            </a:r>
          </a:p>
        </p:txBody>
      </p:sp>
      <p:sp>
        <p:nvSpPr>
          <p:cNvPr id="34" name="TextBox 33"/>
          <p:cNvSpPr txBox="1"/>
          <p:nvPr/>
        </p:nvSpPr>
        <p:spPr>
          <a:xfrm>
            <a:off x="7772400" y="283464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5" name="TextBox 34"/>
          <p:cNvSpPr txBox="1"/>
          <p:nvPr/>
        </p:nvSpPr>
        <p:spPr>
          <a:xfrm>
            <a:off x="8001000" y="2834640"/>
            <a:ext cx="3474720" cy="274320"/>
          </a:xfrm>
          <a:prstGeom prst="rect">
            <a:avLst/>
          </a:prstGeom>
          <a:noFill/>
        </p:spPr>
        <p:txBody>
          <a:bodyPr wrap="square">
            <a:spAutoFit/>
          </a:bodyPr>
          <a:lstStyle/>
          <a:p>
            <a:pPr algn="l">
              <a:defRPr sz="900" b="0">
                <a:solidFill>
                  <a:srgbClr val="2D2D2D"/>
                </a:solidFill>
                <a:latin typeface="Calibri"/>
              </a:defRPr>
            </a:pPr>
            <a:r>
              <a:t>proposed technology stack</a:t>
            </a:r>
          </a:p>
        </p:txBody>
      </p:sp>
      <p:sp>
        <p:nvSpPr>
          <p:cNvPr id="36" name="TextBox 35"/>
          <p:cNvSpPr txBox="1"/>
          <p:nvPr/>
        </p:nvSpPr>
        <p:spPr>
          <a:xfrm>
            <a:off x="7772400" y="309067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7" name="TextBox 36"/>
          <p:cNvSpPr txBox="1"/>
          <p:nvPr/>
        </p:nvSpPr>
        <p:spPr>
          <a:xfrm>
            <a:off x="8001000" y="3090672"/>
            <a:ext cx="3474720" cy="274320"/>
          </a:xfrm>
          <a:prstGeom prst="rect">
            <a:avLst/>
          </a:prstGeom>
          <a:noFill/>
        </p:spPr>
        <p:txBody>
          <a:bodyPr wrap="square">
            <a:spAutoFit/>
          </a:bodyPr>
          <a:lstStyle/>
          <a:p>
            <a:pPr algn="l">
              <a:defRPr sz="900" b="0">
                <a:solidFill>
                  <a:srgbClr val="2D2D2D"/>
                </a:solidFill>
                <a:latin typeface="Calibri"/>
              </a:defRPr>
            </a:pPr>
            <a:r>
              <a:t>integration approach</a:t>
            </a:r>
          </a:p>
        </p:txBody>
      </p:sp>
      <p:sp>
        <p:nvSpPr>
          <p:cNvPr id="38" name="TextBox 37"/>
          <p:cNvSpPr txBox="1"/>
          <p:nvPr/>
        </p:nvSpPr>
        <p:spPr>
          <a:xfrm>
            <a:off x="7772400" y="3346704"/>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9" name="TextBox 38"/>
          <p:cNvSpPr txBox="1"/>
          <p:nvPr/>
        </p:nvSpPr>
        <p:spPr>
          <a:xfrm>
            <a:off x="8001000" y="3346704"/>
            <a:ext cx="3474720" cy="274320"/>
          </a:xfrm>
          <a:prstGeom prst="rect">
            <a:avLst/>
          </a:prstGeom>
          <a:noFill/>
        </p:spPr>
        <p:txBody>
          <a:bodyPr wrap="square">
            <a:spAutoFit/>
          </a:bodyPr>
          <a:lstStyle/>
          <a:p>
            <a:pPr algn="l">
              <a:defRPr sz="900" b="0">
                <a:solidFill>
                  <a:srgbClr val="2D2D2D"/>
                </a:solidFill>
                <a:latin typeface="Calibri"/>
              </a:defRPr>
            </a:pPr>
            <a:r>
              <a:t>data residency locations</a:t>
            </a:r>
          </a:p>
        </p:txBody>
      </p:sp>
      <p:sp>
        <p:nvSpPr>
          <p:cNvPr id="40" name="TextBox 39"/>
          <p:cNvSpPr txBox="1"/>
          <p:nvPr/>
        </p:nvSpPr>
        <p:spPr>
          <a:xfrm>
            <a:off x="7772400" y="360273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1" name="TextBox 40"/>
          <p:cNvSpPr txBox="1"/>
          <p:nvPr/>
        </p:nvSpPr>
        <p:spPr>
          <a:xfrm>
            <a:off x="8001000" y="3602736"/>
            <a:ext cx="3474720" cy="274320"/>
          </a:xfrm>
          <a:prstGeom prst="rect">
            <a:avLst/>
          </a:prstGeom>
          <a:noFill/>
        </p:spPr>
        <p:txBody>
          <a:bodyPr wrap="square">
            <a:spAutoFit/>
          </a:bodyPr>
          <a:lstStyle/>
          <a:p>
            <a:pPr algn="l">
              <a:defRPr sz="900" b="0">
                <a:solidFill>
                  <a:srgbClr val="2D2D2D"/>
                </a:solidFill>
                <a:latin typeface="Calibri"/>
              </a:defRPr>
            </a:pPr>
            <a:r>
              <a:t>sub-processor list</a:t>
            </a:r>
          </a:p>
        </p:txBody>
      </p:sp>
      <p:sp>
        <p:nvSpPr>
          <p:cNvPr id="42" name="TextBox 41"/>
          <p:cNvSpPr txBox="1"/>
          <p:nvPr/>
        </p:nvSpPr>
        <p:spPr>
          <a:xfrm>
            <a:off x="7772400" y="3858768"/>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3" name="TextBox 42"/>
          <p:cNvSpPr txBox="1"/>
          <p:nvPr/>
        </p:nvSpPr>
        <p:spPr>
          <a:xfrm>
            <a:off x="8001000" y="3858768"/>
            <a:ext cx="3474720" cy="274320"/>
          </a:xfrm>
          <a:prstGeom prst="rect">
            <a:avLst/>
          </a:prstGeom>
          <a:noFill/>
        </p:spPr>
        <p:txBody>
          <a:bodyPr wrap="square">
            <a:spAutoFit/>
          </a:bodyPr>
          <a:lstStyle/>
          <a:p>
            <a:pPr algn="l">
              <a:defRPr sz="900" b="0">
                <a:solidFill>
                  <a:srgbClr val="2D2D2D"/>
                </a:solidFill>
                <a:latin typeface="Calibri"/>
              </a:defRPr>
            </a:pPr>
            <a:r>
              <a:t>key personnel assigned</a:t>
            </a:r>
          </a:p>
        </p:txBody>
      </p:sp>
      <p:sp>
        <p:nvSpPr>
          <p:cNvPr id="44" name="TextBox 43"/>
          <p:cNvSpPr txBox="1"/>
          <p:nvPr/>
        </p:nvSpPr>
        <p:spPr>
          <a:xfrm>
            <a:off x="7772400" y="411480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5" name="TextBox 44"/>
          <p:cNvSpPr txBox="1"/>
          <p:nvPr/>
        </p:nvSpPr>
        <p:spPr>
          <a:xfrm>
            <a:off x="8001000" y="4114800"/>
            <a:ext cx="3474720" cy="274320"/>
          </a:xfrm>
          <a:prstGeom prst="rect">
            <a:avLst/>
          </a:prstGeom>
          <a:noFill/>
        </p:spPr>
        <p:txBody>
          <a:bodyPr wrap="square">
            <a:spAutoFit/>
          </a:bodyPr>
          <a:lstStyle/>
          <a:p>
            <a:pPr algn="l">
              <a:defRPr sz="900" b="0">
                <a:solidFill>
                  <a:srgbClr val="2D2D2D"/>
                </a:solidFill>
                <a:latin typeface="Calibri"/>
              </a:defRPr>
            </a:pPr>
            <a:r>
              <a:t>reference customers in regulated industries</a:t>
            </a:r>
          </a:p>
        </p:txBody>
      </p:sp>
      <p:sp>
        <p:nvSpPr>
          <p:cNvPr id="46" name="Rectangle 45"/>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48" name="TextBox 47"/>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5 of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03</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Security Questionnaire</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BPMN ID: Task_VendorSecurityReview  |  Candidate Group: vendor-response</a:t>
            </a:r>
          </a:p>
        </p:txBody>
      </p:sp>
      <p:sp>
        <p:nvSpPr>
          <p:cNvPr id="7" name="Rectangle 6"/>
          <p:cNvSpPr/>
          <p:nvPr/>
        </p:nvSpPr>
        <p:spPr>
          <a:xfrm>
            <a:off x="457200" y="1051560"/>
            <a:ext cx="11247120" cy="14630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97280"/>
            <a:ext cx="10881360" cy="274320"/>
          </a:xfrm>
          <a:prstGeom prst="rect">
            <a:avLst/>
          </a:prstGeom>
          <a:noFill/>
        </p:spPr>
        <p:txBody>
          <a:bodyPr wrap="square">
            <a:spAutoFit/>
          </a:bodyPr>
          <a:lstStyle/>
          <a:p>
            <a:pPr algn="l">
              <a:defRPr sz="1000" b="1">
                <a:solidFill>
                  <a:srgbClr val="0053AE"/>
                </a:solidFill>
                <a:latin typeface="Calibri"/>
              </a:defRPr>
            </a:pPr>
            <a:r>
              <a:t>DESCRIPTION</a:t>
            </a:r>
          </a:p>
        </p:txBody>
      </p:sp>
      <p:sp>
        <p:nvSpPr>
          <p:cNvPr id="9" name="TextBox 8"/>
          <p:cNvSpPr txBox="1"/>
          <p:nvPr/>
        </p:nvSpPr>
        <p:spPr>
          <a:xfrm>
            <a:off x="640080" y="1371600"/>
            <a:ext cx="10881360" cy="1097280"/>
          </a:xfrm>
          <a:prstGeom prst="rect">
            <a:avLst/>
          </a:prstGeom>
          <a:noFill/>
        </p:spPr>
        <p:txBody>
          <a:bodyPr wrap="square">
            <a:spAutoFit/>
          </a:bodyPr>
          <a:lstStyle/>
          <a:p>
            <a:pPr algn="l">
              <a:defRPr sz="1100" b="0">
                <a:solidFill>
                  <a:srgbClr val="2D2D2D"/>
                </a:solidFill>
                <a:latin typeface="Calibri"/>
              </a:defRPr>
            </a:pPr>
            <a:r>
              <a:t>Vendor completes a standardized security questionnaire (HECVAT, SIG, or equivalent) covering information security program maturity, access controls, encryption practices, incident response capabilities, vulnerability management, and business continuity planning. Vendor provides supporting evidence including SOC 2 Type II reports, penetration test summaries, and vulnerability disclosure policies.</a:t>
            </a:r>
          </a:p>
        </p:txBody>
      </p:sp>
      <p:sp>
        <p:nvSpPr>
          <p:cNvPr id="10" name="TextBox 9"/>
          <p:cNvSpPr txBox="1"/>
          <p:nvPr/>
        </p:nvSpPr>
        <p:spPr>
          <a:xfrm>
            <a:off x="457200" y="2697480"/>
            <a:ext cx="10972800" cy="274320"/>
          </a:xfrm>
          <a:prstGeom prst="rect">
            <a:avLst/>
          </a:prstGeom>
          <a:noFill/>
        </p:spPr>
        <p:txBody>
          <a:bodyPr wrap="square">
            <a:spAutoFit/>
          </a:bodyPr>
          <a:lstStyle/>
          <a:p>
            <a:pPr algn="l">
              <a:defRPr sz="1200" b="1">
                <a:solidFill>
                  <a:srgbClr val="00338D"/>
                </a:solidFill>
                <a:latin typeface="Calibri"/>
              </a:defRPr>
            </a:pPr>
            <a:r>
              <a:t>REGULATORY CONTROLS</a:t>
            </a:r>
          </a:p>
        </p:txBody>
      </p:sp>
      <p:sp>
        <p:nvSpPr>
          <p:cNvPr id="11" name="Rectangle 10"/>
          <p:cNvSpPr/>
          <p:nvPr/>
        </p:nvSpPr>
        <p:spPr>
          <a:xfrm>
            <a:off x="457200" y="2971800"/>
            <a:ext cx="11247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63240"/>
            <a:ext cx="10881360" cy="228600"/>
          </a:xfrm>
          <a:prstGeom prst="rect">
            <a:avLst/>
          </a:prstGeom>
          <a:noFill/>
        </p:spPr>
        <p:txBody>
          <a:bodyPr wrap="square">
            <a:spAutoFit/>
          </a:bodyPr>
          <a:lstStyle/>
          <a:p>
            <a:pPr algn="l">
              <a:defRPr sz="1000" b="1">
                <a:solidFill>
                  <a:srgbClr val="007B5F"/>
                </a:solidFill>
                <a:latin typeface="Calibri"/>
              </a:defRPr>
            </a:pPr>
            <a:r>
              <a:t>OCC 2023-17 Sections 50-55</a:t>
            </a:r>
          </a:p>
        </p:txBody>
      </p:sp>
      <p:sp>
        <p:nvSpPr>
          <p:cNvPr id="13" name="TextBox 12"/>
          <p:cNvSpPr txBox="1"/>
          <p:nvPr/>
        </p:nvSpPr>
        <p:spPr>
          <a:xfrm>
            <a:off x="822960" y="3264408"/>
            <a:ext cx="10698480" cy="320040"/>
          </a:xfrm>
          <a:prstGeom prst="rect">
            <a:avLst/>
          </a:prstGeom>
          <a:noFill/>
        </p:spPr>
        <p:txBody>
          <a:bodyPr wrap="square">
            <a:spAutoFit/>
          </a:bodyPr>
          <a:lstStyle/>
          <a:p>
            <a:pPr algn="l">
              <a:defRPr sz="900" b="0">
                <a:solidFill>
                  <a:srgbClr val="5F6368"/>
                </a:solidFill>
                <a:latin typeface="Calibri"/>
              </a:defRPr>
            </a:pPr>
            <a:r>
              <a:t>Information security program assessment — evaluate vendor access controls, data handling, encryption, and incident response readiness.</a:t>
            </a:r>
          </a:p>
        </p:txBody>
      </p:sp>
      <p:sp>
        <p:nvSpPr>
          <p:cNvPr id="14" name="TextBox 13"/>
          <p:cNvSpPr txBox="1"/>
          <p:nvPr/>
        </p:nvSpPr>
        <p:spPr>
          <a:xfrm>
            <a:off x="640080" y="3584448"/>
            <a:ext cx="10881360" cy="228600"/>
          </a:xfrm>
          <a:prstGeom prst="rect">
            <a:avLst/>
          </a:prstGeom>
          <a:noFill/>
        </p:spPr>
        <p:txBody>
          <a:bodyPr wrap="square">
            <a:spAutoFit/>
          </a:bodyPr>
          <a:lstStyle/>
          <a:p>
            <a:pPr algn="l">
              <a:defRPr sz="1000" b="1">
                <a:solidFill>
                  <a:srgbClr val="007B5F"/>
                </a:solidFill>
                <a:latin typeface="Calibri"/>
              </a:defRPr>
            </a:pPr>
            <a:r>
              <a:t>NIST CSF 2.0 PR.AA / PR.DS / DE.CM</a:t>
            </a:r>
          </a:p>
        </p:txBody>
      </p:sp>
      <p:sp>
        <p:nvSpPr>
          <p:cNvPr id="15" name="TextBox 14"/>
          <p:cNvSpPr txBox="1"/>
          <p:nvPr/>
        </p:nvSpPr>
        <p:spPr>
          <a:xfrm>
            <a:off x="822960" y="3785616"/>
            <a:ext cx="10698480" cy="320040"/>
          </a:xfrm>
          <a:prstGeom prst="rect">
            <a:avLst/>
          </a:prstGeom>
          <a:noFill/>
        </p:spPr>
        <p:txBody>
          <a:bodyPr wrap="square">
            <a:spAutoFit/>
          </a:bodyPr>
          <a:lstStyle/>
          <a:p>
            <a:pPr algn="l">
              <a:defRPr sz="900" b="0">
                <a:solidFill>
                  <a:srgbClr val="5F6368"/>
                </a:solidFill>
                <a:latin typeface="Calibri"/>
              </a:defRPr>
            </a:pPr>
            <a:r>
              <a:t>Assess authentication, encryption standards, key management, data classification, logging, monitoring, and alerting capabilities.</a:t>
            </a:r>
          </a:p>
        </p:txBody>
      </p:sp>
      <p:sp>
        <p:nvSpPr>
          <p:cNvPr id="16" name="TextBox 15"/>
          <p:cNvSpPr txBox="1"/>
          <p:nvPr/>
        </p:nvSpPr>
        <p:spPr>
          <a:xfrm>
            <a:off x="640080" y="4105656"/>
            <a:ext cx="10881360" cy="228600"/>
          </a:xfrm>
          <a:prstGeom prst="rect">
            <a:avLst/>
          </a:prstGeom>
          <a:noFill/>
        </p:spPr>
        <p:txBody>
          <a:bodyPr wrap="square">
            <a:spAutoFit/>
          </a:bodyPr>
          <a:lstStyle/>
          <a:p>
            <a:pPr algn="l">
              <a:defRPr sz="1000" b="1">
                <a:solidFill>
                  <a:srgbClr val="007B5F"/>
                </a:solidFill>
                <a:latin typeface="Calibri"/>
              </a:defRPr>
            </a:pPr>
            <a:r>
              <a:t>ISO 27001 Annex A</a:t>
            </a:r>
          </a:p>
        </p:txBody>
      </p:sp>
      <p:sp>
        <p:nvSpPr>
          <p:cNvPr id="17" name="TextBox 16"/>
          <p:cNvSpPr txBox="1"/>
          <p:nvPr/>
        </p:nvSpPr>
        <p:spPr>
          <a:xfrm>
            <a:off x="822960" y="4306824"/>
            <a:ext cx="10698480" cy="320040"/>
          </a:xfrm>
          <a:prstGeom prst="rect">
            <a:avLst/>
          </a:prstGeom>
          <a:noFill/>
        </p:spPr>
        <p:txBody>
          <a:bodyPr wrap="square">
            <a:spAutoFit/>
          </a:bodyPr>
          <a:lstStyle/>
          <a:p>
            <a:pPr algn="l">
              <a:defRPr sz="900" b="0">
                <a:solidFill>
                  <a:srgbClr val="5F6368"/>
                </a:solidFill>
                <a:latin typeface="Calibri"/>
              </a:defRPr>
            </a:pPr>
            <a:r>
              <a:t>Map vendor controls to Annex A domains — A.9 Access Control, A.10 Cryptography, A.12 Operations Security, A.16 Incident Management, A.17 Business Continuity.</a:t>
            </a:r>
          </a:p>
        </p:txBody>
      </p:sp>
      <p:sp>
        <p:nvSpPr>
          <p:cNvPr id="18" name="TextBox 17"/>
          <p:cNvSpPr txBox="1"/>
          <p:nvPr/>
        </p:nvSpPr>
        <p:spPr>
          <a:xfrm>
            <a:off x="640080" y="4626864"/>
            <a:ext cx="10881360" cy="228600"/>
          </a:xfrm>
          <a:prstGeom prst="rect">
            <a:avLst/>
          </a:prstGeom>
          <a:noFill/>
        </p:spPr>
        <p:txBody>
          <a:bodyPr wrap="square">
            <a:spAutoFit/>
          </a:bodyPr>
          <a:lstStyle/>
          <a:p>
            <a:pPr algn="l">
              <a:defRPr sz="1000" b="1">
                <a:solidFill>
                  <a:srgbClr val="007B5F"/>
                </a:solidFill>
                <a:latin typeface="Calibri"/>
              </a:defRPr>
            </a:pPr>
            <a:r>
              <a:t>DORA Articles 9, 28</a:t>
            </a:r>
          </a:p>
        </p:txBody>
      </p:sp>
      <p:sp>
        <p:nvSpPr>
          <p:cNvPr id="19" name="TextBox 18"/>
          <p:cNvSpPr txBox="1"/>
          <p:nvPr/>
        </p:nvSpPr>
        <p:spPr>
          <a:xfrm>
            <a:off x="822960" y="4828031"/>
            <a:ext cx="10698480" cy="320040"/>
          </a:xfrm>
          <a:prstGeom prst="rect">
            <a:avLst/>
          </a:prstGeom>
          <a:noFill/>
        </p:spPr>
        <p:txBody>
          <a:bodyPr wrap="square">
            <a:spAutoFit/>
          </a:bodyPr>
          <a:lstStyle/>
          <a:p>
            <a:pPr algn="l">
              <a:defRPr sz="900" b="0">
                <a:solidFill>
                  <a:srgbClr val="5F6368"/>
                </a:solidFill>
                <a:latin typeface="Calibri"/>
              </a:defRPr>
            </a:pPr>
            <a:r>
              <a:t>ICT security requirements — verify vendor incident reporting capability within 24-hour notification windows.</a:t>
            </a:r>
          </a:p>
        </p:txBody>
      </p:sp>
      <p:sp>
        <p:nvSpPr>
          <p:cNvPr id="20" name="Rectangle 19"/>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22" name="TextBox 21"/>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6 of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03</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Security Questionnaire — Evidence &amp; Data</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Evidence Collection Requirements and Key Data Points</a:t>
            </a:r>
          </a:p>
        </p:txBody>
      </p:sp>
      <p:sp>
        <p:nvSpPr>
          <p:cNvPr id="7" name="TextBox 6"/>
          <p:cNvSpPr txBox="1"/>
          <p:nvPr/>
        </p:nvSpPr>
        <p:spPr>
          <a:xfrm>
            <a:off x="457200" y="1051560"/>
            <a:ext cx="6400800" cy="274320"/>
          </a:xfrm>
          <a:prstGeom prst="rect">
            <a:avLst/>
          </a:prstGeom>
          <a:noFill/>
        </p:spPr>
        <p:txBody>
          <a:bodyPr wrap="square">
            <a:spAutoFit/>
          </a:bodyPr>
          <a:lstStyle/>
          <a:p>
            <a:pPr algn="l">
              <a:defRPr sz="1200" b="1">
                <a:solidFill>
                  <a:srgbClr val="00338D"/>
                </a:solidFill>
                <a:latin typeface="Calibri"/>
              </a:defRPr>
            </a:pPr>
            <a:r>
              <a:t>EVIDENCE COLLECTION</a:t>
            </a:r>
          </a:p>
        </p:txBody>
      </p:sp>
      <p:sp>
        <p:nvSpPr>
          <p:cNvPr id="8" name="Rectangle 7"/>
          <p:cNvSpPr/>
          <p:nvPr/>
        </p:nvSpPr>
        <p:spPr>
          <a:xfrm>
            <a:off x="457200" y="1325880"/>
            <a:ext cx="6675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0" name="TextBox 9"/>
          <p:cNvSpPr txBox="1"/>
          <p:nvPr/>
        </p:nvSpPr>
        <p:spPr>
          <a:xfrm>
            <a:off x="868680" y="1463040"/>
            <a:ext cx="6126480" cy="365760"/>
          </a:xfrm>
          <a:prstGeom prst="rect">
            <a:avLst/>
          </a:prstGeom>
          <a:noFill/>
        </p:spPr>
        <p:txBody>
          <a:bodyPr wrap="square">
            <a:spAutoFit/>
          </a:bodyPr>
          <a:lstStyle/>
          <a:p>
            <a:pPr algn="l">
              <a:defRPr sz="1000" b="0">
                <a:solidFill>
                  <a:srgbClr val="2D2D2D"/>
                </a:solidFill>
                <a:latin typeface="Calibri"/>
              </a:defRPr>
            </a:pPr>
            <a:r>
              <a:t>Completed HECVAT or SIG security questionnaire with all sections addressed</a:t>
            </a:r>
          </a:p>
        </p:txBody>
      </p:sp>
      <p:sp>
        <p:nvSpPr>
          <p:cNvPr id="11" name="TextBox 10"/>
          <p:cNvSpPr txBox="1"/>
          <p:nvPr/>
        </p:nvSpPr>
        <p:spPr>
          <a:xfrm>
            <a:off x="548640" y="184708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2" name="TextBox 11"/>
          <p:cNvSpPr txBox="1"/>
          <p:nvPr/>
        </p:nvSpPr>
        <p:spPr>
          <a:xfrm>
            <a:off x="868680" y="1847088"/>
            <a:ext cx="6126480" cy="365760"/>
          </a:xfrm>
          <a:prstGeom prst="rect">
            <a:avLst/>
          </a:prstGeom>
          <a:noFill/>
        </p:spPr>
        <p:txBody>
          <a:bodyPr wrap="square">
            <a:spAutoFit/>
          </a:bodyPr>
          <a:lstStyle/>
          <a:p>
            <a:pPr algn="l">
              <a:defRPr sz="1000" b="0">
                <a:solidFill>
                  <a:srgbClr val="2D2D2D"/>
                </a:solidFill>
                <a:latin typeface="Calibri"/>
              </a:defRPr>
            </a:pPr>
            <a:r>
              <a:t>SOC 2 Type II report (current year) or SOC 1 if financial data processing</a:t>
            </a:r>
          </a:p>
        </p:txBody>
      </p:sp>
      <p:sp>
        <p:nvSpPr>
          <p:cNvPr id="13" name="TextBox 12"/>
          <p:cNvSpPr txBox="1"/>
          <p:nvPr/>
        </p:nvSpPr>
        <p:spPr>
          <a:xfrm>
            <a:off x="548640" y="2231136"/>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4" name="TextBox 13"/>
          <p:cNvSpPr txBox="1"/>
          <p:nvPr/>
        </p:nvSpPr>
        <p:spPr>
          <a:xfrm>
            <a:off x="868680" y="2231136"/>
            <a:ext cx="6126480" cy="365760"/>
          </a:xfrm>
          <a:prstGeom prst="rect">
            <a:avLst/>
          </a:prstGeom>
          <a:noFill/>
        </p:spPr>
        <p:txBody>
          <a:bodyPr wrap="square">
            <a:spAutoFit/>
          </a:bodyPr>
          <a:lstStyle/>
          <a:p>
            <a:pPr algn="l">
              <a:defRPr sz="1000" b="0">
                <a:solidFill>
                  <a:srgbClr val="2D2D2D"/>
                </a:solidFill>
                <a:latin typeface="Calibri"/>
              </a:defRPr>
            </a:pPr>
            <a:r>
              <a:t>Most recent penetration test executive summary (within 12 months)</a:t>
            </a:r>
          </a:p>
        </p:txBody>
      </p:sp>
      <p:sp>
        <p:nvSpPr>
          <p:cNvPr id="15" name="TextBox 14"/>
          <p:cNvSpPr txBox="1"/>
          <p:nvPr/>
        </p:nvSpPr>
        <p:spPr>
          <a:xfrm>
            <a:off x="548640" y="2615184"/>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6" name="TextBox 15"/>
          <p:cNvSpPr txBox="1"/>
          <p:nvPr/>
        </p:nvSpPr>
        <p:spPr>
          <a:xfrm>
            <a:off x="868680" y="2615184"/>
            <a:ext cx="6126480" cy="365760"/>
          </a:xfrm>
          <a:prstGeom prst="rect">
            <a:avLst/>
          </a:prstGeom>
          <a:noFill/>
        </p:spPr>
        <p:txBody>
          <a:bodyPr wrap="square">
            <a:spAutoFit/>
          </a:bodyPr>
          <a:lstStyle/>
          <a:p>
            <a:pPr algn="l">
              <a:defRPr sz="1000" b="0">
                <a:solidFill>
                  <a:srgbClr val="2D2D2D"/>
                </a:solidFill>
                <a:latin typeface="Calibri"/>
              </a:defRPr>
            </a:pPr>
            <a:r>
              <a:t>Vulnerability disclosure and patch management policy</a:t>
            </a:r>
          </a:p>
        </p:txBody>
      </p:sp>
      <p:sp>
        <p:nvSpPr>
          <p:cNvPr id="17" name="TextBox 16"/>
          <p:cNvSpPr txBox="1"/>
          <p:nvPr/>
        </p:nvSpPr>
        <p:spPr>
          <a:xfrm>
            <a:off x="548640" y="2999232"/>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8" name="TextBox 17"/>
          <p:cNvSpPr txBox="1"/>
          <p:nvPr/>
        </p:nvSpPr>
        <p:spPr>
          <a:xfrm>
            <a:off x="868680" y="2999232"/>
            <a:ext cx="6126480" cy="365760"/>
          </a:xfrm>
          <a:prstGeom prst="rect">
            <a:avLst/>
          </a:prstGeom>
          <a:noFill/>
        </p:spPr>
        <p:txBody>
          <a:bodyPr wrap="square">
            <a:spAutoFit/>
          </a:bodyPr>
          <a:lstStyle/>
          <a:p>
            <a:pPr algn="l">
              <a:defRPr sz="1000" b="0">
                <a:solidFill>
                  <a:srgbClr val="2D2D2D"/>
                </a:solidFill>
                <a:latin typeface="Calibri"/>
              </a:defRPr>
            </a:pPr>
            <a:r>
              <a:t>Business continuity and disaster recovery plan summary with RTO/RPO commitments</a:t>
            </a:r>
          </a:p>
        </p:txBody>
      </p:sp>
      <p:sp>
        <p:nvSpPr>
          <p:cNvPr id="19" name="TextBox 18"/>
          <p:cNvSpPr txBox="1"/>
          <p:nvPr/>
        </p:nvSpPr>
        <p:spPr>
          <a:xfrm>
            <a:off x="548640" y="3383279"/>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0" name="TextBox 19"/>
          <p:cNvSpPr txBox="1"/>
          <p:nvPr/>
        </p:nvSpPr>
        <p:spPr>
          <a:xfrm>
            <a:off x="868680" y="3383279"/>
            <a:ext cx="6126480" cy="365760"/>
          </a:xfrm>
          <a:prstGeom prst="rect">
            <a:avLst/>
          </a:prstGeom>
          <a:noFill/>
        </p:spPr>
        <p:txBody>
          <a:bodyPr wrap="square">
            <a:spAutoFit/>
          </a:bodyPr>
          <a:lstStyle/>
          <a:p>
            <a:pPr algn="l">
              <a:defRPr sz="1000" b="0">
                <a:solidFill>
                  <a:srgbClr val="2D2D2D"/>
                </a:solidFill>
                <a:latin typeface="Calibri"/>
              </a:defRPr>
            </a:pPr>
            <a:r>
              <a:t>Data encryption standards documentation (at rest, in transit, key management)</a:t>
            </a:r>
          </a:p>
        </p:txBody>
      </p:sp>
      <p:sp>
        <p:nvSpPr>
          <p:cNvPr id="21" name="TextBox 20"/>
          <p:cNvSpPr txBox="1"/>
          <p:nvPr/>
        </p:nvSpPr>
        <p:spPr>
          <a:xfrm>
            <a:off x="548640" y="376732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2" name="TextBox 21"/>
          <p:cNvSpPr txBox="1"/>
          <p:nvPr/>
        </p:nvSpPr>
        <p:spPr>
          <a:xfrm>
            <a:off x="868680" y="3767328"/>
            <a:ext cx="6126480" cy="365760"/>
          </a:xfrm>
          <a:prstGeom prst="rect">
            <a:avLst/>
          </a:prstGeom>
          <a:noFill/>
        </p:spPr>
        <p:txBody>
          <a:bodyPr wrap="square">
            <a:spAutoFit/>
          </a:bodyPr>
          <a:lstStyle/>
          <a:p>
            <a:pPr algn="l">
              <a:defRPr sz="1000" b="0">
                <a:solidFill>
                  <a:srgbClr val="2D2D2D"/>
                </a:solidFill>
                <a:latin typeface="Calibri"/>
              </a:defRPr>
            </a:pPr>
            <a:r>
              <a:t>Security incident history disclosure (breaches in past 3 years)</a:t>
            </a:r>
          </a:p>
        </p:txBody>
      </p:sp>
      <p:sp>
        <p:nvSpPr>
          <p:cNvPr id="23" name="Rectangle 22"/>
          <p:cNvSpPr/>
          <p:nvPr/>
        </p:nvSpPr>
        <p:spPr>
          <a:xfrm>
            <a:off x="7498079" y="1051560"/>
            <a:ext cx="4206240" cy="502920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1143000"/>
            <a:ext cx="3840480" cy="274320"/>
          </a:xfrm>
          <a:prstGeom prst="rect">
            <a:avLst/>
          </a:prstGeom>
          <a:noFill/>
        </p:spPr>
        <p:txBody>
          <a:bodyPr wrap="square">
            <a:spAutoFit/>
          </a:bodyPr>
          <a:lstStyle/>
          <a:p>
            <a:pPr algn="l">
              <a:defRPr sz="1200" b="1">
                <a:solidFill>
                  <a:srgbClr val="00338D"/>
                </a:solidFill>
                <a:latin typeface="Calibri"/>
              </a:defRPr>
            </a:pPr>
            <a:r>
              <a:t>KEY DATA POINTS</a:t>
            </a:r>
          </a:p>
        </p:txBody>
      </p:sp>
      <p:sp>
        <p:nvSpPr>
          <p:cNvPr id="25" name="Rectangle 24"/>
          <p:cNvSpPr/>
          <p:nvPr/>
        </p:nvSpPr>
        <p:spPr>
          <a:xfrm>
            <a:off x="7680960" y="1417320"/>
            <a:ext cx="384048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155448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7" name="TextBox 26"/>
          <p:cNvSpPr txBox="1"/>
          <p:nvPr/>
        </p:nvSpPr>
        <p:spPr>
          <a:xfrm>
            <a:off x="8001000" y="1554480"/>
            <a:ext cx="3474720" cy="274320"/>
          </a:xfrm>
          <a:prstGeom prst="rect">
            <a:avLst/>
          </a:prstGeom>
          <a:noFill/>
        </p:spPr>
        <p:txBody>
          <a:bodyPr wrap="square">
            <a:spAutoFit/>
          </a:bodyPr>
          <a:lstStyle/>
          <a:p>
            <a:pPr algn="l">
              <a:defRPr sz="900" b="0">
                <a:solidFill>
                  <a:srgbClr val="2D2D2D"/>
                </a:solidFill>
                <a:latin typeface="Calibri"/>
              </a:defRPr>
            </a:pPr>
            <a:r>
              <a:t>Security certifications held (ISO 27001</a:t>
            </a:r>
          </a:p>
        </p:txBody>
      </p:sp>
      <p:sp>
        <p:nvSpPr>
          <p:cNvPr id="28" name="TextBox 27"/>
          <p:cNvSpPr txBox="1"/>
          <p:nvPr/>
        </p:nvSpPr>
        <p:spPr>
          <a:xfrm>
            <a:off x="7772400" y="181051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9" name="TextBox 28"/>
          <p:cNvSpPr txBox="1"/>
          <p:nvPr/>
        </p:nvSpPr>
        <p:spPr>
          <a:xfrm>
            <a:off x="8001000" y="1810512"/>
            <a:ext cx="3474720" cy="274320"/>
          </a:xfrm>
          <a:prstGeom prst="rect">
            <a:avLst/>
          </a:prstGeom>
          <a:noFill/>
        </p:spPr>
        <p:txBody>
          <a:bodyPr wrap="square">
            <a:spAutoFit/>
          </a:bodyPr>
          <a:lstStyle/>
          <a:p>
            <a:pPr algn="l">
              <a:defRPr sz="900" b="0">
                <a:solidFill>
                  <a:srgbClr val="2D2D2D"/>
                </a:solidFill>
                <a:latin typeface="Calibri"/>
              </a:defRPr>
            </a:pPr>
            <a:r>
              <a:t>SOC 2</a:t>
            </a:r>
          </a:p>
        </p:txBody>
      </p:sp>
      <p:sp>
        <p:nvSpPr>
          <p:cNvPr id="30" name="TextBox 29"/>
          <p:cNvSpPr txBox="1"/>
          <p:nvPr/>
        </p:nvSpPr>
        <p:spPr>
          <a:xfrm>
            <a:off x="7772400" y="2066543"/>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1" name="TextBox 30"/>
          <p:cNvSpPr txBox="1"/>
          <p:nvPr/>
        </p:nvSpPr>
        <p:spPr>
          <a:xfrm>
            <a:off x="8001000" y="2066543"/>
            <a:ext cx="3474720" cy="274320"/>
          </a:xfrm>
          <a:prstGeom prst="rect">
            <a:avLst/>
          </a:prstGeom>
          <a:noFill/>
        </p:spPr>
        <p:txBody>
          <a:bodyPr wrap="square">
            <a:spAutoFit/>
          </a:bodyPr>
          <a:lstStyle/>
          <a:p>
            <a:pPr algn="l">
              <a:defRPr sz="900" b="0">
                <a:solidFill>
                  <a:srgbClr val="2D2D2D"/>
                </a:solidFill>
                <a:latin typeface="Calibri"/>
              </a:defRPr>
            </a:pPr>
            <a:r>
              <a:t>PCI DSS</a:t>
            </a:r>
          </a:p>
        </p:txBody>
      </p:sp>
      <p:sp>
        <p:nvSpPr>
          <p:cNvPr id="32" name="TextBox 31"/>
          <p:cNvSpPr txBox="1"/>
          <p:nvPr/>
        </p:nvSpPr>
        <p:spPr>
          <a:xfrm>
            <a:off x="7772400" y="232257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3" name="TextBox 32"/>
          <p:cNvSpPr txBox="1"/>
          <p:nvPr/>
        </p:nvSpPr>
        <p:spPr>
          <a:xfrm>
            <a:off x="8001000" y="2322576"/>
            <a:ext cx="3474720" cy="274320"/>
          </a:xfrm>
          <a:prstGeom prst="rect">
            <a:avLst/>
          </a:prstGeom>
          <a:noFill/>
        </p:spPr>
        <p:txBody>
          <a:bodyPr wrap="square">
            <a:spAutoFit/>
          </a:bodyPr>
          <a:lstStyle/>
          <a:p>
            <a:pPr algn="l">
              <a:defRPr sz="900" b="0">
                <a:solidFill>
                  <a:srgbClr val="2D2D2D"/>
                </a:solidFill>
                <a:latin typeface="Calibri"/>
              </a:defRPr>
            </a:pPr>
            <a:r>
              <a:t>FedRAMP)</a:t>
            </a:r>
          </a:p>
        </p:txBody>
      </p:sp>
      <p:sp>
        <p:nvSpPr>
          <p:cNvPr id="34" name="TextBox 33"/>
          <p:cNvSpPr txBox="1"/>
          <p:nvPr/>
        </p:nvSpPr>
        <p:spPr>
          <a:xfrm>
            <a:off x="7772400" y="2578608"/>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5" name="TextBox 34"/>
          <p:cNvSpPr txBox="1"/>
          <p:nvPr/>
        </p:nvSpPr>
        <p:spPr>
          <a:xfrm>
            <a:off x="8001000" y="2578608"/>
            <a:ext cx="3474720" cy="274320"/>
          </a:xfrm>
          <a:prstGeom prst="rect">
            <a:avLst/>
          </a:prstGeom>
          <a:noFill/>
        </p:spPr>
        <p:txBody>
          <a:bodyPr wrap="square">
            <a:spAutoFit/>
          </a:bodyPr>
          <a:lstStyle/>
          <a:p>
            <a:pPr algn="l">
              <a:defRPr sz="900" b="0">
                <a:solidFill>
                  <a:srgbClr val="2D2D2D"/>
                </a:solidFill>
                <a:latin typeface="Calibri"/>
              </a:defRPr>
            </a:pPr>
            <a:r>
              <a:t>encryption algorithms and key lengths</a:t>
            </a:r>
          </a:p>
        </p:txBody>
      </p:sp>
      <p:sp>
        <p:nvSpPr>
          <p:cNvPr id="36" name="TextBox 35"/>
          <p:cNvSpPr txBox="1"/>
          <p:nvPr/>
        </p:nvSpPr>
        <p:spPr>
          <a:xfrm>
            <a:off x="7772400" y="283464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7" name="TextBox 36"/>
          <p:cNvSpPr txBox="1"/>
          <p:nvPr/>
        </p:nvSpPr>
        <p:spPr>
          <a:xfrm>
            <a:off x="8001000" y="2834640"/>
            <a:ext cx="3474720" cy="274320"/>
          </a:xfrm>
          <a:prstGeom prst="rect">
            <a:avLst/>
          </a:prstGeom>
          <a:noFill/>
        </p:spPr>
        <p:txBody>
          <a:bodyPr wrap="square">
            <a:spAutoFit/>
          </a:bodyPr>
          <a:lstStyle/>
          <a:p>
            <a:pPr algn="l">
              <a:defRPr sz="900" b="0">
                <a:solidFill>
                  <a:srgbClr val="2D2D2D"/>
                </a:solidFill>
                <a:latin typeface="Calibri"/>
              </a:defRPr>
            </a:pPr>
            <a:r>
              <a:t>MFA enforcement %</a:t>
            </a:r>
          </a:p>
        </p:txBody>
      </p:sp>
      <p:sp>
        <p:nvSpPr>
          <p:cNvPr id="38" name="TextBox 37"/>
          <p:cNvSpPr txBox="1"/>
          <p:nvPr/>
        </p:nvSpPr>
        <p:spPr>
          <a:xfrm>
            <a:off x="7772400" y="309067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9" name="TextBox 38"/>
          <p:cNvSpPr txBox="1"/>
          <p:nvPr/>
        </p:nvSpPr>
        <p:spPr>
          <a:xfrm>
            <a:off x="8001000" y="3090672"/>
            <a:ext cx="3474720" cy="274320"/>
          </a:xfrm>
          <a:prstGeom prst="rect">
            <a:avLst/>
          </a:prstGeom>
          <a:noFill/>
        </p:spPr>
        <p:txBody>
          <a:bodyPr wrap="square">
            <a:spAutoFit/>
          </a:bodyPr>
          <a:lstStyle/>
          <a:p>
            <a:pPr algn="l">
              <a:defRPr sz="900" b="0">
                <a:solidFill>
                  <a:srgbClr val="2D2D2D"/>
                </a:solidFill>
                <a:latin typeface="Calibri"/>
              </a:defRPr>
            </a:pPr>
            <a:r>
              <a:t>MTTP critical vulnerabilities</a:t>
            </a:r>
          </a:p>
        </p:txBody>
      </p:sp>
      <p:sp>
        <p:nvSpPr>
          <p:cNvPr id="40" name="TextBox 39"/>
          <p:cNvSpPr txBox="1"/>
          <p:nvPr/>
        </p:nvSpPr>
        <p:spPr>
          <a:xfrm>
            <a:off x="7772400" y="3346704"/>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1" name="TextBox 40"/>
          <p:cNvSpPr txBox="1"/>
          <p:nvPr/>
        </p:nvSpPr>
        <p:spPr>
          <a:xfrm>
            <a:off x="8001000" y="3346704"/>
            <a:ext cx="3474720" cy="274320"/>
          </a:xfrm>
          <a:prstGeom prst="rect">
            <a:avLst/>
          </a:prstGeom>
          <a:noFill/>
        </p:spPr>
        <p:txBody>
          <a:bodyPr wrap="square">
            <a:spAutoFit/>
          </a:bodyPr>
          <a:lstStyle/>
          <a:p>
            <a:pPr algn="l">
              <a:defRPr sz="900" b="0">
                <a:solidFill>
                  <a:srgbClr val="2D2D2D"/>
                </a:solidFill>
                <a:latin typeface="Calibri"/>
              </a:defRPr>
            </a:pPr>
            <a:r>
              <a:t>incident response SLA</a:t>
            </a:r>
          </a:p>
        </p:txBody>
      </p:sp>
      <p:sp>
        <p:nvSpPr>
          <p:cNvPr id="42" name="TextBox 41"/>
          <p:cNvSpPr txBox="1"/>
          <p:nvPr/>
        </p:nvSpPr>
        <p:spPr>
          <a:xfrm>
            <a:off x="7772400" y="360273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3" name="TextBox 42"/>
          <p:cNvSpPr txBox="1"/>
          <p:nvPr/>
        </p:nvSpPr>
        <p:spPr>
          <a:xfrm>
            <a:off x="8001000" y="3602736"/>
            <a:ext cx="3474720" cy="274320"/>
          </a:xfrm>
          <a:prstGeom prst="rect">
            <a:avLst/>
          </a:prstGeom>
          <a:noFill/>
        </p:spPr>
        <p:txBody>
          <a:bodyPr wrap="square">
            <a:spAutoFit/>
          </a:bodyPr>
          <a:lstStyle/>
          <a:p>
            <a:pPr algn="l">
              <a:defRPr sz="900" b="0">
                <a:solidFill>
                  <a:srgbClr val="2D2D2D"/>
                </a:solidFill>
                <a:latin typeface="Calibri"/>
              </a:defRPr>
            </a:pPr>
            <a:r>
              <a:t>backup frequency</a:t>
            </a:r>
          </a:p>
        </p:txBody>
      </p:sp>
      <p:sp>
        <p:nvSpPr>
          <p:cNvPr id="44" name="TextBox 43"/>
          <p:cNvSpPr txBox="1"/>
          <p:nvPr/>
        </p:nvSpPr>
        <p:spPr>
          <a:xfrm>
            <a:off x="7772400" y="3858768"/>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5" name="TextBox 44"/>
          <p:cNvSpPr txBox="1"/>
          <p:nvPr/>
        </p:nvSpPr>
        <p:spPr>
          <a:xfrm>
            <a:off x="8001000" y="3858768"/>
            <a:ext cx="3474720" cy="274320"/>
          </a:xfrm>
          <a:prstGeom prst="rect">
            <a:avLst/>
          </a:prstGeom>
          <a:noFill/>
        </p:spPr>
        <p:txBody>
          <a:bodyPr wrap="square">
            <a:spAutoFit/>
          </a:bodyPr>
          <a:lstStyle/>
          <a:p>
            <a:pPr algn="l">
              <a:defRPr sz="900" b="0">
                <a:solidFill>
                  <a:srgbClr val="2D2D2D"/>
                </a:solidFill>
                <a:latin typeface="Calibri"/>
              </a:defRPr>
            </a:pPr>
            <a:r>
              <a:t>DR test frequency</a:t>
            </a:r>
          </a:p>
        </p:txBody>
      </p:sp>
      <p:sp>
        <p:nvSpPr>
          <p:cNvPr id="46" name="TextBox 45"/>
          <p:cNvSpPr txBox="1"/>
          <p:nvPr/>
        </p:nvSpPr>
        <p:spPr>
          <a:xfrm>
            <a:off x="7772400" y="411480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7" name="TextBox 46"/>
          <p:cNvSpPr txBox="1"/>
          <p:nvPr/>
        </p:nvSpPr>
        <p:spPr>
          <a:xfrm>
            <a:off x="8001000" y="4114800"/>
            <a:ext cx="3474720" cy="274320"/>
          </a:xfrm>
          <a:prstGeom prst="rect">
            <a:avLst/>
          </a:prstGeom>
          <a:noFill/>
        </p:spPr>
        <p:txBody>
          <a:bodyPr wrap="square">
            <a:spAutoFit/>
          </a:bodyPr>
          <a:lstStyle/>
          <a:p>
            <a:pPr algn="l">
              <a:defRPr sz="900" b="0">
                <a:solidFill>
                  <a:srgbClr val="2D2D2D"/>
                </a:solidFill>
                <a:latin typeface="Calibri"/>
              </a:defRPr>
            </a:pPr>
            <a:r>
              <a:t>security awareness training completion rate</a:t>
            </a:r>
          </a:p>
        </p:txBody>
      </p:sp>
      <p:sp>
        <p:nvSpPr>
          <p:cNvPr id="48" name="Rectangle 47"/>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50" name="TextBox 49"/>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7 of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04</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Compliance Documentation</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BPMN ID: Task_VendorComplianceReview  |  Candidate Group: vendor-response</a:t>
            </a:r>
          </a:p>
        </p:txBody>
      </p:sp>
      <p:sp>
        <p:nvSpPr>
          <p:cNvPr id="7" name="Rectangle 6"/>
          <p:cNvSpPr/>
          <p:nvPr/>
        </p:nvSpPr>
        <p:spPr>
          <a:xfrm>
            <a:off x="457200" y="1051560"/>
            <a:ext cx="11247120" cy="14630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97280"/>
            <a:ext cx="10881360" cy="274320"/>
          </a:xfrm>
          <a:prstGeom prst="rect">
            <a:avLst/>
          </a:prstGeom>
          <a:noFill/>
        </p:spPr>
        <p:txBody>
          <a:bodyPr wrap="square">
            <a:spAutoFit/>
          </a:bodyPr>
          <a:lstStyle/>
          <a:p>
            <a:pPr algn="l">
              <a:defRPr sz="1000" b="1">
                <a:solidFill>
                  <a:srgbClr val="0053AE"/>
                </a:solidFill>
                <a:latin typeface="Calibri"/>
              </a:defRPr>
            </a:pPr>
            <a:r>
              <a:t>DESCRIPTION</a:t>
            </a:r>
          </a:p>
        </p:txBody>
      </p:sp>
      <p:sp>
        <p:nvSpPr>
          <p:cNvPr id="9" name="TextBox 8"/>
          <p:cNvSpPr txBox="1"/>
          <p:nvPr/>
        </p:nvSpPr>
        <p:spPr>
          <a:xfrm>
            <a:off x="640080" y="1371600"/>
            <a:ext cx="10881360" cy="1097280"/>
          </a:xfrm>
          <a:prstGeom prst="rect">
            <a:avLst/>
          </a:prstGeom>
          <a:noFill/>
        </p:spPr>
        <p:txBody>
          <a:bodyPr wrap="square">
            <a:spAutoFit/>
          </a:bodyPr>
          <a:lstStyle/>
          <a:p>
            <a:pPr algn="l">
              <a:defRPr sz="1100" b="0">
                <a:solidFill>
                  <a:srgbClr val="2D2D2D"/>
                </a:solidFill>
                <a:latin typeface="Calibri"/>
              </a:defRPr>
            </a:pPr>
            <a:r>
              <a:t>Vendor submits regulatory certifications, compliance attestations, and data protection documentation. This includes proof of regulatory compliance, audit rights confirmation, Data Processing Agreement (DPA) terms, sub-processor disclosures, and data residency documentation. Vendor must demonstrate compliance posture across all applicable regulatory frameworks.</a:t>
            </a:r>
          </a:p>
        </p:txBody>
      </p:sp>
      <p:sp>
        <p:nvSpPr>
          <p:cNvPr id="10" name="TextBox 9"/>
          <p:cNvSpPr txBox="1"/>
          <p:nvPr/>
        </p:nvSpPr>
        <p:spPr>
          <a:xfrm>
            <a:off x="457200" y="2697480"/>
            <a:ext cx="10972800" cy="274320"/>
          </a:xfrm>
          <a:prstGeom prst="rect">
            <a:avLst/>
          </a:prstGeom>
          <a:noFill/>
        </p:spPr>
        <p:txBody>
          <a:bodyPr wrap="square">
            <a:spAutoFit/>
          </a:bodyPr>
          <a:lstStyle/>
          <a:p>
            <a:pPr algn="l">
              <a:defRPr sz="1200" b="1">
                <a:solidFill>
                  <a:srgbClr val="00338D"/>
                </a:solidFill>
                <a:latin typeface="Calibri"/>
              </a:defRPr>
            </a:pPr>
            <a:r>
              <a:t>REGULATORY CONTROLS</a:t>
            </a:r>
          </a:p>
        </p:txBody>
      </p:sp>
      <p:sp>
        <p:nvSpPr>
          <p:cNvPr id="11" name="Rectangle 10"/>
          <p:cNvSpPr/>
          <p:nvPr/>
        </p:nvSpPr>
        <p:spPr>
          <a:xfrm>
            <a:off x="457200" y="2971800"/>
            <a:ext cx="11247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63240"/>
            <a:ext cx="10881360" cy="228600"/>
          </a:xfrm>
          <a:prstGeom prst="rect">
            <a:avLst/>
          </a:prstGeom>
          <a:noFill/>
        </p:spPr>
        <p:txBody>
          <a:bodyPr wrap="square">
            <a:spAutoFit/>
          </a:bodyPr>
          <a:lstStyle/>
          <a:p>
            <a:pPr algn="l">
              <a:defRPr sz="1000" b="1">
                <a:solidFill>
                  <a:srgbClr val="007B5F"/>
                </a:solidFill>
                <a:latin typeface="Calibri"/>
              </a:defRPr>
            </a:pPr>
            <a:r>
              <a:t>OCC 2023-17 Section 55</a:t>
            </a:r>
          </a:p>
        </p:txBody>
      </p:sp>
      <p:sp>
        <p:nvSpPr>
          <p:cNvPr id="13" name="TextBox 12"/>
          <p:cNvSpPr txBox="1"/>
          <p:nvPr/>
        </p:nvSpPr>
        <p:spPr>
          <a:xfrm>
            <a:off x="822960" y="3264408"/>
            <a:ext cx="10698480" cy="320040"/>
          </a:xfrm>
          <a:prstGeom prst="rect">
            <a:avLst/>
          </a:prstGeom>
          <a:noFill/>
        </p:spPr>
        <p:txBody>
          <a:bodyPr wrap="square">
            <a:spAutoFit/>
          </a:bodyPr>
          <a:lstStyle/>
          <a:p>
            <a:pPr algn="l">
              <a:defRPr sz="900" b="0">
                <a:solidFill>
                  <a:srgbClr val="5F6368"/>
                </a:solidFill>
                <a:latin typeface="Calibri"/>
              </a:defRPr>
            </a:pPr>
            <a:r>
              <a:t>Vendor must confirm willingness to submit to regulatory examination, provide audit rights, and maintain compliance with applicable banking regulations.</a:t>
            </a:r>
          </a:p>
        </p:txBody>
      </p:sp>
      <p:sp>
        <p:nvSpPr>
          <p:cNvPr id="14" name="TextBox 13"/>
          <p:cNvSpPr txBox="1"/>
          <p:nvPr/>
        </p:nvSpPr>
        <p:spPr>
          <a:xfrm>
            <a:off x="640080" y="3584448"/>
            <a:ext cx="10881360" cy="228600"/>
          </a:xfrm>
          <a:prstGeom prst="rect">
            <a:avLst/>
          </a:prstGeom>
          <a:noFill/>
        </p:spPr>
        <p:txBody>
          <a:bodyPr wrap="square">
            <a:spAutoFit/>
          </a:bodyPr>
          <a:lstStyle/>
          <a:p>
            <a:pPr algn="l">
              <a:defRPr sz="1000" b="1">
                <a:solidFill>
                  <a:srgbClr val="007B5F"/>
                </a:solidFill>
                <a:latin typeface="Calibri"/>
              </a:defRPr>
            </a:pPr>
            <a:r>
              <a:t>GDPR Article 28 / CCPA</a:t>
            </a:r>
          </a:p>
        </p:txBody>
      </p:sp>
      <p:sp>
        <p:nvSpPr>
          <p:cNvPr id="15" name="TextBox 14"/>
          <p:cNvSpPr txBox="1"/>
          <p:nvPr/>
        </p:nvSpPr>
        <p:spPr>
          <a:xfrm>
            <a:off x="822960" y="3785616"/>
            <a:ext cx="10698480" cy="320040"/>
          </a:xfrm>
          <a:prstGeom prst="rect">
            <a:avLst/>
          </a:prstGeom>
          <a:noFill/>
        </p:spPr>
        <p:txBody>
          <a:bodyPr wrap="square">
            <a:spAutoFit/>
          </a:bodyPr>
          <a:lstStyle/>
          <a:p>
            <a:pPr algn="l">
              <a:defRPr sz="900" b="0">
                <a:solidFill>
                  <a:srgbClr val="5F6368"/>
                </a:solidFill>
                <a:latin typeface="Calibri"/>
              </a:defRPr>
            </a:pPr>
            <a:r>
              <a:t>DPA requirements covering processing purpose limitation, data minimization, security measures, sub-processor authorization, breach notification, and data return/deletion on termination.</a:t>
            </a:r>
          </a:p>
        </p:txBody>
      </p:sp>
      <p:sp>
        <p:nvSpPr>
          <p:cNvPr id="16" name="TextBox 15"/>
          <p:cNvSpPr txBox="1"/>
          <p:nvPr/>
        </p:nvSpPr>
        <p:spPr>
          <a:xfrm>
            <a:off x="640080" y="4105656"/>
            <a:ext cx="10881360" cy="228600"/>
          </a:xfrm>
          <a:prstGeom prst="rect">
            <a:avLst/>
          </a:prstGeom>
          <a:noFill/>
        </p:spPr>
        <p:txBody>
          <a:bodyPr wrap="square">
            <a:spAutoFit/>
          </a:bodyPr>
          <a:lstStyle/>
          <a:p>
            <a:pPr algn="l">
              <a:defRPr sz="1000" b="1">
                <a:solidFill>
                  <a:srgbClr val="007B5F"/>
                </a:solidFill>
                <a:latin typeface="Calibri"/>
              </a:defRPr>
            </a:pPr>
            <a:r>
              <a:t>SOX</a:t>
            </a:r>
          </a:p>
        </p:txBody>
      </p:sp>
      <p:sp>
        <p:nvSpPr>
          <p:cNvPr id="17" name="TextBox 16"/>
          <p:cNvSpPr txBox="1"/>
          <p:nvPr/>
        </p:nvSpPr>
        <p:spPr>
          <a:xfrm>
            <a:off x="822960" y="4306824"/>
            <a:ext cx="10698480" cy="320040"/>
          </a:xfrm>
          <a:prstGeom prst="rect">
            <a:avLst/>
          </a:prstGeom>
          <a:noFill/>
        </p:spPr>
        <p:txBody>
          <a:bodyPr wrap="square">
            <a:spAutoFit/>
          </a:bodyPr>
          <a:lstStyle/>
          <a:p>
            <a:pPr algn="l">
              <a:defRPr sz="900" b="0">
                <a:solidFill>
                  <a:srgbClr val="5F6368"/>
                </a:solidFill>
                <a:latin typeface="Calibri"/>
              </a:defRPr>
            </a:pPr>
            <a:r>
              <a:t>External audit independence confirmation if vendor touches financial reporting data; financial controls attestation.</a:t>
            </a:r>
          </a:p>
        </p:txBody>
      </p:sp>
      <p:sp>
        <p:nvSpPr>
          <p:cNvPr id="18" name="TextBox 17"/>
          <p:cNvSpPr txBox="1"/>
          <p:nvPr/>
        </p:nvSpPr>
        <p:spPr>
          <a:xfrm>
            <a:off x="640080" y="4626864"/>
            <a:ext cx="10881360" cy="228600"/>
          </a:xfrm>
          <a:prstGeom prst="rect">
            <a:avLst/>
          </a:prstGeom>
          <a:noFill/>
        </p:spPr>
        <p:txBody>
          <a:bodyPr wrap="square">
            <a:spAutoFit/>
          </a:bodyPr>
          <a:lstStyle/>
          <a:p>
            <a:pPr algn="l">
              <a:defRPr sz="1000" b="1">
                <a:solidFill>
                  <a:srgbClr val="007B5F"/>
                </a:solidFill>
                <a:latin typeface="Calibri"/>
              </a:defRPr>
            </a:pPr>
            <a:r>
              <a:t>DORA Article 30</a:t>
            </a:r>
          </a:p>
        </p:txBody>
      </p:sp>
      <p:sp>
        <p:nvSpPr>
          <p:cNvPr id="19" name="TextBox 18"/>
          <p:cNvSpPr txBox="1"/>
          <p:nvPr/>
        </p:nvSpPr>
        <p:spPr>
          <a:xfrm>
            <a:off x="822960" y="4828031"/>
            <a:ext cx="10698480" cy="320040"/>
          </a:xfrm>
          <a:prstGeom prst="rect">
            <a:avLst/>
          </a:prstGeom>
          <a:noFill/>
        </p:spPr>
        <p:txBody>
          <a:bodyPr wrap="square">
            <a:spAutoFit/>
          </a:bodyPr>
          <a:lstStyle/>
          <a:p>
            <a:pPr algn="l">
              <a:defRPr sz="900" b="0">
                <a:solidFill>
                  <a:srgbClr val="5F6368"/>
                </a:solidFill>
                <a:latin typeface="Calibri"/>
              </a:defRPr>
            </a:pPr>
            <a:r>
              <a:t>Vendor must disclose full sub-contracting chain, confirm exit strategy, and support regulatory reporting.</a:t>
            </a:r>
          </a:p>
        </p:txBody>
      </p:sp>
      <p:sp>
        <p:nvSpPr>
          <p:cNvPr id="20" name="TextBox 19"/>
          <p:cNvSpPr txBox="1"/>
          <p:nvPr/>
        </p:nvSpPr>
        <p:spPr>
          <a:xfrm>
            <a:off x="640080" y="5148071"/>
            <a:ext cx="10881360" cy="228600"/>
          </a:xfrm>
          <a:prstGeom prst="rect">
            <a:avLst/>
          </a:prstGeom>
          <a:noFill/>
        </p:spPr>
        <p:txBody>
          <a:bodyPr wrap="square">
            <a:spAutoFit/>
          </a:bodyPr>
          <a:lstStyle/>
          <a:p>
            <a:pPr algn="l">
              <a:defRPr sz="1000" b="1">
                <a:solidFill>
                  <a:srgbClr val="007B5F"/>
                </a:solidFill>
                <a:latin typeface="Calibri"/>
              </a:defRPr>
            </a:pPr>
            <a:r>
              <a:t>NIST CSF 2.0 GV.SC-07</a:t>
            </a:r>
          </a:p>
        </p:txBody>
      </p:sp>
      <p:sp>
        <p:nvSpPr>
          <p:cNvPr id="21" name="TextBox 20"/>
          <p:cNvSpPr txBox="1"/>
          <p:nvPr/>
        </p:nvSpPr>
        <p:spPr>
          <a:xfrm>
            <a:off x="822960" y="5349239"/>
            <a:ext cx="10698480" cy="320040"/>
          </a:xfrm>
          <a:prstGeom prst="rect">
            <a:avLst/>
          </a:prstGeom>
          <a:noFill/>
        </p:spPr>
        <p:txBody>
          <a:bodyPr wrap="square">
            <a:spAutoFit/>
          </a:bodyPr>
          <a:lstStyle/>
          <a:p>
            <a:pPr algn="l">
              <a:defRPr sz="900" b="0">
                <a:solidFill>
                  <a:srgbClr val="5F6368"/>
                </a:solidFill>
                <a:latin typeface="Calibri"/>
              </a:defRPr>
            </a:pPr>
            <a:r>
              <a:t>Supplier compliance posture documentation and supply chain risk management practices.</a:t>
            </a:r>
          </a:p>
        </p:txBody>
      </p:sp>
      <p:sp>
        <p:nvSpPr>
          <p:cNvPr id="22" name="Rectangle 21"/>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24" name="TextBox 23"/>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8 of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04</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Compliance Documentation — Evidence &amp; Data</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Evidence Collection Requirements and Key Data Points</a:t>
            </a:r>
          </a:p>
        </p:txBody>
      </p:sp>
      <p:sp>
        <p:nvSpPr>
          <p:cNvPr id="7" name="TextBox 6"/>
          <p:cNvSpPr txBox="1"/>
          <p:nvPr/>
        </p:nvSpPr>
        <p:spPr>
          <a:xfrm>
            <a:off x="457200" y="1051560"/>
            <a:ext cx="6400800" cy="274320"/>
          </a:xfrm>
          <a:prstGeom prst="rect">
            <a:avLst/>
          </a:prstGeom>
          <a:noFill/>
        </p:spPr>
        <p:txBody>
          <a:bodyPr wrap="square">
            <a:spAutoFit/>
          </a:bodyPr>
          <a:lstStyle/>
          <a:p>
            <a:pPr algn="l">
              <a:defRPr sz="1200" b="1">
                <a:solidFill>
                  <a:srgbClr val="00338D"/>
                </a:solidFill>
                <a:latin typeface="Calibri"/>
              </a:defRPr>
            </a:pPr>
            <a:r>
              <a:t>EVIDENCE COLLECTION</a:t>
            </a:r>
          </a:p>
        </p:txBody>
      </p:sp>
      <p:sp>
        <p:nvSpPr>
          <p:cNvPr id="8" name="Rectangle 7"/>
          <p:cNvSpPr/>
          <p:nvPr/>
        </p:nvSpPr>
        <p:spPr>
          <a:xfrm>
            <a:off x="457200" y="1325880"/>
            <a:ext cx="6675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0" name="TextBox 9"/>
          <p:cNvSpPr txBox="1"/>
          <p:nvPr/>
        </p:nvSpPr>
        <p:spPr>
          <a:xfrm>
            <a:off x="868680" y="1463040"/>
            <a:ext cx="6126480" cy="365760"/>
          </a:xfrm>
          <a:prstGeom prst="rect">
            <a:avLst/>
          </a:prstGeom>
          <a:noFill/>
        </p:spPr>
        <p:txBody>
          <a:bodyPr wrap="square">
            <a:spAutoFit/>
          </a:bodyPr>
          <a:lstStyle/>
          <a:p>
            <a:pPr algn="l">
              <a:defRPr sz="1000" b="0">
                <a:solidFill>
                  <a:srgbClr val="2D2D2D"/>
                </a:solidFill>
                <a:latin typeface="Calibri"/>
              </a:defRPr>
            </a:pPr>
            <a:r>
              <a:t>Regulatory certifications (ISO 27001, SOC 2 Type II, PCI DSS AOC, FedRAMP as applicable)</a:t>
            </a:r>
          </a:p>
        </p:txBody>
      </p:sp>
      <p:sp>
        <p:nvSpPr>
          <p:cNvPr id="11" name="TextBox 10"/>
          <p:cNvSpPr txBox="1"/>
          <p:nvPr/>
        </p:nvSpPr>
        <p:spPr>
          <a:xfrm>
            <a:off x="548640" y="184708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2" name="TextBox 11"/>
          <p:cNvSpPr txBox="1"/>
          <p:nvPr/>
        </p:nvSpPr>
        <p:spPr>
          <a:xfrm>
            <a:off x="868680" y="1847088"/>
            <a:ext cx="6126480" cy="365760"/>
          </a:xfrm>
          <a:prstGeom prst="rect">
            <a:avLst/>
          </a:prstGeom>
          <a:noFill/>
        </p:spPr>
        <p:txBody>
          <a:bodyPr wrap="square">
            <a:spAutoFit/>
          </a:bodyPr>
          <a:lstStyle/>
          <a:p>
            <a:pPr algn="l">
              <a:defRPr sz="1000" b="0">
                <a:solidFill>
                  <a:srgbClr val="2D2D2D"/>
                </a:solidFill>
                <a:latin typeface="Calibri"/>
              </a:defRPr>
            </a:pPr>
            <a:r>
              <a:t>Signed or draft DPA with all GDPR Article 28(3) provisions addressed</a:t>
            </a:r>
          </a:p>
        </p:txBody>
      </p:sp>
      <p:sp>
        <p:nvSpPr>
          <p:cNvPr id="13" name="TextBox 12"/>
          <p:cNvSpPr txBox="1"/>
          <p:nvPr/>
        </p:nvSpPr>
        <p:spPr>
          <a:xfrm>
            <a:off x="548640" y="2231136"/>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4" name="TextBox 13"/>
          <p:cNvSpPr txBox="1"/>
          <p:nvPr/>
        </p:nvSpPr>
        <p:spPr>
          <a:xfrm>
            <a:off x="868680" y="2231136"/>
            <a:ext cx="6126480" cy="365760"/>
          </a:xfrm>
          <a:prstGeom prst="rect">
            <a:avLst/>
          </a:prstGeom>
          <a:noFill/>
        </p:spPr>
        <p:txBody>
          <a:bodyPr wrap="square">
            <a:spAutoFit/>
          </a:bodyPr>
          <a:lstStyle/>
          <a:p>
            <a:pPr algn="l">
              <a:defRPr sz="1000" b="0">
                <a:solidFill>
                  <a:srgbClr val="2D2D2D"/>
                </a:solidFill>
                <a:latin typeface="Calibri"/>
              </a:defRPr>
            </a:pPr>
            <a:r>
              <a:t>Complete sub-processor list with names, locations, and services provided</a:t>
            </a:r>
          </a:p>
        </p:txBody>
      </p:sp>
      <p:sp>
        <p:nvSpPr>
          <p:cNvPr id="15" name="TextBox 14"/>
          <p:cNvSpPr txBox="1"/>
          <p:nvPr/>
        </p:nvSpPr>
        <p:spPr>
          <a:xfrm>
            <a:off x="548640" y="2615184"/>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6" name="TextBox 15"/>
          <p:cNvSpPr txBox="1"/>
          <p:nvPr/>
        </p:nvSpPr>
        <p:spPr>
          <a:xfrm>
            <a:off x="868680" y="2615184"/>
            <a:ext cx="6126480" cy="365760"/>
          </a:xfrm>
          <a:prstGeom prst="rect">
            <a:avLst/>
          </a:prstGeom>
          <a:noFill/>
        </p:spPr>
        <p:txBody>
          <a:bodyPr wrap="square">
            <a:spAutoFit/>
          </a:bodyPr>
          <a:lstStyle/>
          <a:p>
            <a:pPr algn="l">
              <a:defRPr sz="1000" b="0">
                <a:solidFill>
                  <a:srgbClr val="2D2D2D"/>
                </a:solidFill>
                <a:latin typeface="Calibri"/>
              </a:defRPr>
            </a:pPr>
            <a:r>
              <a:t>Audit rights confirmation letter</a:t>
            </a:r>
          </a:p>
        </p:txBody>
      </p:sp>
      <p:sp>
        <p:nvSpPr>
          <p:cNvPr id="17" name="TextBox 16"/>
          <p:cNvSpPr txBox="1"/>
          <p:nvPr/>
        </p:nvSpPr>
        <p:spPr>
          <a:xfrm>
            <a:off x="548640" y="2999232"/>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8" name="TextBox 17"/>
          <p:cNvSpPr txBox="1"/>
          <p:nvPr/>
        </p:nvSpPr>
        <p:spPr>
          <a:xfrm>
            <a:off x="868680" y="2999232"/>
            <a:ext cx="6126480" cy="365760"/>
          </a:xfrm>
          <a:prstGeom prst="rect">
            <a:avLst/>
          </a:prstGeom>
          <a:noFill/>
        </p:spPr>
        <p:txBody>
          <a:bodyPr wrap="square">
            <a:spAutoFit/>
          </a:bodyPr>
          <a:lstStyle/>
          <a:p>
            <a:pPr algn="l">
              <a:defRPr sz="1000" b="0">
                <a:solidFill>
                  <a:srgbClr val="2D2D2D"/>
                </a:solidFill>
                <a:latin typeface="Calibri"/>
              </a:defRPr>
            </a:pPr>
            <a:r>
              <a:t>Data residency documentation</a:t>
            </a:r>
          </a:p>
        </p:txBody>
      </p:sp>
      <p:sp>
        <p:nvSpPr>
          <p:cNvPr id="19" name="TextBox 18"/>
          <p:cNvSpPr txBox="1"/>
          <p:nvPr/>
        </p:nvSpPr>
        <p:spPr>
          <a:xfrm>
            <a:off x="548640" y="3383279"/>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0" name="TextBox 19"/>
          <p:cNvSpPr txBox="1"/>
          <p:nvPr/>
        </p:nvSpPr>
        <p:spPr>
          <a:xfrm>
            <a:off x="868680" y="3383279"/>
            <a:ext cx="6126480" cy="365760"/>
          </a:xfrm>
          <a:prstGeom prst="rect">
            <a:avLst/>
          </a:prstGeom>
          <a:noFill/>
        </p:spPr>
        <p:txBody>
          <a:bodyPr wrap="square">
            <a:spAutoFit/>
          </a:bodyPr>
          <a:lstStyle/>
          <a:p>
            <a:pPr algn="l">
              <a:defRPr sz="1000" b="0">
                <a:solidFill>
                  <a:srgbClr val="2D2D2D"/>
                </a:solidFill>
                <a:latin typeface="Calibri"/>
              </a:defRPr>
            </a:pPr>
            <a:r>
              <a:t>Privacy impact assessment or DPIA if high-risk processing</a:t>
            </a:r>
          </a:p>
        </p:txBody>
      </p:sp>
      <p:sp>
        <p:nvSpPr>
          <p:cNvPr id="21" name="TextBox 20"/>
          <p:cNvSpPr txBox="1"/>
          <p:nvPr/>
        </p:nvSpPr>
        <p:spPr>
          <a:xfrm>
            <a:off x="548640" y="376732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2" name="TextBox 21"/>
          <p:cNvSpPr txBox="1"/>
          <p:nvPr/>
        </p:nvSpPr>
        <p:spPr>
          <a:xfrm>
            <a:off x="868680" y="3767328"/>
            <a:ext cx="6126480" cy="365760"/>
          </a:xfrm>
          <a:prstGeom prst="rect">
            <a:avLst/>
          </a:prstGeom>
          <a:noFill/>
        </p:spPr>
        <p:txBody>
          <a:bodyPr wrap="square">
            <a:spAutoFit/>
          </a:bodyPr>
          <a:lstStyle/>
          <a:p>
            <a:pPr algn="l">
              <a:defRPr sz="1000" b="0">
                <a:solidFill>
                  <a:srgbClr val="2D2D2D"/>
                </a:solidFill>
                <a:latin typeface="Calibri"/>
              </a:defRPr>
            </a:pPr>
            <a:r>
              <a:t>Regulatory examination history disclosure (past 5 years)</a:t>
            </a:r>
          </a:p>
        </p:txBody>
      </p:sp>
      <p:sp>
        <p:nvSpPr>
          <p:cNvPr id="23" name="Rectangle 22"/>
          <p:cNvSpPr/>
          <p:nvPr/>
        </p:nvSpPr>
        <p:spPr>
          <a:xfrm>
            <a:off x="7498079" y="1051560"/>
            <a:ext cx="4206240" cy="502920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1143000"/>
            <a:ext cx="3840480" cy="274320"/>
          </a:xfrm>
          <a:prstGeom prst="rect">
            <a:avLst/>
          </a:prstGeom>
          <a:noFill/>
        </p:spPr>
        <p:txBody>
          <a:bodyPr wrap="square">
            <a:spAutoFit/>
          </a:bodyPr>
          <a:lstStyle/>
          <a:p>
            <a:pPr algn="l">
              <a:defRPr sz="1200" b="1">
                <a:solidFill>
                  <a:srgbClr val="00338D"/>
                </a:solidFill>
                <a:latin typeface="Calibri"/>
              </a:defRPr>
            </a:pPr>
            <a:r>
              <a:t>KEY DATA POINTS</a:t>
            </a:r>
          </a:p>
        </p:txBody>
      </p:sp>
      <p:sp>
        <p:nvSpPr>
          <p:cNvPr id="25" name="Rectangle 24"/>
          <p:cNvSpPr/>
          <p:nvPr/>
        </p:nvSpPr>
        <p:spPr>
          <a:xfrm>
            <a:off x="7680960" y="1417320"/>
            <a:ext cx="384048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155448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7" name="TextBox 26"/>
          <p:cNvSpPr txBox="1"/>
          <p:nvPr/>
        </p:nvSpPr>
        <p:spPr>
          <a:xfrm>
            <a:off x="8001000" y="1554480"/>
            <a:ext cx="3474720" cy="274320"/>
          </a:xfrm>
          <a:prstGeom prst="rect">
            <a:avLst/>
          </a:prstGeom>
          <a:noFill/>
        </p:spPr>
        <p:txBody>
          <a:bodyPr wrap="square">
            <a:spAutoFit/>
          </a:bodyPr>
          <a:lstStyle/>
          <a:p>
            <a:pPr algn="l">
              <a:defRPr sz="900" b="0">
                <a:solidFill>
                  <a:srgbClr val="2D2D2D"/>
                </a:solidFill>
                <a:latin typeface="Calibri"/>
              </a:defRPr>
            </a:pPr>
            <a:r>
              <a:t>Certifications held and expiry dates</a:t>
            </a:r>
          </a:p>
        </p:txBody>
      </p:sp>
      <p:sp>
        <p:nvSpPr>
          <p:cNvPr id="28" name="TextBox 27"/>
          <p:cNvSpPr txBox="1"/>
          <p:nvPr/>
        </p:nvSpPr>
        <p:spPr>
          <a:xfrm>
            <a:off x="7772400" y="181051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9" name="TextBox 28"/>
          <p:cNvSpPr txBox="1"/>
          <p:nvPr/>
        </p:nvSpPr>
        <p:spPr>
          <a:xfrm>
            <a:off x="8001000" y="1810512"/>
            <a:ext cx="3474720" cy="274320"/>
          </a:xfrm>
          <a:prstGeom prst="rect">
            <a:avLst/>
          </a:prstGeom>
          <a:noFill/>
        </p:spPr>
        <p:txBody>
          <a:bodyPr wrap="square">
            <a:spAutoFit/>
          </a:bodyPr>
          <a:lstStyle/>
          <a:p>
            <a:pPr algn="l">
              <a:defRPr sz="900" b="0">
                <a:solidFill>
                  <a:srgbClr val="2D2D2D"/>
                </a:solidFill>
                <a:latin typeface="Calibri"/>
              </a:defRPr>
            </a:pPr>
            <a:r>
              <a:t>DPA execution status</a:t>
            </a:r>
          </a:p>
        </p:txBody>
      </p:sp>
      <p:sp>
        <p:nvSpPr>
          <p:cNvPr id="30" name="TextBox 29"/>
          <p:cNvSpPr txBox="1"/>
          <p:nvPr/>
        </p:nvSpPr>
        <p:spPr>
          <a:xfrm>
            <a:off x="7772400" y="2066543"/>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1" name="TextBox 30"/>
          <p:cNvSpPr txBox="1"/>
          <p:nvPr/>
        </p:nvSpPr>
        <p:spPr>
          <a:xfrm>
            <a:off x="8001000" y="2066543"/>
            <a:ext cx="3474720" cy="274320"/>
          </a:xfrm>
          <a:prstGeom prst="rect">
            <a:avLst/>
          </a:prstGeom>
          <a:noFill/>
        </p:spPr>
        <p:txBody>
          <a:bodyPr wrap="square">
            <a:spAutoFit/>
          </a:bodyPr>
          <a:lstStyle/>
          <a:p>
            <a:pPr algn="l">
              <a:defRPr sz="900" b="0">
                <a:solidFill>
                  <a:srgbClr val="2D2D2D"/>
                </a:solidFill>
                <a:latin typeface="Calibri"/>
              </a:defRPr>
            </a:pPr>
            <a:r>
              <a:t>sub-processor count and jurisdictions</a:t>
            </a:r>
          </a:p>
        </p:txBody>
      </p:sp>
      <p:sp>
        <p:nvSpPr>
          <p:cNvPr id="32" name="TextBox 31"/>
          <p:cNvSpPr txBox="1"/>
          <p:nvPr/>
        </p:nvSpPr>
        <p:spPr>
          <a:xfrm>
            <a:off x="7772400" y="232257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3" name="TextBox 32"/>
          <p:cNvSpPr txBox="1"/>
          <p:nvPr/>
        </p:nvSpPr>
        <p:spPr>
          <a:xfrm>
            <a:off x="8001000" y="2322576"/>
            <a:ext cx="3474720" cy="274320"/>
          </a:xfrm>
          <a:prstGeom prst="rect">
            <a:avLst/>
          </a:prstGeom>
          <a:noFill/>
        </p:spPr>
        <p:txBody>
          <a:bodyPr wrap="square">
            <a:spAutoFit/>
          </a:bodyPr>
          <a:lstStyle/>
          <a:p>
            <a:pPr algn="l">
              <a:defRPr sz="900" b="0">
                <a:solidFill>
                  <a:srgbClr val="2D2D2D"/>
                </a:solidFill>
                <a:latin typeface="Calibri"/>
              </a:defRPr>
            </a:pPr>
            <a:r>
              <a:t>data residency countries</a:t>
            </a:r>
          </a:p>
        </p:txBody>
      </p:sp>
      <p:sp>
        <p:nvSpPr>
          <p:cNvPr id="34" name="TextBox 33"/>
          <p:cNvSpPr txBox="1"/>
          <p:nvPr/>
        </p:nvSpPr>
        <p:spPr>
          <a:xfrm>
            <a:off x="7772400" y="2578608"/>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5" name="TextBox 34"/>
          <p:cNvSpPr txBox="1"/>
          <p:nvPr/>
        </p:nvSpPr>
        <p:spPr>
          <a:xfrm>
            <a:off x="8001000" y="2578608"/>
            <a:ext cx="3474720" cy="274320"/>
          </a:xfrm>
          <a:prstGeom prst="rect">
            <a:avLst/>
          </a:prstGeom>
          <a:noFill/>
        </p:spPr>
        <p:txBody>
          <a:bodyPr wrap="square">
            <a:spAutoFit/>
          </a:bodyPr>
          <a:lstStyle/>
          <a:p>
            <a:pPr algn="l">
              <a:defRPr sz="900" b="0">
                <a:solidFill>
                  <a:srgbClr val="2D2D2D"/>
                </a:solidFill>
                <a:latin typeface="Calibri"/>
              </a:defRPr>
            </a:pPr>
            <a:r>
              <a:t>audit rights scope</a:t>
            </a:r>
          </a:p>
        </p:txBody>
      </p:sp>
      <p:sp>
        <p:nvSpPr>
          <p:cNvPr id="36" name="TextBox 35"/>
          <p:cNvSpPr txBox="1"/>
          <p:nvPr/>
        </p:nvSpPr>
        <p:spPr>
          <a:xfrm>
            <a:off x="7772400" y="283464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7" name="TextBox 36"/>
          <p:cNvSpPr txBox="1"/>
          <p:nvPr/>
        </p:nvSpPr>
        <p:spPr>
          <a:xfrm>
            <a:off x="8001000" y="2834640"/>
            <a:ext cx="3474720" cy="274320"/>
          </a:xfrm>
          <a:prstGeom prst="rect">
            <a:avLst/>
          </a:prstGeom>
          <a:noFill/>
        </p:spPr>
        <p:txBody>
          <a:bodyPr wrap="square">
            <a:spAutoFit/>
          </a:bodyPr>
          <a:lstStyle/>
          <a:p>
            <a:pPr algn="l">
              <a:defRPr sz="900" b="0">
                <a:solidFill>
                  <a:srgbClr val="2D2D2D"/>
                </a:solidFill>
                <a:latin typeface="Calibri"/>
              </a:defRPr>
            </a:pPr>
            <a:r>
              <a:t>regulatory examination history</a:t>
            </a:r>
          </a:p>
        </p:txBody>
      </p:sp>
      <p:sp>
        <p:nvSpPr>
          <p:cNvPr id="38" name="TextBox 37"/>
          <p:cNvSpPr txBox="1"/>
          <p:nvPr/>
        </p:nvSpPr>
        <p:spPr>
          <a:xfrm>
            <a:off x="7772400" y="309067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9" name="TextBox 38"/>
          <p:cNvSpPr txBox="1"/>
          <p:nvPr/>
        </p:nvSpPr>
        <p:spPr>
          <a:xfrm>
            <a:off x="8001000" y="3090672"/>
            <a:ext cx="3474720" cy="274320"/>
          </a:xfrm>
          <a:prstGeom prst="rect">
            <a:avLst/>
          </a:prstGeom>
          <a:noFill/>
        </p:spPr>
        <p:txBody>
          <a:bodyPr wrap="square">
            <a:spAutoFit/>
          </a:bodyPr>
          <a:lstStyle/>
          <a:p>
            <a:pPr algn="l">
              <a:defRPr sz="900" b="0">
                <a:solidFill>
                  <a:srgbClr val="2D2D2D"/>
                </a:solidFill>
                <a:latin typeface="Calibri"/>
              </a:defRPr>
            </a:pPr>
            <a:r>
              <a:t>privacy officer contact</a:t>
            </a:r>
          </a:p>
        </p:txBody>
      </p:sp>
      <p:sp>
        <p:nvSpPr>
          <p:cNvPr id="40" name="TextBox 39"/>
          <p:cNvSpPr txBox="1"/>
          <p:nvPr/>
        </p:nvSpPr>
        <p:spPr>
          <a:xfrm>
            <a:off x="7772400" y="3346704"/>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1" name="TextBox 40"/>
          <p:cNvSpPr txBox="1"/>
          <p:nvPr/>
        </p:nvSpPr>
        <p:spPr>
          <a:xfrm>
            <a:off x="8001000" y="3346704"/>
            <a:ext cx="3474720" cy="274320"/>
          </a:xfrm>
          <a:prstGeom prst="rect">
            <a:avLst/>
          </a:prstGeom>
          <a:noFill/>
        </p:spPr>
        <p:txBody>
          <a:bodyPr wrap="square">
            <a:spAutoFit/>
          </a:bodyPr>
          <a:lstStyle/>
          <a:p>
            <a:pPr algn="l">
              <a:defRPr sz="900" b="0">
                <a:solidFill>
                  <a:srgbClr val="2D2D2D"/>
                </a:solidFill>
                <a:latin typeface="Calibri"/>
              </a:defRPr>
            </a:pPr>
            <a:r>
              <a:t>breach notification timeline</a:t>
            </a:r>
          </a:p>
        </p:txBody>
      </p:sp>
      <p:sp>
        <p:nvSpPr>
          <p:cNvPr id="42" name="TextBox 41"/>
          <p:cNvSpPr txBox="1"/>
          <p:nvPr/>
        </p:nvSpPr>
        <p:spPr>
          <a:xfrm>
            <a:off x="7772400" y="360273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3" name="TextBox 42"/>
          <p:cNvSpPr txBox="1"/>
          <p:nvPr/>
        </p:nvSpPr>
        <p:spPr>
          <a:xfrm>
            <a:off x="8001000" y="3602736"/>
            <a:ext cx="3474720" cy="274320"/>
          </a:xfrm>
          <a:prstGeom prst="rect">
            <a:avLst/>
          </a:prstGeom>
          <a:noFill/>
        </p:spPr>
        <p:txBody>
          <a:bodyPr wrap="square">
            <a:spAutoFit/>
          </a:bodyPr>
          <a:lstStyle/>
          <a:p>
            <a:pPr algn="l">
              <a:defRPr sz="900" b="0">
                <a:solidFill>
                  <a:srgbClr val="2D2D2D"/>
                </a:solidFill>
                <a:latin typeface="Calibri"/>
              </a:defRPr>
            </a:pPr>
            <a:r>
              <a:t>data retention and deletion policies</a:t>
            </a:r>
          </a:p>
        </p:txBody>
      </p:sp>
      <p:sp>
        <p:nvSpPr>
          <p:cNvPr id="44" name="Rectangle 43"/>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46" name="TextBox 45"/>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9 of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05</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Technical Demonstration</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BPMN ID: Task_VendorTechDemo  |  Candidate Group: vendor-response</a:t>
            </a:r>
          </a:p>
        </p:txBody>
      </p:sp>
      <p:sp>
        <p:nvSpPr>
          <p:cNvPr id="7" name="Rectangle 6"/>
          <p:cNvSpPr/>
          <p:nvPr/>
        </p:nvSpPr>
        <p:spPr>
          <a:xfrm>
            <a:off x="457200" y="1051560"/>
            <a:ext cx="11247120" cy="14630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97280"/>
            <a:ext cx="10881360" cy="274320"/>
          </a:xfrm>
          <a:prstGeom prst="rect">
            <a:avLst/>
          </a:prstGeom>
          <a:noFill/>
        </p:spPr>
        <p:txBody>
          <a:bodyPr wrap="square">
            <a:spAutoFit/>
          </a:bodyPr>
          <a:lstStyle/>
          <a:p>
            <a:pPr algn="l">
              <a:defRPr sz="1000" b="1">
                <a:solidFill>
                  <a:srgbClr val="0053AE"/>
                </a:solidFill>
                <a:latin typeface="Calibri"/>
              </a:defRPr>
            </a:pPr>
            <a:r>
              <a:t>DESCRIPTION</a:t>
            </a:r>
          </a:p>
        </p:txBody>
      </p:sp>
      <p:sp>
        <p:nvSpPr>
          <p:cNvPr id="9" name="TextBox 8"/>
          <p:cNvSpPr txBox="1"/>
          <p:nvPr/>
        </p:nvSpPr>
        <p:spPr>
          <a:xfrm>
            <a:off x="640080" y="1371600"/>
            <a:ext cx="10881360" cy="1097280"/>
          </a:xfrm>
          <a:prstGeom prst="rect">
            <a:avLst/>
          </a:prstGeom>
          <a:noFill/>
        </p:spPr>
        <p:txBody>
          <a:bodyPr wrap="square">
            <a:spAutoFit/>
          </a:bodyPr>
          <a:lstStyle/>
          <a:p>
            <a:pPr algn="l">
              <a:defRPr sz="1100" b="0">
                <a:solidFill>
                  <a:srgbClr val="2D2D2D"/>
                </a:solidFill>
                <a:latin typeface="Calibri"/>
              </a:defRPr>
            </a:pPr>
            <a:r>
              <a:t>Vendor conducts a structured technical demonstration of the proposed solution against predefined evaluation criteria. The demo must cover functional capabilities, integration points, security controls in action, performance under load, failover and recovery mechanisms, and administrative workflows. Evaluators score using a standardized scorecard.</a:t>
            </a:r>
          </a:p>
        </p:txBody>
      </p:sp>
      <p:sp>
        <p:nvSpPr>
          <p:cNvPr id="10" name="TextBox 9"/>
          <p:cNvSpPr txBox="1"/>
          <p:nvPr/>
        </p:nvSpPr>
        <p:spPr>
          <a:xfrm>
            <a:off x="457200" y="2697480"/>
            <a:ext cx="10972800" cy="274320"/>
          </a:xfrm>
          <a:prstGeom prst="rect">
            <a:avLst/>
          </a:prstGeom>
          <a:noFill/>
        </p:spPr>
        <p:txBody>
          <a:bodyPr wrap="square">
            <a:spAutoFit/>
          </a:bodyPr>
          <a:lstStyle/>
          <a:p>
            <a:pPr algn="l">
              <a:defRPr sz="1200" b="1">
                <a:solidFill>
                  <a:srgbClr val="00338D"/>
                </a:solidFill>
                <a:latin typeface="Calibri"/>
              </a:defRPr>
            </a:pPr>
            <a:r>
              <a:t>REGULATORY CONTROLS</a:t>
            </a:r>
          </a:p>
        </p:txBody>
      </p:sp>
      <p:sp>
        <p:nvSpPr>
          <p:cNvPr id="11" name="Rectangle 10"/>
          <p:cNvSpPr/>
          <p:nvPr/>
        </p:nvSpPr>
        <p:spPr>
          <a:xfrm>
            <a:off x="457200" y="2971800"/>
            <a:ext cx="11247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63240"/>
            <a:ext cx="10881360" cy="228600"/>
          </a:xfrm>
          <a:prstGeom prst="rect">
            <a:avLst/>
          </a:prstGeom>
          <a:noFill/>
        </p:spPr>
        <p:txBody>
          <a:bodyPr wrap="square">
            <a:spAutoFit/>
          </a:bodyPr>
          <a:lstStyle/>
          <a:p>
            <a:pPr algn="l">
              <a:defRPr sz="1000" b="1">
                <a:solidFill>
                  <a:srgbClr val="007B5F"/>
                </a:solidFill>
                <a:latin typeface="Calibri"/>
              </a:defRPr>
            </a:pPr>
            <a:r>
              <a:t>OCC 2023-17 Section 40</a:t>
            </a:r>
          </a:p>
        </p:txBody>
      </p:sp>
      <p:sp>
        <p:nvSpPr>
          <p:cNvPr id="13" name="TextBox 12"/>
          <p:cNvSpPr txBox="1"/>
          <p:nvPr/>
        </p:nvSpPr>
        <p:spPr>
          <a:xfrm>
            <a:off x="822960" y="3264408"/>
            <a:ext cx="10698480" cy="320040"/>
          </a:xfrm>
          <a:prstGeom prst="rect">
            <a:avLst/>
          </a:prstGeom>
          <a:noFill/>
        </p:spPr>
        <p:txBody>
          <a:bodyPr wrap="square">
            <a:spAutoFit/>
          </a:bodyPr>
          <a:lstStyle/>
          <a:p>
            <a:pPr algn="l">
              <a:defRPr sz="900" b="0">
                <a:solidFill>
                  <a:srgbClr val="5F6368"/>
                </a:solidFill>
                <a:latin typeface="Calibri"/>
              </a:defRPr>
            </a:pPr>
            <a:r>
              <a:t>Technology capability validation — verify the vendor's solution meets technical requirements without introducing unacceptable risk.</a:t>
            </a:r>
          </a:p>
        </p:txBody>
      </p:sp>
      <p:sp>
        <p:nvSpPr>
          <p:cNvPr id="14" name="TextBox 13"/>
          <p:cNvSpPr txBox="1"/>
          <p:nvPr/>
        </p:nvSpPr>
        <p:spPr>
          <a:xfrm>
            <a:off x="640080" y="3584448"/>
            <a:ext cx="10881360" cy="228600"/>
          </a:xfrm>
          <a:prstGeom prst="rect">
            <a:avLst/>
          </a:prstGeom>
          <a:noFill/>
        </p:spPr>
        <p:txBody>
          <a:bodyPr wrap="square">
            <a:spAutoFit/>
          </a:bodyPr>
          <a:lstStyle/>
          <a:p>
            <a:pPr algn="l">
              <a:defRPr sz="1000" b="1">
                <a:solidFill>
                  <a:srgbClr val="007B5F"/>
                </a:solidFill>
                <a:latin typeface="Calibri"/>
              </a:defRPr>
            </a:pPr>
            <a:r>
              <a:t>NIST CSF 2.0 PR.PS</a:t>
            </a:r>
          </a:p>
        </p:txBody>
      </p:sp>
      <p:sp>
        <p:nvSpPr>
          <p:cNvPr id="15" name="TextBox 14"/>
          <p:cNvSpPr txBox="1"/>
          <p:nvPr/>
        </p:nvSpPr>
        <p:spPr>
          <a:xfrm>
            <a:off x="822960" y="3785616"/>
            <a:ext cx="10698480" cy="320040"/>
          </a:xfrm>
          <a:prstGeom prst="rect">
            <a:avLst/>
          </a:prstGeom>
          <a:noFill/>
        </p:spPr>
        <p:txBody>
          <a:bodyPr wrap="square">
            <a:spAutoFit/>
          </a:bodyPr>
          <a:lstStyle/>
          <a:p>
            <a:pPr algn="l">
              <a:defRPr sz="900" b="0">
                <a:solidFill>
                  <a:srgbClr val="5F6368"/>
                </a:solidFill>
                <a:latin typeface="Calibri"/>
              </a:defRPr>
            </a:pPr>
            <a:r>
              <a:t>Demonstrate secure configuration management, hardening practices, and change management controls.</a:t>
            </a:r>
          </a:p>
        </p:txBody>
      </p:sp>
      <p:sp>
        <p:nvSpPr>
          <p:cNvPr id="16" name="TextBox 15"/>
          <p:cNvSpPr txBox="1"/>
          <p:nvPr/>
        </p:nvSpPr>
        <p:spPr>
          <a:xfrm>
            <a:off x="640080" y="4105656"/>
            <a:ext cx="10881360" cy="228600"/>
          </a:xfrm>
          <a:prstGeom prst="rect">
            <a:avLst/>
          </a:prstGeom>
          <a:noFill/>
        </p:spPr>
        <p:txBody>
          <a:bodyPr wrap="square">
            <a:spAutoFit/>
          </a:bodyPr>
          <a:lstStyle/>
          <a:p>
            <a:pPr algn="l">
              <a:defRPr sz="1000" b="1">
                <a:solidFill>
                  <a:srgbClr val="007B5F"/>
                </a:solidFill>
                <a:latin typeface="Calibri"/>
              </a:defRPr>
            </a:pPr>
            <a:r>
              <a:t>DORA Article 9</a:t>
            </a:r>
          </a:p>
        </p:txBody>
      </p:sp>
      <p:sp>
        <p:nvSpPr>
          <p:cNvPr id="17" name="TextBox 16"/>
          <p:cNvSpPr txBox="1"/>
          <p:nvPr/>
        </p:nvSpPr>
        <p:spPr>
          <a:xfrm>
            <a:off x="822960" y="4306824"/>
            <a:ext cx="10698480" cy="320040"/>
          </a:xfrm>
          <a:prstGeom prst="rect">
            <a:avLst/>
          </a:prstGeom>
          <a:noFill/>
        </p:spPr>
        <p:txBody>
          <a:bodyPr wrap="square">
            <a:spAutoFit/>
          </a:bodyPr>
          <a:lstStyle/>
          <a:p>
            <a:pPr algn="l">
              <a:defRPr sz="900" b="0">
                <a:solidFill>
                  <a:srgbClr val="5F6368"/>
                </a:solidFill>
                <a:latin typeface="Calibri"/>
              </a:defRPr>
            </a:pPr>
            <a:r>
              <a:t>ICT resilience capabilities — demonstrate failover mechanisms, recovery procedures, and availability targets.</a:t>
            </a:r>
          </a:p>
        </p:txBody>
      </p:sp>
      <p:sp>
        <p:nvSpPr>
          <p:cNvPr id="18" name="Rectangle 17"/>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20" name="TextBox 19"/>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10 of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05</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Technical Demonstration — Evidence &amp; Data</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Evidence Collection Requirements and Key Data Points</a:t>
            </a:r>
          </a:p>
        </p:txBody>
      </p:sp>
      <p:sp>
        <p:nvSpPr>
          <p:cNvPr id="7" name="TextBox 6"/>
          <p:cNvSpPr txBox="1"/>
          <p:nvPr/>
        </p:nvSpPr>
        <p:spPr>
          <a:xfrm>
            <a:off x="457200" y="1051560"/>
            <a:ext cx="6400800" cy="274320"/>
          </a:xfrm>
          <a:prstGeom prst="rect">
            <a:avLst/>
          </a:prstGeom>
          <a:noFill/>
        </p:spPr>
        <p:txBody>
          <a:bodyPr wrap="square">
            <a:spAutoFit/>
          </a:bodyPr>
          <a:lstStyle/>
          <a:p>
            <a:pPr algn="l">
              <a:defRPr sz="1200" b="1">
                <a:solidFill>
                  <a:srgbClr val="00338D"/>
                </a:solidFill>
                <a:latin typeface="Calibri"/>
              </a:defRPr>
            </a:pPr>
            <a:r>
              <a:t>EVIDENCE COLLECTION</a:t>
            </a:r>
          </a:p>
        </p:txBody>
      </p:sp>
      <p:sp>
        <p:nvSpPr>
          <p:cNvPr id="8" name="Rectangle 7"/>
          <p:cNvSpPr/>
          <p:nvPr/>
        </p:nvSpPr>
        <p:spPr>
          <a:xfrm>
            <a:off x="457200" y="1325880"/>
            <a:ext cx="6675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0" name="TextBox 9"/>
          <p:cNvSpPr txBox="1"/>
          <p:nvPr/>
        </p:nvSpPr>
        <p:spPr>
          <a:xfrm>
            <a:off x="868680" y="1463040"/>
            <a:ext cx="6126480" cy="365760"/>
          </a:xfrm>
          <a:prstGeom prst="rect">
            <a:avLst/>
          </a:prstGeom>
          <a:noFill/>
        </p:spPr>
        <p:txBody>
          <a:bodyPr wrap="square">
            <a:spAutoFit/>
          </a:bodyPr>
          <a:lstStyle/>
          <a:p>
            <a:pPr algn="l">
              <a:defRPr sz="1000" b="0">
                <a:solidFill>
                  <a:srgbClr val="2D2D2D"/>
                </a:solidFill>
                <a:latin typeface="Calibri"/>
              </a:defRPr>
            </a:pPr>
            <a:r>
              <a:t>Pre-defined demo script with evaluation criteria mapped to requirements</a:t>
            </a:r>
          </a:p>
        </p:txBody>
      </p:sp>
      <p:sp>
        <p:nvSpPr>
          <p:cNvPr id="11" name="TextBox 10"/>
          <p:cNvSpPr txBox="1"/>
          <p:nvPr/>
        </p:nvSpPr>
        <p:spPr>
          <a:xfrm>
            <a:off x="548640" y="184708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2" name="TextBox 11"/>
          <p:cNvSpPr txBox="1"/>
          <p:nvPr/>
        </p:nvSpPr>
        <p:spPr>
          <a:xfrm>
            <a:off x="868680" y="1847088"/>
            <a:ext cx="6126480" cy="365760"/>
          </a:xfrm>
          <a:prstGeom prst="rect">
            <a:avLst/>
          </a:prstGeom>
          <a:noFill/>
        </p:spPr>
        <p:txBody>
          <a:bodyPr wrap="square">
            <a:spAutoFit/>
          </a:bodyPr>
          <a:lstStyle/>
          <a:p>
            <a:pPr algn="l">
              <a:defRPr sz="1000" b="0">
                <a:solidFill>
                  <a:srgbClr val="2D2D2D"/>
                </a:solidFill>
                <a:latin typeface="Calibri"/>
              </a:defRPr>
            </a:pPr>
            <a:r>
              <a:t>Completed evaluation scorecard signed by all assessors</a:t>
            </a:r>
          </a:p>
        </p:txBody>
      </p:sp>
      <p:sp>
        <p:nvSpPr>
          <p:cNvPr id="13" name="TextBox 12"/>
          <p:cNvSpPr txBox="1"/>
          <p:nvPr/>
        </p:nvSpPr>
        <p:spPr>
          <a:xfrm>
            <a:off x="548640" y="2231136"/>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4" name="TextBox 13"/>
          <p:cNvSpPr txBox="1"/>
          <p:nvPr/>
        </p:nvSpPr>
        <p:spPr>
          <a:xfrm>
            <a:off x="868680" y="2231136"/>
            <a:ext cx="6126480" cy="365760"/>
          </a:xfrm>
          <a:prstGeom prst="rect">
            <a:avLst/>
          </a:prstGeom>
          <a:noFill/>
        </p:spPr>
        <p:txBody>
          <a:bodyPr wrap="square">
            <a:spAutoFit/>
          </a:bodyPr>
          <a:lstStyle/>
          <a:p>
            <a:pPr algn="l">
              <a:defRPr sz="1000" b="0">
                <a:solidFill>
                  <a:srgbClr val="2D2D2D"/>
                </a:solidFill>
                <a:latin typeface="Calibri"/>
              </a:defRPr>
            </a:pPr>
            <a:r>
              <a:t>Architecture diagram reviewed and annotated during the demonstration</a:t>
            </a:r>
          </a:p>
        </p:txBody>
      </p:sp>
      <p:sp>
        <p:nvSpPr>
          <p:cNvPr id="15" name="TextBox 14"/>
          <p:cNvSpPr txBox="1"/>
          <p:nvPr/>
        </p:nvSpPr>
        <p:spPr>
          <a:xfrm>
            <a:off x="548640" y="2615184"/>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6" name="TextBox 15"/>
          <p:cNvSpPr txBox="1"/>
          <p:nvPr/>
        </p:nvSpPr>
        <p:spPr>
          <a:xfrm>
            <a:off x="868680" y="2615184"/>
            <a:ext cx="6126480" cy="365760"/>
          </a:xfrm>
          <a:prstGeom prst="rect">
            <a:avLst/>
          </a:prstGeom>
          <a:noFill/>
        </p:spPr>
        <p:txBody>
          <a:bodyPr wrap="square">
            <a:spAutoFit/>
          </a:bodyPr>
          <a:lstStyle/>
          <a:p>
            <a:pPr algn="l">
              <a:defRPr sz="1000" b="0">
                <a:solidFill>
                  <a:srgbClr val="2D2D2D"/>
                </a:solidFill>
                <a:latin typeface="Calibri"/>
              </a:defRPr>
            </a:pPr>
            <a:r>
              <a:t>RTO/RPO verification results from demonstrated failover</a:t>
            </a:r>
          </a:p>
        </p:txBody>
      </p:sp>
      <p:sp>
        <p:nvSpPr>
          <p:cNvPr id="17" name="TextBox 16"/>
          <p:cNvSpPr txBox="1"/>
          <p:nvPr/>
        </p:nvSpPr>
        <p:spPr>
          <a:xfrm>
            <a:off x="548640" y="2999232"/>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8" name="TextBox 17"/>
          <p:cNvSpPr txBox="1"/>
          <p:nvPr/>
        </p:nvSpPr>
        <p:spPr>
          <a:xfrm>
            <a:off x="868680" y="2999232"/>
            <a:ext cx="6126480" cy="365760"/>
          </a:xfrm>
          <a:prstGeom prst="rect">
            <a:avLst/>
          </a:prstGeom>
          <a:noFill/>
        </p:spPr>
        <p:txBody>
          <a:bodyPr wrap="square">
            <a:spAutoFit/>
          </a:bodyPr>
          <a:lstStyle/>
          <a:p>
            <a:pPr algn="l">
              <a:defRPr sz="1000" b="0">
                <a:solidFill>
                  <a:srgbClr val="2D2D2D"/>
                </a:solidFill>
                <a:latin typeface="Calibri"/>
              </a:defRPr>
            </a:pPr>
            <a:r>
              <a:t>Integration compatibility assessment (API standards, auth methods, data formats)</a:t>
            </a:r>
          </a:p>
        </p:txBody>
      </p:sp>
      <p:sp>
        <p:nvSpPr>
          <p:cNvPr id="19" name="TextBox 18"/>
          <p:cNvSpPr txBox="1"/>
          <p:nvPr/>
        </p:nvSpPr>
        <p:spPr>
          <a:xfrm>
            <a:off x="548640" y="3383279"/>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0" name="TextBox 19"/>
          <p:cNvSpPr txBox="1"/>
          <p:nvPr/>
        </p:nvSpPr>
        <p:spPr>
          <a:xfrm>
            <a:off x="868680" y="3383279"/>
            <a:ext cx="6126480" cy="365760"/>
          </a:xfrm>
          <a:prstGeom prst="rect">
            <a:avLst/>
          </a:prstGeom>
          <a:noFill/>
        </p:spPr>
        <p:txBody>
          <a:bodyPr wrap="square">
            <a:spAutoFit/>
          </a:bodyPr>
          <a:lstStyle/>
          <a:p>
            <a:pPr algn="l">
              <a:defRPr sz="1000" b="0">
                <a:solidFill>
                  <a:srgbClr val="2D2D2D"/>
                </a:solidFill>
                <a:latin typeface="Calibri"/>
              </a:defRPr>
            </a:pPr>
            <a:r>
              <a:t>Performance benchmark results (response times, throughput, concurrent users)</a:t>
            </a:r>
          </a:p>
        </p:txBody>
      </p:sp>
      <p:sp>
        <p:nvSpPr>
          <p:cNvPr id="21" name="Rectangle 20"/>
          <p:cNvSpPr/>
          <p:nvPr/>
        </p:nvSpPr>
        <p:spPr>
          <a:xfrm>
            <a:off x="7498079" y="1051560"/>
            <a:ext cx="4206240" cy="502920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0" y="1143000"/>
            <a:ext cx="3840480" cy="274320"/>
          </a:xfrm>
          <a:prstGeom prst="rect">
            <a:avLst/>
          </a:prstGeom>
          <a:noFill/>
        </p:spPr>
        <p:txBody>
          <a:bodyPr wrap="square">
            <a:spAutoFit/>
          </a:bodyPr>
          <a:lstStyle/>
          <a:p>
            <a:pPr algn="l">
              <a:defRPr sz="1200" b="1">
                <a:solidFill>
                  <a:srgbClr val="00338D"/>
                </a:solidFill>
                <a:latin typeface="Calibri"/>
              </a:defRPr>
            </a:pPr>
            <a:r>
              <a:t>KEY DATA POINTS</a:t>
            </a:r>
          </a:p>
        </p:txBody>
      </p:sp>
      <p:sp>
        <p:nvSpPr>
          <p:cNvPr id="23" name="Rectangle 22"/>
          <p:cNvSpPr/>
          <p:nvPr/>
        </p:nvSpPr>
        <p:spPr>
          <a:xfrm>
            <a:off x="7680960" y="1417320"/>
            <a:ext cx="384048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0" y="155448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5" name="TextBox 24"/>
          <p:cNvSpPr txBox="1"/>
          <p:nvPr/>
        </p:nvSpPr>
        <p:spPr>
          <a:xfrm>
            <a:off x="8001000" y="1554480"/>
            <a:ext cx="3474720" cy="274320"/>
          </a:xfrm>
          <a:prstGeom prst="rect">
            <a:avLst/>
          </a:prstGeom>
          <a:noFill/>
        </p:spPr>
        <p:txBody>
          <a:bodyPr wrap="square">
            <a:spAutoFit/>
          </a:bodyPr>
          <a:lstStyle/>
          <a:p>
            <a:pPr algn="l">
              <a:defRPr sz="900" b="0">
                <a:solidFill>
                  <a:srgbClr val="2D2D2D"/>
                </a:solidFill>
                <a:latin typeface="Calibri"/>
              </a:defRPr>
            </a:pPr>
            <a:r>
              <a:t>Demo completion % against script</a:t>
            </a:r>
          </a:p>
        </p:txBody>
      </p:sp>
      <p:sp>
        <p:nvSpPr>
          <p:cNvPr id="26" name="TextBox 25"/>
          <p:cNvSpPr txBox="1"/>
          <p:nvPr/>
        </p:nvSpPr>
        <p:spPr>
          <a:xfrm>
            <a:off x="7772400" y="181051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7" name="TextBox 26"/>
          <p:cNvSpPr txBox="1"/>
          <p:nvPr/>
        </p:nvSpPr>
        <p:spPr>
          <a:xfrm>
            <a:off x="8001000" y="1810512"/>
            <a:ext cx="3474720" cy="274320"/>
          </a:xfrm>
          <a:prstGeom prst="rect">
            <a:avLst/>
          </a:prstGeom>
          <a:noFill/>
        </p:spPr>
        <p:txBody>
          <a:bodyPr wrap="square">
            <a:spAutoFit/>
          </a:bodyPr>
          <a:lstStyle/>
          <a:p>
            <a:pPr algn="l">
              <a:defRPr sz="900" b="0">
                <a:solidFill>
                  <a:srgbClr val="2D2D2D"/>
                </a:solidFill>
                <a:latin typeface="Calibri"/>
              </a:defRPr>
            </a:pPr>
            <a:r>
              <a:t>evaluator scores by category</a:t>
            </a:r>
          </a:p>
        </p:txBody>
      </p:sp>
      <p:sp>
        <p:nvSpPr>
          <p:cNvPr id="28" name="TextBox 27"/>
          <p:cNvSpPr txBox="1"/>
          <p:nvPr/>
        </p:nvSpPr>
        <p:spPr>
          <a:xfrm>
            <a:off x="7772400" y="2066543"/>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9" name="TextBox 28"/>
          <p:cNvSpPr txBox="1"/>
          <p:nvPr/>
        </p:nvSpPr>
        <p:spPr>
          <a:xfrm>
            <a:off x="8001000" y="2066543"/>
            <a:ext cx="3474720" cy="274320"/>
          </a:xfrm>
          <a:prstGeom prst="rect">
            <a:avLst/>
          </a:prstGeom>
          <a:noFill/>
        </p:spPr>
        <p:txBody>
          <a:bodyPr wrap="square">
            <a:spAutoFit/>
          </a:bodyPr>
          <a:lstStyle/>
          <a:p>
            <a:pPr algn="l">
              <a:defRPr sz="900" b="0">
                <a:solidFill>
                  <a:srgbClr val="2D2D2D"/>
                </a:solidFill>
                <a:latin typeface="Calibri"/>
              </a:defRPr>
            </a:pPr>
            <a:r>
              <a:t>identified gaps or limitations</a:t>
            </a:r>
          </a:p>
        </p:txBody>
      </p:sp>
      <p:sp>
        <p:nvSpPr>
          <p:cNvPr id="30" name="TextBox 29"/>
          <p:cNvSpPr txBox="1"/>
          <p:nvPr/>
        </p:nvSpPr>
        <p:spPr>
          <a:xfrm>
            <a:off x="7772400" y="232257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1" name="TextBox 30"/>
          <p:cNvSpPr txBox="1"/>
          <p:nvPr/>
        </p:nvSpPr>
        <p:spPr>
          <a:xfrm>
            <a:off x="8001000" y="2322576"/>
            <a:ext cx="3474720" cy="274320"/>
          </a:xfrm>
          <a:prstGeom prst="rect">
            <a:avLst/>
          </a:prstGeom>
          <a:noFill/>
        </p:spPr>
        <p:txBody>
          <a:bodyPr wrap="square">
            <a:spAutoFit/>
          </a:bodyPr>
          <a:lstStyle/>
          <a:p>
            <a:pPr algn="l">
              <a:defRPr sz="900" b="0">
                <a:solidFill>
                  <a:srgbClr val="2D2D2D"/>
                </a:solidFill>
                <a:latin typeface="Calibri"/>
              </a:defRPr>
            </a:pPr>
            <a:r>
              <a:t>integration complexity assessment</a:t>
            </a:r>
          </a:p>
        </p:txBody>
      </p:sp>
      <p:sp>
        <p:nvSpPr>
          <p:cNvPr id="32" name="TextBox 31"/>
          <p:cNvSpPr txBox="1"/>
          <p:nvPr/>
        </p:nvSpPr>
        <p:spPr>
          <a:xfrm>
            <a:off x="7772400" y="2578608"/>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3" name="TextBox 32"/>
          <p:cNvSpPr txBox="1"/>
          <p:nvPr/>
        </p:nvSpPr>
        <p:spPr>
          <a:xfrm>
            <a:off x="8001000" y="2578608"/>
            <a:ext cx="3474720" cy="274320"/>
          </a:xfrm>
          <a:prstGeom prst="rect">
            <a:avLst/>
          </a:prstGeom>
          <a:noFill/>
        </p:spPr>
        <p:txBody>
          <a:bodyPr wrap="square">
            <a:spAutoFit/>
          </a:bodyPr>
          <a:lstStyle/>
          <a:p>
            <a:pPr algn="l">
              <a:defRPr sz="900" b="0">
                <a:solidFill>
                  <a:srgbClr val="2D2D2D"/>
                </a:solidFill>
                <a:latin typeface="Calibri"/>
              </a:defRPr>
            </a:pPr>
            <a:r>
              <a:t>estimated customization effort</a:t>
            </a:r>
          </a:p>
        </p:txBody>
      </p:sp>
      <p:sp>
        <p:nvSpPr>
          <p:cNvPr id="34" name="TextBox 33"/>
          <p:cNvSpPr txBox="1"/>
          <p:nvPr/>
        </p:nvSpPr>
        <p:spPr>
          <a:xfrm>
            <a:off x="7772400" y="283464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5" name="TextBox 34"/>
          <p:cNvSpPr txBox="1"/>
          <p:nvPr/>
        </p:nvSpPr>
        <p:spPr>
          <a:xfrm>
            <a:off x="8001000" y="2834640"/>
            <a:ext cx="3474720" cy="274320"/>
          </a:xfrm>
          <a:prstGeom prst="rect">
            <a:avLst/>
          </a:prstGeom>
          <a:noFill/>
        </p:spPr>
        <p:txBody>
          <a:bodyPr wrap="square">
            <a:spAutoFit/>
          </a:bodyPr>
          <a:lstStyle/>
          <a:p>
            <a:pPr algn="l">
              <a:defRPr sz="900" b="0">
                <a:solidFill>
                  <a:srgbClr val="2D2D2D"/>
                </a:solidFill>
                <a:latin typeface="Calibri"/>
              </a:defRPr>
            </a:pPr>
            <a:r>
              <a:t>accessibility compliance status (WCAG 2.1 AA)</a:t>
            </a:r>
          </a:p>
        </p:txBody>
      </p:sp>
      <p:sp>
        <p:nvSpPr>
          <p:cNvPr id="36" name="Rectangle 35"/>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38" name="TextBox 37"/>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11 of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06</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Vendor Contract Review</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BPMN ID: Task_VendorContractReview  |  Candidate Group: vendor-response</a:t>
            </a:r>
          </a:p>
        </p:txBody>
      </p:sp>
      <p:sp>
        <p:nvSpPr>
          <p:cNvPr id="7" name="Rectangle 6"/>
          <p:cNvSpPr/>
          <p:nvPr/>
        </p:nvSpPr>
        <p:spPr>
          <a:xfrm>
            <a:off x="457200" y="1051560"/>
            <a:ext cx="11247120" cy="14630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97280"/>
            <a:ext cx="10881360" cy="274320"/>
          </a:xfrm>
          <a:prstGeom prst="rect">
            <a:avLst/>
          </a:prstGeom>
          <a:noFill/>
        </p:spPr>
        <p:txBody>
          <a:bodyPr wrap="square">
            <a:spAutoFit/>
          </a:bodyPr>
          <a:lstStyle/>
          <a:p>
            <a:pPr algn="l">
              <a:defRPr sz="1000" b="1">
                <a:solidFill>
                  <a:srgbClr val="0053AE"/>
                </a:solidFill>
                <a:latin typeface="Calibri"/>
              </a:defRPr>
            </a:pPr>
            <a:r>
              <a:t>DESCRIPTION</a:t>
            </a:r>
          </a:p>
        </p:txBody>
      </p:sp>
      <p:sp>
        <p:nvSpPr>
          <p:cNvPr id="9" name="TextBox 8"/>
          <p:cNvSpPr txBox="1"/>
          <p:nvPr/>
        </p:nvSpPr>
        <p:spPr>
          <a:xfrm>
            <a:off x="640080" y="1371600"/>
            <a:ext cx="10881360" cy="1097280"/>
          </a:xfrm>
          <a:prstGeom prst="rect">
            <a:avLst/>
          </a:prstGeom>
          <a:noFill/>
        </p:spPr>
        <p:txBody>
          <a:bodyPr wrap="square">
            <a:spAutoFit/>
          </a:bodyPr>
          <a:lstStyle/>
          <a:p>
            <a:pPr algn="l">
              <a:defRPr sz="1100" b="0">
                <a:solidFill>
                  <a:srgbClr val="2D2D2D"/>
                </a:solidFill>
                <a:latin typeface="Calibri"/>
              </a:defRPr>
            </a:pPr>
            <a:r>
              <a:t>Vendor receives the draft contract and performs a thorough review of all terms, conditions, and obligations. Reviews service level commitments, liability provisions, indemnification clauses, audit rights, data protection obligations, termination and exit provisions, intellectual property rights, and regulatory compliance requirements. Vendor provides redlined comments and negotiation positions.</a:t>
            </a:r>
          </a:p>
        </p:txBody>
      </p:sp>
      <p:sp>
        <p:nvSpPr>
          <p:cNvPr id="10" name="TextBox 9"/>
          <p:cNvSpPr txBox="1"/>
          <p:nvPr/>
        </p:nvSpPr>
        <p:spPr>
          <a:xfrm>
            <a:off x="457200" y="2697480"/>
            <a:ext cx="10972800" cy="274320"/>
          </a:xfrm>
          <a:prstGeom prst="rect">
            <a:avLst/>
          </a:prstGeom>
          <a:noFill/>
        </p:spPr>
        <p:txBody>
          <a:bodyPr wrap="square">
            <a:spAutoFit/>
          </a:bodyPr>
          <a:lstStyle/>
          <a:p>
            <a:pPr algn="l">
              <a:defRPr sz="1200" b="1">
                <a:solidFill>
                  <a:srgbClr val="00338D"/>
                </a:solidFill>
                <a:latin typeface="Calibri"/>
              </a:defRPr>
            </a:pPr>
            <a:r>
              <a:t>REGULATORY CONTROLS</a:t>
            </a:r>
          </a:p>
        </p:txBody>
      </p:sp>
      <p:sp>
        <p:nvSpPr>
          <p:cNvPr id="11" name="Rectangle 10"/>
          <p:cNvSpPr/>
          <p:nvPr/>
        </p:nvSpPr>
        <p:spPr>
          <a:xfrm>
            <a:off x="457200" y="2971800"/>
            <a:ext cx="11247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63240"/>
            <a:ext cx="10881360" cy="228600"/>
          </a:xfrm>
          <a:prstGeom prst="rect">
            <a:avLst/>
          </a:prstGeom>
          <a:noFill/>
        </p:spPr>
        <p:txBody>
          <a:bodyPr wrap="square">
            <a:spAutoFit/>
          </a:bodyPr>
          <a:lstStyle/>
          <a:p>
            <a:pPr algn="l">
              <a:defRPr sz="1000" b="1">
                <a:solidFill>
                  <a:srgbClr val="007B5F"/>
                </a:solidFill>
                <a:latin typeface="Calibri"/>
              </a:defRPr>
            </a:pPr>
            <a:r>
              <a:t>OCC 2023-17 Sections 60-70</a:t>
            </a:r>
          </a:p>
        </p:txBody>
      </p:sp>
      <p:sp>
        <p:nvSpPr>
          <p:cNvPr id="13" name="TextBox 12"/>
          <p:cNvSpPr txBox="1"/>
          <p:nvPr/>
        </p:nvSpPr>
        <p:spPr>
          <a:xfrm>
            <a:off x="822960" y="3264408"/>
            <a:ext cx="10698480" cy="320040"/>
          </a:xfrm>
          <a:prstGeom prst="rect">
            <a:avLst/>
          </a:prstGeom>
          <a:noFill/>
        </p:spPr>
        <p:txBody>
          <a:bodyPr wrap="square">
            <a:spAutoFit/>
          </a:bodyPr>
          <a:lstStyle/>
          <a:p>
            <a:pPr algn="l">
              <a:defRPr sz="900" b="0">
                <a:solidFill>
                  <a:srgbClr val="5F6368"/>
                </a:solidFill>
                <a:latin typeface="Calibri"/>
              </a:defRPr>
            </a:pPr>
            <a:r>
              <a:t>Required contractual provisions — audit rights, subcontracting restrictions, data ownership, BC/DR commitments, termination rights, confidentiality, and regulatory compliance representations.</a:t>
            </a:r>
          </a:p>
        </p:txBody>
      </p:sp>
      <p:sp>
        <p:nvSpPr>
          <p:cNvPr id="14" name="TextBox 13"/>
          <p:cNvSpPr txBox="1"/>
          <p:nvPr/>
        </p:nvSpPr>
        <p:spPr>
          <a:xfrm>
            <a:off x="640080" y="3584448"/>
            <a:ext cx="10881360" cy="228600"/>
          </a:xfrm>
          <a:prstGeom prst="rect">
            <a:avLst/>
          </a:prstGeom>
          <a:noFill/>
        </p:spPr>
        <p:txBody>
          <a:bodyPr wrap="square">
            <a:spAutoFit/>
          </a:bodyPr>
          <a:lstStyle/>
          <a:p>
            <a:pPr algn="l">
              <a:defRPr sz="1000" b="1">
                <a:solidFill>
                  <a:srgbClr val="007B5F"/>
                </a:solidFill>
                <a:latin typeface="Calibri"/>
              </a:defRPr>
            </a:pPr>
            <a:r>
              <a:t>SOX Section 302/404</a:t>
            </a:r>
          </a:p>
        </p:txBody>
      </p:sp>
      <p:sp>
        <p:nvSpPr>
          <p:cNvPr id="15" name="TextBox 14"/>
          <p:cNvSpPr txBox="1"/>
          <p:nvPr/>
        </p:nvSpPr>
        <p:spPr>
          <a:xfrm>
            <a:off x="822960" y="3785616"/>
            <a:ext cx="10698480" cy="320040"/>
          </a:xfrm>
          <a:prstGeom prst="rect">
            <a:avLst/>
          </a:prstGeom>
          <a:noFill/>
        </p:spPr>
        <p:txBody>
          <a:bodyPr wrap="square">
            <a:spAutoFit/>
          </a:bodyPr>
          <a:lstStyle/>
          <a:p>
            <a:pPr algn="l">
              <a:defRPr sz="900" b="0">
                <a:solidFill>
                  <a:srgbClr val="5F6368"/>
                </a:solidFill>
                <a:latin typeface="Calibri"/>
              </a:defRPr>
            </a:pPr>
            <a:r>
              <a:t>Audit rights and financial controls provisions must be explicitly stated.</a:t>
            </a:r>
          </a:p>
        </p:txBody>
      </p:sp>
      <p:sp>
        <p:nvSpPr>
          <p:cNvPr id="16" name="TextBox 15"/>
          <p:cNvSpPr txBox="1"/>
          <p:nvPr/>
        </p:nvSpPr>
        <p:spPr>
          <a:xfrm>
            <a:off x="640080" y="4105656"/>
            <a:ext cx="10881360" cy="228600"/>
          </a:xfrm>
          <a:prstGeom prst="rect">
            <a:avLst/>
          </a:prstGeom>
          <a:noFill/>
        </p:spPr>
        <p:txBody>
          <a:bodyPr wrap="square">
            <a:spAutoFit/>
          </a:bodyPr>
          <a:lstStyle/>
          <a:p>
            <a:pPr algn="l">
              <a:defRPr sz="1000" b="1">
                <a:solidFill>
                  <a:srgbClr val="007B5F"/>
                </a:solidFill>
                <a:latin typeface="Calibri"/>
              </a:defRPr>
            </a:pPr>
            <a:r>
              <a:t>GDPR Article 28(3) / CCPA</a:t>
            </a:r>
          </a:p>
        </p:txBody>
      </p:sp>
      <p:sp>
        <p:nvSpPr>
          <p:cNvPr id="17" name="TextBox 16"/>
          <p:cNvSpPr txBox="1"/>
          <p:nvPr/>
        </p:nvSpPr>
        <p:spPr>
          <a:xfrm>
            <a:off x="822960" y="4306824"/>
            <a:ext cx="10698480" cy="320040"/>
          </a:xfrm>
          <a:prstGeom prst="rect">
            <a:avLst/>
          </a:prstGeom>
          <a:noFill/>
        </p:spPr>
        <p:txBody>
          <a:bodyPr wrap="square">
            <a:spAutoFit/>
          </a:bodyPr>
          <a:lstStyle/>
          <a:p>
            <a:pPr algn="l">
              <a:defRPr sz="900" b="0">
                <a:solidFill>
                  <a:srgbClr val="5F6368"/>
                </a:solidFill>
                <a:latin typeface="Calibri"/>
              </a:defRPr>
            </a:pPr>
            <a:r>
              <a:t>Mandatory DPA provisions including documented instructions, confidentiality, security measures, sub-processor management, breach notification within 72 hours, and data deletion.</a:t>
            </a:r>
          </a:p>
        </p:txBody>
      </p:sp>
      <p:sp>
        <p:nvSpPr>
          <p:cNvPr id="18" name="TextBox 17"/>
          <p:cNvSpPr txBox="1"/>
          <p:nvPr/>
        </p:nvSpPr>
        <p:spPr>
          <a:xfrm>
            <a:off x="640080" y="4626864"/>
            <a:ext cx="10881360" cy="228600"/>
          </a:xfrm>
          <a:prstGeom prst="rect">
            <a:avLst/>
          </a:prstGeom>
          <a:noFill/>
        </p:spPr>
        <p:txBody>
          <a:bodyPr wrap="square">
            <a:spAutoFit/>
          </a:bodyPr>
          <a:lstStyle/>
          <a:p>
            <a:pPr algn="l">
              <a:defRPr sz="1000" b="1">
                <a:solidFill>
                  <a:srgbClr val="007B5F"/>
                </a:solidFill>
                <a:latin typeface="Calibri"/>
              </a:defRPr>
            </a:pPr>
            <a:r>
              <a:t>DORA Article 30</a:t>
            </a:r>
          </a:p>
        </p:txBody>
      </p:sp>
      <p:sp>
        <p:nvSpPr>
          <p:cNvPr id="19" name="TextBox 18"/>
          <p:cNvSpPr txBox="1"/>
          <p:nvPr/>
        </p:nvSpPr>
        <p:spPr>
          <a:xfrm>
            <a:off x="822960" y="4828031"/>
            <a:ext cx="10698480" cy="320040"/>
          </a:xfrm>
          <a:prstGeom prst="rect">
            <a:avLst/>
          </a:prstGeom>
          <a:noFill/>
        </p:spPr>
        <p:txBody>
          <a:bodyPr wrap="square">
            <a:spAutoFit/>
          </a:bodyPr>
          <a:lstStyle/>
          <a:p>
            <a:pPr algn="l">
              <a:defRPr sz="900" b="0">
                <a:solidFill>
                  <a:srgbClr val="5F6368"/>
                </a:solidFill>
                <a:latin typeface="Calibri"/>
              </a:defRPr>
            </a:pPr>
            <a:r>
              <a:t>Mandatory ICT contractual provisions — SLA definitions, availability guarantees, audit rights, exit strategy, incident notification, and sub-outsourcing governance.</a:t>
            </a:r>
          </a:p>
        </p:txBody>
      </p:sp>
      <p:sp>
        <p:nvSpPr>
          <p:cNvPr id="20" name="Rectangle 19"/>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22" name="TextBox 21"/>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12 of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06</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Vendor Contract Review — Evidence &amp; Data</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Evidence Collection Requirements and Key Data Points</a:t>
            </a:r>
          </a:p>
        </p:txBody>
      </p:sp>
      <p:sp>
        <p:nvSpPr>
          <p:cNvPr id="7" name="TextBox 6"/>
          <p:cNvSpPr txBox="1"/>
          <p:nvPr/>
        </p:nvSpPr>
        <p:spPr>
          <a:xfrm>
            <a:off x="457200" y="1051560"/>
            <a:ext cx="6400800" cy="274320"/>
          </a:xfrm>
          <a:prstGeom prst="rect">
            <a:avLst/>
          </a:prstGeom>
          <a:noFill/>
        </p:spPr>
        <p:txBody>
          <a:bodyPr wrap="square">
            <a:spAutoFit/>
          </a:bodyPr>
          <a:lstStyle/>
          <a:p>
            <a:pPr algn="l">
              <a:defRPr sz="1200" b="1">
                <a:solidFill>
                  <a:srgbClr val="00338D"/>
                </a:solidFill>
                <a:latin typeface="Calibri"/>
              </a:defRPr>
            </a:pPr>
            <a:r>
              <a:t>EVIDENCE COLLECTION</a:t>
            </a:r>
          </a:p>
        </p:txBody>
      </p:sp>
      <p:sp>
        <p:nvSpPr>
          <p:cNvPr id="8" name="Rectangle 7"/>
          <p:cNvSpPr/>
          <p:nvPr/>
        </p:nvSpPr>
        <p:spPr>
          <a:xfrm>
            <a:off x="457200" y="1325880"/>
            <a:ext cx="6675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0" name="TextBox 9"/>
          <p:cNvSpPr txBox="1"/>
          <p:nvPr/>
        </p:nvSpPr>
        <p:spPr>
          <a:xfrm>
            <a:off x="868680" y="1463040"/>
            <a:ext cx="6126480" cy="365760"/>
          </a:xfrm>
          <a:prstGeom prst="rect">
            <a:avLst/>
          </a:prstGeom>
          <a:noFill/>
        </p:spPr>
        <p:txBody>
          <a:bodyPr wrap="square">
            <a:spAutoFit/>
          </a:bodyPr>
          <a:lstStyle/>
          <a:p>
            <a:pPr algn="l">
              <a:defRPr sz="1000" b="0">
                <a:solidFill>
                  <a:srgbClr val="2D2D2D"/>
                </a:solidFill>
                <a:latin typeface="Calibri"/>
              </a:defRPr>
            </a:pPr>
            <a:r>
              <a:t>Redlined contract document with vendor comments and negotiation positions</a:t>
            </a:r>
          </a:p>
        </p:txBody>
      </p:sp>
      <p:sp>
        <p:nvSpPr>
          <p:cNvPr id="11" name="TextBox 10"/>
          <p:cNvSpPr txBox="1"/>
          <p:nvPr/>
        </p:nvSpPr>
        <p:spPr>
          <a:xfrm>
            <a:off x="548640" y="184708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2" name="TextBox 11"/>
          <p:cNvSpPr txBox="1"/>
          <p:nvPr/>
        </p:nvSpPr>
        <p:spPr>
          <a:xfrm>
            <a:off x="868680" y="1847088"/>
            <a:ext cx="6126480" cy="365760"/>
          </a:xfrm>
          <a:prstGeom prst="rect">
            <a:avLst/>
          </a:prstGeom>
          <a:noFill/>
        </p:spPr>
        <p:txBody>
          <a:bodyPr wrap="square">
            <a:spAutoFit/>
          </a:bodyPr>
          <a:lstStyle/>
          <a:p>
            <a:pPr algn="l">
              <a:defRPr sz="1000" b="0">
                <a:solidFill>
                  <a:srgbClr val="2D2D2D"/>
                </a:solidFill>
                <a:latin typeface="Calibri"/>
              </a:defRPr>
            </a:pPr>
            <a:r>
              <a:t>Legal review checklist cross-referenced against OCC 2023-17 Section 60</a:t>
            </a:r>
          </a:p>
        </p:txBody>
      </p:sp>
      <p:sp>
        <p:nvSpPr>
          <p:cNvPr id="13" name="TextBox 12"/>
          <p:cNvSpPr txBox="1"/>
          <p:nvPr/>
        </p:nvSpPr>
        <p:spPr>
          <a:xfrm>
            <a:off x="548640" y="2231136"/>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4" name="TextBox 13"/>
          <p:cNvSpPr txBox="1"/>
          <p:nvPr/>
        </p:nvSpPr>
        <p:spPr>
          <a:xfrm>
            <a:off x="868680" y="2231136"/>
            <a:ext cx="6126480" cy="365760"/>
          </a:xfrm>
          <a:prstGeom prst="rect">
            <a:avLst/>
          </a:prstGeom>
          <a:noFill/>
        </p:spPr>
        <p:txBody>
          <a:bodyPr wrap="square">
            <a:spAutoFit/>
          </a:bodyPr>
          <a:lstStyle/>
          <a:p>
            <a:pPr algn="l">
              <a:defRPr sz="1000" b="0">
                <a:solidFill>
                  <a:srgbClr val="2D2D2D"/>
                </a:solidFill>
                <a:latin typeface="Calibri"/>
              </a:defRPr>
            </a:pPr>
            <a:r>
              <a:t>DPA review sign-off confirming all GDPR Article 28(3) requirements</a:t>
            </a:r>
          </a:p>
        </p:txBody>
      </p:sp>
      <p:sp>
        <p:nvSpPr>
          <p:cNvPr id="15" name="TextBox 14"/>
          <p:cNvSpPr txBox="1"/>
          <p:nvPr/>
        </p:nvSpPr>
        <p:spPr>
          <a:xfrm>
            <a:off x="548640" y="2615184"/>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6" name="TextBox 15"/>
          <p:cNvSpPr txBox="1"/>
          <p:nvPr/>
        </p:nvSpPr>
        <p:spPr>
          <a:xfrm>
            <a:off x="868680" y="2615184"/>
            <a:ext cx="6126480" cy="365760"/>
          </a:xfrm>
          <a:prstGeom prst="rect">
            <a:avLst/>
          </a:prstGeom>
          <a:noFill/>
        </p:spPr>
        <p:txBody>
          <a:bodyPr wrap="square">
            <a:spAutoFit/>
          </a:bodyPr>
          <a:lstStyle/>
          <a:p>
            <a:pPr algn="l">
              <a:defRPr sz="1000" b="0">
                <a:solidFill>
                  <a:srgbClr val="2D2D2D"/>
                </a:solidFill>
                <a:latin typeface="Calibri"/>
              </a:defRPr>
            </a:pPr>
            <a:r>
              <a:t>SLA schedule review confirming measurable targets with remedies</a:t>
            </a:r>
          </a:p>
        </p:txBody>
      </p:sp>
      <p:sp>
        <p:nvSpPr>
          <p:cNvPr id="17" name="TextBox 16"/>
          <p:cNvSpPr txBox="1"/>
          <p:nvPr/>
        </p:nvSpPr>
        <p:spPr>
          <a:xfrm>
            <a:off x="548640" y="2999232"/>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8" name="TextBox 17"/>
          <p:cNvSpPr txBox="1"/>
          <p:nvPr/>
        </p:nvSpPr>
        <p:spPr>
          <a:xfrm>
            <a:off x="868680" y="2999232"/>
            <a:ext cx="6126480" cy="365760"/>
          </a:xfrm>
          <a:prstGeom prst="rect">
            <a:avLst/>
          </a:prstGeom>
          <a:noFill/>
        </p:spPr>
        <p:txBody>
          <a:bodyPr wrap="square">
            <a:spAutoFit/>
          </a:bodyPr>
          <a:lstStyle/>
          <a:p>
            <a:pPr algn="l">
              <a:defRPr sz="1000" b="0">
                <a:solidFill>
                  <a:srgbClr val="2D2D2D"/>
                </a:solidFill>
                <a:latin typeface="Calibri"/>
              </a:defRPr>
            </a:pPr>
            <a:r>
              <a:t>Insurance requirements confirmation</a:t>
            </a:r>
          </a:p>
        </p:txBody>
      </p:sp>
      <p:sp>
        <p:nvSpPr>
          <p:cNvPr id="19" name="TextBox 18"/>
          <p:cNvSpPr txBox="1"/>
          <p:nvPr/>
        </p:nvSpPr>
        <p:spPr>
          <a:xfrm>
            <a:off x="548640" y="3383279"/>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0" name="TextBox 19"/>
          <p:cNvSpPr txBox="1"/>
          <p:nvPr/>
        </p:nvSpPr>
        <p:spPr>
          <a:xfrm>
            <a:off x="868680" y="3383279"/>
            <a:ext cx="6126480" cy="365760"/>
          </a:xfrm>
          <a:prstGeom prst="rect">
            <a:avLst/>
          </a:prstGeom>
          <a:noFill/>
        </p:spPr>
        <p:txBody>
          <a:bodyPr wrap="square">
            <a:spAutoFit/>
          </a:bodyPr>
          <a:lstStyle/>
          <a:p>
            <a:pPr algn="l">
              <a:defRPr sz="1000" b="0">
                <a:solidFill>
                  <a:srgbClr val="2D2D2D"/>
                </a:solidFill>
                <a:latin typeface="Calibri"/>
              </a:defRPr>
            </a:pPr>
            <a:r>
              <a:t>Escalation matrix and governance structure for contract management</a:t>
            </a:r>
          </a:p>
        </p:txBody>
      </p:sp>
      <p:sp>
        <p:nvSpPr>
          <p:cNvPr id="21" name="Rectangle 20"/>
          <p:cNvSpPr/>
          <p:nvPr/>
        </p:nvSpPr>
        <p:spPr>
          <a:xfrm>
            <a:off x="7498079" y="1051560"/>
            <a:ext cx="4206240" cy="502920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0" y="1143000"/>
            <a:ext cx="3840480" cy="274320"/>
          </a:xfrm>
          <a:prstGeom prst="rect">
            <a:avLst/>
          </a:prstGeom>
          <a:noFill/>
        </p:spPr>
        <p:txBody>
          <a:bodyPr wrap="square">
            <a:spAutoFit/>
          </a:bodyPr>
          <a:lstStyle/>
          <a:p>
            <a:pPr algn="l">
              <a:defRPr sz="1200" b="1">
                <a:solidFill>
                  <a:srgbClr val="00338D"/>
                </a:solidFill>
                <a:latin typeface="Calibri"/>
              </a:defRPr>
            </a:pPr>
            <a:r>
              <a:t>KEY DATA POINTS</a:t>
            </a:r>
          </a:p>
        </p:txBody>
      </p:sp>
      <p:sp>
        <p:nvSpPr>
          <p:cNvPr id="23" name="Rectangle 22"/>
          <p:cNvSpPr/>
          <p:nvPr/>
        </p:nvSpPr>
        <p:spPr>
          <a:xfrm>
            <a:off x="7680960" y="1417320"/>
            <a:ext cx="384048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0" y="155448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5" name="TextBox 24"/>
          <p:cNvSpPr txBox="1"/>
          <p:nvPr/>
        </p:nvSpPr>
        <p:spPr>
          <a:xfrm>
            <a:off x="8001000" y="1554480"/>
            <a:ext cx="3474720" cy="274320"/>
          </a:xfrm>
          <a:prstGeom prst="rect">
            <a:avLst/>
          </a:prstGeom>
          <a:noFill/>
        </p:spPr>
        <p:txBody>
          <a:bodyPr wrap="square">
            <a:spAutoFit/>
          </a:bodyPr>
          <a:lstStyle/>
          <a:p>
            <a:pPr algn="l">
              <a:defRPr sz="900" b="0">
                <a:solidFill>
                  <a:srgbClr val="2D2D2D"/>
                </a:solidFill>
                <a:latin typeface="Calibri"/>
              </a:defRPr>
            </a:pPr>
            <a:r>
              <a:t>Number of redlined clauses</a:t>
            </a:r>
          </a:p>
        </p:txBody>
      </p:sp>
      <p:sp>
        <p:nvSpPr>
          <p:cNvPr id="26" name="TextBox 25"/>
          <p:cNvSpPr txBox="1"/>
          <p:nvPr/>
        </p:nvSpPr>
        <p:spPr>
          <a:xfrm>
            <a:off x="7772400" y="181051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7" name="TextBox 26"/>
          <p:cNvSpPr txBox="1"/>
          <p:nvPr/>
        </p:nvSpPr>
        <p:spPr>
          <a:xfrm>
            <a:off x="8001000" y="1810512"/>
            <a:ext cx="3474720" cy="274320"/>
          </a:xfrm>
          <a:prstGeom prst="rect">
            <a:avLst/>
          </a:prstGeom>
          <a:noFill/>
        </p:spPr>
        <p:txBody>
          <a:bodyPr wrap="square">
            <a:spAutoFit/>
          </a:bodyPr>
          <a:lstStyle/>
          <a:p>
            <a:pPr algn="l">
              <a:defRPr sz="900" b="0">
                <a:solidFill>
                  <a:srgbClr val="2D2D2D"/>
                </a:solidFill>
                <a:latin typeface="Calibri"/>
              </a:defRPr>
            </a:pPr>
            <a:r>
              <a:t>categories of requested changes</a:t>
            </a:r>
          </a:p>
        </p:txBody>
      </p:sp>
      <p:sp>
        <p:nvSpPr>
          <p:cNvPr id="28" name="TextBox 27"/>
          <p:cNvSpPr txBox="1"/>
          <p:nvPr/>
        </p:nvSpPr>
        <p:spPr>
          <a:xfrm>
            <a:off x="7772400" y="2066543"/>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9" name="TextBox 28"/>
          <p:cNvSpPr txBox="1"/>
          <p:nvPr/>
        </p:nvSpPr>
        <p:spPr>
          <a:xfrm>
            <a:off x="8001000" y="2066543"/>
            <a:ext cx="3474720" cy="274320"/>
          </a:xfrm>
          <a:prstGeom prst="rect">
            <a:avLst/>
          </a:prstGeom>
          <a:noFill/>
        </p:spPr>
        <p:txBody>
          <a:bodyPr wrap="square">
            <a:spAutoFit/>
          </a:bodyPr>
          <a:lstStyle/>
          <a:p>
            <a:pPr algn="l">
              <a:defRPr sz="900" b="0">
                <a:solidFill>
                  <a:srgbClr val="2D2D2D"/>
                </a:solidFill>
                <a:latin typeface="Calibri"/>
              </a:defRPr>
            </a:pPr>
            <a:r>
              <a:t>negotiation risk assessment (high/medium/low)</a:t>
            </a:r>
          </a:p>
        </p:txBody>
      </p:sp>
      <p:sp>
        <p:nvSpPr>
          <p:cNvPr id="30" name="TextBox 29"/>
          <p:cNvSpPr txBox="1"/>
          <p:nvPr/>
        </p:nvSpPr>
        <p:spPr>
          <a:xfrm>
            <a:off x="7772400" y="232257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1" name="TextBox 30"/>
          <p:cNvSpPr txBox="1"/>
          <p:nvPr/>
        </p:nvSpPr>
        <p:spPr>
          <a:xfrm>
            <a:off x="8001000" y="2322576"/>
            <a:ext cx="3474720" cy="274320"/>
          </a:xfrm>
          <a:prstGeom prst="rect">
            <a:avLst/>
          </a:prstGeom>
          <a:noFill/>
        </p:spPr>
        <p:txBody>
          <a:bodyPr wrap="square">
            <a:spAutoFit/>
          </a:bodyPr>
          <a:lstStyle/>
          <a:p>
            <a:pPr algn="l">
              <a:defRPr sz="900" b="0">
                <a:solidFill>
                  <a:srgbClr val="2D2D2D"/>
                </a:solidFill>
                <a:latin typeface="Calibri"/>
              </a:defRPr>
            </a:pPr>
            <a:r>
              <a:t>estimated time to resolution</a:t>
            </a:r>
          </a:p>
        </p:txBody>
      </p:sp>
      <p:sp>
        <p:nvSpPr>
          <p:cNvPr id="32" name="TextBox 31"/>
          <p:cNvSpPr txBox="1"/>
          <p:nvPr/>
        </p:nvSpPr>
        <p:spPr>
          <a:xfrm>
            <a:off x="7772400" y="2578608"/>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3" name="TextBox 32"/>
          <p:cNvSpPr txBox="1"/>
          <p:nvPr/>
        </p:nvSpPr>
        <p:spPr>
          <a:xfrm>
            <a:off x="8001000" y="2578608"/>
            <a:ext cx="3474720" cy="274320"/>
          </a:xfrm>
          <a:prstGeom prst="rect">
            <a:avLst/>
          </a:prstGeom>
          <a:noFill/>
        </p:spPr>
        <p:txBody>
          <a:bodyPr wrap="square">
            <a:spAutoFit/>
          </a:bodyPr>
          <a:lstStyle/>
          <a:p>
            <a:pPr algn="l">
              <a:defRPr sz="900" b="0">
                <a:solidFill>
                  <a:srgbClr val="2D2D2D"/>
                </a:solidFill>
                <a:latin typeface="Calibri"/>
              </a:defRPr>
            </a:pPr>
            <a:r>
              <a:t>vendor authorized negotiator identity and authority level</a:t>
            </a:r>
          </a:p>
        </p:txBody>
      </p:sp>
      <p:sp>
        <p:nvSpPr>
          <p:cNvPr id="34" name="Rectangle 33"/>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36" name="TextBox 35"/>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13 of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07</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Contract Execution</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BPMN ID: Task_VendorContractSign  |  Candidate Group: vendor-response</a:t>
            </a:r>
          </a:p>
        </p:txBody>
      </p:sp>
      <p:sp>
        <p:nvSpPr>
          <p:cNvPr id="7" name="Rectangle 6"/>
          <p:cNvSpPr/>
          <p:nvPr/>
        </p:nvSpPr>
        <p:spPr>
          <a:xfrm>
            <a:off x="457200" y="1051560"/>
            <a:ext cx="11247120" cy="14630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97280"/>
            <a:ext cx="10881360" cy="274320"/>
          </a:xfrm>
          <a:prstGeom prst="rect">
            <a:avLst/>
          </a:prstGeom>
          <a:noFill/>
        </p:spPr>
        <p:txBody>
          <a:bodyPr wrap="square">
            <a:spAutoFit/>
          </a:bodyPr>
          <a:lstStyle/>
          <a:p>
            <a:pPr algn="l">
              <a:defRPr sz="1000" b="1">
                <a:solidFill>
                  <a:srgbClr val="0053AE"/>
                </a:solidFill>
                <a:latin typeface="Calibri"/>
              </a:defRPr>
            </a:pPr>
            <a:r>
              <a:t>DESCRIPTION</a:t>
            </a:r>
          </a:p>
        </p:txBody>
      </p:sp>
      <p:sp>
        <p:nvSpPr>
          <p:cNvPr id="9" name="TextBox 8"/>
          <p:cNvSpPr txBox="1"/>
          <p:nvPr/>
        </p:nvSpPr>
        <p:spPr>
          <a:xfrm>
            <a:off x="640080" y="1371600"/>
            <a:ext cx="10881360" cy="1097280"/>
          </a:xfrm>
          <a:prstGeom prst="rect">
            <a:avLst/>
          </a:prstGeom>
          <a:noFill/>
        </p:spPr>
        <p:txBody>
          <a:bodyPr wrap="square">
            <a:spAutoFit/>
          </a:bodyPr>
          <a:lstStyle/>
          <a:p>
            <a:pPr algn="l">
              <a:defRPr sz="1100" b="0">
                <a:solidFill>
                  <a:srgbClr val="2D2D2D"/>
                </a:solidFill>
                <a:latin typeface="Calibri"/>
              </a:defRPr>
            </a:pPr>
            <a:r>
              <a:t>Vendor executes (counter-signs) the final negotiated contract, including the master services agreement, all schedules (SLA, DPA, SOW), and any side letters. The authorized signatory must be verified against corporate authorization records. Execution must occur before any data processing, system access provisioning, or service delivery begins.</a:t>
            </a:r>
          </a:p>
        </p:txBody>
      </p:sp>
      <p:sp>
        <p:nvSpPr>
          <p:cNvPr id="10" name="TextBox 9"/>
          <p:cNvSpPr txBox="1"/>
          <p:nvPr/>
        </p:nvSpPr>
        <p:spPr>
          <a:xfrm>
            <a:off x="457200" y="2697480"/>
            <a:ext cx="10972800" cy="274320"/>
          </a:xfrm>
          <a:prstGeom prst="rect">
            <a:avLst/>
          </a:prstGeom>
          <a:noFill/>
        </p:spPr>
        <p:txBody>
          <a:bodyPr wrap="square">
            <a:spAutoFit/>
          </a:bodyPr>
          <a:lstStyle/>
          <a:p>
            <a:pPr algn="l">
              <a:defRPr sz="1200" b="1">
                <a:solidFill>
                  <a:srgbClr val="00338D"/>
                </a:solidFill>
                <a:latin typeface="Calibri"/>
              </a:defRPr>
            </a:pPr>
            <a:r>
              <a:t>REGULATORY CONTROLS</a:t>
            </a:r>
          </a:p>
        </p:txBody>
      </p:sp>
      <p:sp>
        <p:nvSpPr>
          <p:cNvPr id="11" name="Rectangle 10"/>
          <p:cNvSpPr/>
          <p:nvPr/>
        </p:nvSpPr>
        <p:spPr>
          <a:xfrm>
            <a:off x="457200" y="2971800"/>
            <a:ext cx="11247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63240"/>
            <a:ext cx="10881360" cy="228600"/>
          </a:xfrm>
          <a:prstGeom prst="rect">
            <a:avLst/>
          </a:prstGeom>
          <a:noFill/>
        </p:spPr>
        <p:txBody>
          <a:bodyPr wrap="square">
            <a:spAutoFit/>
          </a:bodyPr>
          <a:lstStyle/>
          <a:p>
            <a:pPr algn="l">
              <a:defRPr sz="1000" b="1">
                <a:solidFill>
                  <a:srgbClr val="007B5F"/>
                </a:solidFill>
                <a:latin typeface="Calibri"/>
              </a:defRPr>
            </a:pPr>
            <a:r>
              <a:t>OCC 2023-17 Section 60</a:t>
            </a:r>
          </a:p>
        </p:txBody>
      </p:sp>
      <p:sp>
        <p:nvSpPr>
          <p:cNvPr id="13" name="TextBox 12"/>
          <p:cNvSpPr txBox="1"/>
          <p:nvPr/>
        </p:nvSpPr>
        <p:spPr>
          <a:xfrm>
            <a:off x="822960" y="3264408"/>
            <a:ext cx="10698480" cy="320040"/>
          </a:xfrm>
          <a:prstGeom prst="rect">
            <a:avLst/>
          </a:prstGeom>
          <a:noFill/>
        </p:spPr>
        <p:txBody>
          <a:bodyPr wrap="square">
            <a:spAutoFit/>
          </a:bodyPr>
          <a:lstStyle/>
          <a:p>
            <a:pPr algn="l">
              <a:defRPr sz="900" b="0">
                <a:solidFill>
                  <a:srgbClr val="5F6368"/>
                </a:solidFill>
                <a:latin typeface="Calibri"/>
              </a:defRPr>
            </a:pPr>
            <a:r>
              <a:t>No services may commence until the contract is fully executed with all mandatory OCC provisions present.</a:t>
            </a:r>
          </a:p>
        </p:txBody>
      </p:sp>
      <p:sp>
        <p:nvSpPr>
          <p:cNvPr id="14" name="TextBox 13"/>
          <p:cNvSpPr txBox="1"/>
          <p:nvPr/>
        </p:nvSpPr>
        <p:spPr>
          <a:xfrm>
            <a:off x="640080" y="3584448"/>
            <a:ext cx="10881360" cy="228600"/>
          </a:xfrm>
          <a:prstGeom prst="rect">
            <a:avLst/>
          </a:prstGeom>
          <a:noFill/>
        </p:spPr>
        <p:txBody>
          <a:bodyPr wrap="square">
            <a:spAutoFit/>
          </a:bodyPr>
          <a:lstStyle/>
          <a:p>
            <a:pPr algn="l">
              <a:defRPr sz="1000" b="1">
                <a:solidFill>
                  <a:srgbClr val="007B5F"/>
                </a:solidFill>
                <a:latin typeface="Calibri"/>
              </a:defRPr>
            </a:pPr>
            <a:r>
              <a:t>SOX Section 302</a:t>
            </a:r>
          </a:p>
        </p:txBody>
      </p:sp>
      <p:sp>
        <p:nvSpPr>
          <p:cNvPr id="15" name="TextBox 14"/>
          <p:cNvSpPr txBox="1"/>
          <p:nvPr/>
        </p:nvSpPr>
        <p:spPr>
          <a:xfrm>
            <a:off x="822960" y="3785616"/>
            <a:ext cx="10698480" cy="320040"/>
          </a:xfrm>
          <a:prstGeom prst="rect">
            <a:avLst/>
          </a:prstGeom>
          <a:noFill/>
        </p:spPr>
        <p:txBody>
          <a:bodyPr wrap="square">
            <a:spAutoFit/>
          </a:bodyPr>
          <a:lstStyle/>
          <a:p>
            <a:pPr algn="l">
              <a:defRPr sz="900" b="0">
                <a:solidFill>
                  <a:srgbClr val="5F6368"/>
                </a:solidFill>
                <a:latin typeface="Calibri"/>
              </a:defRPr>
            </a:pPr>
            <a:r>
              <a:t>Authorized signatory confirmation — verify corporate authority to bind the vendor.</a:t>
            </a:r>
          </a:p>
        </p:txBody>
      </p:sp>
      <p:sp>
        <p:nvSpPr>
          <p:cNvPr id="16" name="TextBox 15"/>
          <p:cNvSpPr txBox="1"/>
          <p:nvPr/>
        </p:nvSpPr>
        <p:spPr>
          <a:xfrm>
            <a:off x="640080" y="4105656"/>
            <a:ext cx="10881360" cy="228600"/>
          </a:xfrm>
          <a:prstGeom prst="rect">
            <a:avLst/>
          </a:prstGeom>
          <a:noFill/>
        </p:spPr>
        <p:txBody>
          <a:bodyPr wrap="square">
            <a:spAutoFit/>
          </a:bodyPr>
          <a:lstStyle/>
          <a:p>
            <a:pPr algn="l">
              <a:defRPr sz="1000" b="1">
                <a:solidFill>
                  <a:srgbClr val="007B5F"/>
                </a:solidFill>
                <a:latin typeface="Calibri"/>
              </a:defRPr>
            </a:pPr>
            <a:r>
              <a:t>GDPR Article 28 / CCPA</a:t>
            </a:r>
          </a:p>
        </p:txBody>
      </p:sp>
      <p:sp>
        <p:nvSpPr>
          <p:cNvPr id="17" name="TextBox 16"/>
          <p:cNvSpPr txBox="1"/>
          <p:nvPr/>
        </p:nvSpPr>
        <p:spPr>
          <a:xfrm>
            <a:off x="822960" y="4306824"/>
            <a:ext cx="10698480" cy="320040"/>
          </a:xfrm>
          <a:prstGeom prst="rect">
            <a:avLst/>
          </a:prstGeom>
          <a:noFill/>
        </p:spPr>
        <p:txBody>
          <a:bodyPr wrap="square">
            <a:spAutoFit/>
          </a:bodyPr>
          <a:lstStyle/>
          <a:p>
            <a:pPr algn="l">
              <a:defRPr sz="900" b="0">
                <a:solidFill>
                  <a:srgbClr val="5F6368"/>
                </a:solidFill>
                <a:latin typeface="Calibri"/>
              </a:defRPr>
            </a:pPr>
            <a:r>
              <a:t>Executed DPA is a legal prerequisite before any personal data processing begins.</a:t>
            </a:r>
          </a:p>
        </p:txBody>
      </p:sp>
      <p:sp>
        <p:nvSpPr>
          <p:cNvPr id="18" name="TextBox 17"/>
          <p:cNvSpPr txBox="1"/>
          <p:nvPr/>
        </p:nvSpPr>
        <p:spPr>
          <a:xfrm>
            <a:off x="640080" y="4626864"/>
            <a:ext cx="10881360" cy="228600"/>
          </a:xfrm>
          <a:prstGeom prst="rect">
            <a:avLst/>
          </a:prstGeom>
          <a:noFill/>
        </p:spPr>
        <p:txBody>
          <a:bodyPr wrap="square">
            <a:spAutoFit/>
          </a:bodyPr>
          <a:lstStyle/>
          <a:p>
            <a:pPr algn="l">
              <a:defRPr sz="1000" b="1">
                <a:solidFill>
                  <a:srgbClr val="007B5F"/>
                </a:solidFill>
                <a:latin typeface="Calibri"/>
              </a:defRPr>
            </a:pPr>
            <a:r>
              <a:t>DORA Article 30</a:t>
            </a:r>
          </a:p>
        </p:txBody>
      </p:sp>
      <p:sp>
        <p:nvSpPr>
          <p:cNvPr id="19" name="TextBox 18"/>
          <p:cNvSpPr txBox="1"/>
          <p:nvPr/>
        </p:nvSpPr>
        <p:spPr>
          <a:xfrm>
            <a:off x="822960" y="4828031"/>
            <a:ext cx="10698480" cy="320040"/>
          </a:xfrm>
          <a:prstGeom prst="rect">
            <a:avLst/>
          </a:prstGeom>
          <a:noFill/>
        </p:spPr>
        <p:txBody>
          <a:bodyPr wrap="square">
            <a:spAutoFit/>
          </a:bodyPr>
          <a:lstStyle/>
          <a:p>
            <a:pPr algn="l">
              <a:defRPr sz="900" b="0">
                <a:solidFill>
                  <a:srgbClr val="5F6368"/>
                </a:solidFill>
                <a:latin typeface="Calibri"/>
              </a:defRPr>
            </a:pPr>
            <a:r>
              <a:t>Contract must be registered in the ICT third-party provider register upon execution.</a:t>
            </a:r>
          </a:p>
        </p:txBody>
      </p:sp>
      <p:sp>
        <p:nvSpPr>
          <p:cNvPr id="20" name="TextBox 19"/>
          <p:cNvSpPr txBox="1"/>
          <p:nvPr/>
        </p:nvSpPr>
        <p:spPr>
          <a:xfrm>
            <a:off x="640080" y="5148071"/>
            <a:ext cx="10881360" cy="228600"/>
          </a:xfrm>
          <a:prstGeom prst="rect">
            <a:avLst/>
          </a:prstGeom>
          <a:noFill/>
        </p:spPr>
        <p:txBody>
          <a:bodyPr wrap="square">
            <a:spAutoFit/>
          </a:bodyPr>
          <a:lstStyle/>
          <a:p>
            <a:pPr algn="l">
              <a:defRPr sz="1000" b="1">
                <a:solidFill>
                  <a:srgbClr val="007B5F"/>
                </a:solidFill>
                <a:latin typeface="Calibri"/>
              </a:defRPr>
            </a:pPr>
            <a:r>
              <a:t>SEC 17a-4</a:t>
            </a:r>
          </a:p>
        </p:txBody>
      </p:sp>
      <p:sp>
        <p:nvSpPr>
          <p:cNvPr id="21" name="TextBox 20"/>
          <p:cNvSpPr txBox="1"/>
          <p:nvPr/>
        </p:nvSpPr>
        <p:spPr>
          <a:xfrm>
            <a:off x="822960" y="5349239"/>
            <a:ext cx="10698480" cy="320040"/>
          </a:xfrm>
          <a:prstGeom prst="rect">
            <a:avLst/>
          </a:prstGeom>
          <a:noFill/>
        </p:spPr>
        <p:txBody>
          <a:bodyPr wrap="square">
            <a:spAutoFit/>
          </a:bodyPr>
          <a:lstStyle/>
          <a:p>
            <a:pPr algn="l">
              <a:defRPr sz="900" b="0">
                <a:solidFill>
                  <a:srgbClr val="5F6368"/>
                </a:solidFill>
                <a:latin typeface="Calibri"/>
              </a:defRPr>
            </a:pPr>
            <a:r>
              <a:t>Executed contract must be stored in a compliant, tamper-evident repository (7+ years).</a:t>
            </a:r>
          </a:p>
        </p:txBody>
      </p:sp>
      <p:sp>
        <p:nvSpPr>
          <p:cNvPr id="22" name="Rectangle 21"/>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24" name="TextBox 23"/>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14 of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07</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Contract Execution — Evidence &amp; Data</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Evidence Collection Requirements and Key Data Points</a:t>
            </a:r>
          </a:p>
        </p:txBody>
      </p:sp>
      <p:sp>
        <p:nvSpPr>
          <p:cNvPr id="7" name="TextBox 6"/>
          <p:cNvSpPr txBox="1"/>
          <p:nvPr/>
        </p:nvSpPr>
        <p:spPr>
          <a:xfrm>
            <a:off x="457200" y="1051560"/>
            <a:ext cx="6400800" cy="274320"/>
          </a:xfrm>
          <a:prstGeom prst="rect">
            <a:avLst/>
          </a:prstGeom>
          <a:noFill/>
        </p:spPr>
        <p:txBody>
          <a:bodyPr wrap="square">
            <a:spAutoFit/>
          </a:bodyPr>
          <a:lstStyle/>
          <a:p>
            <a:pPr algn="l">
              <a:defRPr sz="1200" b="1">
                <a:solidFill>
                  <a:srgbClr val="00338D"/>
                </a:solidFill>
                <a:latin typeface="Calibri"/>
              </a:defRPr>
            </a:pPr>
            <a:r>
              <a:t>EVIDENCE COLLECTION</a:t>
            </a:r>
          </a:p>
        </p:txBody>
      </p:sp>
      <p:sp>
        <p:nvSpPr>
          <p:cNvPr id="8" name="Rectangle 7"/>
          <p:cNvSpPr/>
          <p:nvPr/>
        </p:nvSpPr>
        <p:spPr>
          <a:xfrm>
            <a:off x="457200" y="1325880"/>
            <a:ext cx="6675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0" name="TextBox 9"/>
          <p:cNvSpPr txBox="1"/>
          <p:nvPr/>
        </p:nvSpPr>
        <p:spPr>
          <a:xfrm>
            <a:off x="868680" y="1463040"/>
            <a:ext cx="6126480" cy="365760"/>
          </a:xfrm>
          <a:prstGeom prst="rect">
            <a:avLst/>
          </a:prstGeom>
          <a:noFill/>
        </p:spPr>
        <p:txBody>
          <a:bodyPr wrap="square">
            <a:spAutoFit/>
          </a:bodyPr>
          <a:lstStyle/>
          <a:p>
            <a:pPr algn="l">
              <a:defRPr sz="1000" b="0">
                <a:solidFill>
                  <a:srgbClr val="2D2D2D"/>
                </a:solidFill>
                <a:latin typeface="Calibri"/>
              </a:defRPr>
            </a:pPr>
            <a:r>
              <a:t>Fully executed contract (wet signature or qualified e-signature with audit trail)</a:t>
            </a:r>
          </a:p>
        </p:txBody>
      </p:sp>
      <p:sp>
        <p:nvSpPr>
          <p:cNvPr id="11" name="TextBox 10"/>
          <p:cNvSpPr txBox="1"/>
          <p:nvPr/>
        </p:nvSpPr>
        <p:spPr>
          <a:xfrm>
            <a:off x="548640" y="184708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2" name="TextBox 11"/>
          <p:cNvSpPr txBox="1"/>
          <p:nvPr/>
        </p:nvSpPr>
        <p:spPr>
          <a:xfrm>
            <a:off x="868680" y="1847088"/>
            <a:ext cx="6126480" cy="365760"/>
          </a:xfrm>
          <a:prstGeom prst="rect">
            <a:avLst/>
          </a:prstGeom>
          <a:noFill/>
        </p:spPr>
        <p:txBody>
          <a:bodyPr wrap="square">
            <a:spAutoFit/>
          </a:bodyPr>
          <a:lstStyle/>
          <a:p>
            <a:pPr algn="l">
              <a:defRPr sz="1000" b="0">
                <a:solidFill>
                  <a:srgbClr val="2D2D2D"/>
                </a:solidFill>
                <a:latin typeface="Calibri"/>
              </a:defRPr>
            </a:pPr>
            <a:r>
              <a:t>Executed Data Processing Agreement</a:t>
            </a:r>
          </a:p>
        </p:txBody>
      </p:sp>
      <p:sp>
        <p:nvSpPr>
          <p:cNvPr id="13" name="TextBox 12"/>
          <p:cNvSpPr txBox="1"/>
          <p:nvPr/>
        </p:nvSpPr>
        <p:spPr>
          <a:xfrm>
            <a:off x="548640" y="2231136"/>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4" name="TextBox 13"/>
          <p:cNvSpPr txBox="1"/>
          <p:nvPr/>
        </p:nvSpPr>
        <p:spPr>
          <a:xfrm>
            <a:off x="868680" y="2231136"/>
            <a:ext cx="6126480" cy="365760"/>
          </a:xfrm>
          <a:prstGeom prst="rect">
            <a:avLst/>
          </a:prstGeom>
          <a:noFill/>
        </p:spPr>
        <p:txBody>
          <a:bodyPr wrap="square">
            <a:spAutoFit/>
          </a:bodyPr>
          <a:lstStyle/>
          <a:p>
            <a:pPr algn="l">
              <a:defRPr sz="1000" b="0">
                <a:solidFill>
                  <a:srgbClr val="2D2D2D"/>
                </a:solidFill>
                <a:latin typeface="Calibri"/>
              </a:defRPr>
            </a:pPr>
            <a:r>
              <a:t>Authorized signatory verification (corporate resolution, power of attorney)</a:t>
            </a:r>
          </a:p>
        </p:txBody>
      </p:sp>
      <p:sp>
        <p:nvSpPr>
          <p:cNvPr id="15" name="TextBox 14"/>
          <p:cNvSpPr txBox="1"/>
          <p:nvPr/>
        </p:nvSpPr>
        <p:spPr>
          <a:xfrm>
            <a:off x="548640" y="2615184"/>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6" name="TextBox 15"/>
          <p:cNvSpPr txBox="1"/>
          <p:nvPr/>
        </p:nvSpPr>
        <p:spPr>
          <a:xfrm>
            <a:off x="868680" y="2615184"/>
            <a:ext cx="6126480" cy="365760"/>
          </a:xfrm>
          <a:prstGeom prst="rect">
            <a:avLst/>
          </a:prstGeom>
          <a:noFill/>
        </p:spPr>
        <p:txBody>
          <a:bodyPr wrap="square">
            <a:spAutoFit/>
          </a:bodyPr>
          <a:lstStyle/>
          <a:p>
            <a:pPr algn="l">
              <a:defRPr sz="1000" b="0">
                <a:solidFill>
                  <a:srgbClr val="2D2D2D"/>
                </a:solidFill>
                <a:latin typeface="Calibri"/>
              </a:defRPr>
            </a:pPr>
            <a:r>
              <a:t>Contract reference number assigned and logged</a:t>
            </a:r>
          </a:p>
        </p:txBody>
      </p:sp>
      <p:sp>
        <p:nvSpPr>
          <p:cNvPr id="17" name="TextBox 16"/>
          <p:cNvSpPr txBox="1"/>
          <p:nvPr/>
        </p:nvSpPr>
        <p:spPr>
          <a:xfrm>
            <a:off x="548640" y="2999232"/>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8" name="TextBox 17"/>
          <p:cNvSpPr txBox="1"/>
          <p:nvPr/>
        </p:nvSpPr>
        <p:spPr>
          <a:xfrm>
            <a:off x="868680" y="2999232"/>
            <a:ext cx="6126480" cy="365760"/>
          </a:xfrm>
          <a:prstGeom prst="rect">
            <a:avLst/>
          </a:prstGeom>
          <a:noFill/>
        </p:spPr>
        <p:txBody>
          <a:bodyPr wrap="square">
            <a:spAutoFit/>
          </a:bodyPr>
          <a:lstStyle/>
          <a:p>
            <a:pPr algn="l">
              <a:defRPr sz="1000" b="0">
                <a:solidFill>
                  <a:srgbClr val="2D2D2D"/>
                </a:solidFill>
                <a:latin typeface="Calibri"/>
              </a:defRPr>
            </a:pPr>
            <a:r>
              <a:t>Insurance certificates confirmed as current</a:t>
            </a:r>
          </a:p>
        </p:txBody>
      </p:sp>
      <p:sp>
        <p:nvSpPr>
          <p:cNvPr id="19" name="TextBox 18"/>
          <p:cNvSpPr txBox="1"/>
          <p:nvPr/>
        </p:nvSpPr>
        <p:spPr>
          <a:xfrm>
            <a:off x="548640" y="3383279"/>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0" name="TextBox 19"/>
          <p:cNvSpPr txBox="1"/>
          <p:nvPr/>
        </p:nvSpPr>
        <p:spPr>
          <a:xfrm>
            <a:off x="868680" y="3383279"/>
            <a:ext cx="6126480" cy="365760"/>
          </a:xfrm>
          <a:prstGeom prst="rect">
            <a:avLst/>
          </a:prstGeom>
          <a:noFill/>
        </p:spPr>
        <p:txBody>
          <a:bodyPr wrap="square">
            <a:spAutoFit/>
          </a:bodyPr>
          <a:lstStyle/>
          <a:p>
            <a:pPr algn="l">
              <a:defRPr sz="1000" b="0">
                <a:solidFill>
                  <a:srgbClr val="2D2D2D"/>
                </a:solidFill>
                <a:latin typeface="Calibri"/>
              </a:defRPr>
            </a:pPr>
            <a:r>
              <a:t>Executed NDA if not covered by master agreement</a:t>
            </a:r>
          </a:p>
        </p:txBody>
      </p:sp>
      <p:sp>
        <p:nvSpPr>
          <p:cNvPr id="21" name="TextBox 20"/>
          <p:cNvSpPr txBox="1"/>
          <p:nvPr/>
        </p:nvSpPr>
        <p:spPr>
          <a:xfrm>
            <a:off x="548640" y="376732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2" name="TextBox 21"/>
          <p:cNvSpPr txBox="1"/>
          <p:nvPr/>
        </p:nvSpPr>
        <p:spPr>
          <a:xfrm>
            <a:off x="868680" y="3767328"/>
            <a:ext cx="6126480" cy="365760"/>
          </a:xfrm>
          <a:prstGeom prst="rect">
            <a:avLst/>
          </a:prstGeom>
          <a:noFill/>
        </p:spPr>
        <p:txBody>
          <a:bodyPr wrap="square">
            <a:spAutoFit/>
          </a:bodyPr>
          <a:lstStyle/>
          <a:p>
            <a:pPr algn="l">
              <a:defRPr sz="1000" b="0">
                <a:solidFill>
                  <a:srgbClr val="2D2D2D"/>
                </a:solidFill>
                <a:latin typeface="Calibri"/>
              </a:defRPr>
            </a:pPr>
            <a:r>
              <a:t>Board/committee approval if contract exceeds delegated authority thresholds</a:t>
            </a:r>
          </a:p>
        </p:txBody>
      </p:sp>
      <p:sp>
        <p:nvSpPr>
          <p:cNvPr id="23" name="Rectangle 22"/>
          <p:cNvSpPr/>
          <p:nvPr/>
        </p:nvSpPr>
        <p:spPr>
          <a:xfrm>
            <a:off x="7498079" y="1051560"/>
            <a:ext cx="4206240" cy="502920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1143000"/>
            <a:ext cx="3840480" cy="274320"/>
          </a:xfrm>
          <a:prstGeom prst="rect">
            <a:avLst/>
          </a:prstGeom>
          <a:noFill/>
        </p:spPr>
        <p:txBody>
          <a:bodyPr wrap="square">
            <a:spAutoFit/>
          </a:bodyPr>
          <a:lstStyle/>
          <a:p>
            <a:pPr algn="l">
              <a:defRPr sz="1200" b="1">
                <a:solidFill>
                  <a:srgbClr val="00338D"/>
                </a:solidFill>
                <a:latin typeface="Calibri"/>
              </a:defRPr>
            </a:pPr>
            <a:r>
              <a:t>KEY DATA POINTS</a:t>
            </a:r>
          </a:p>
        </p:txBody>
      </p:sp>
      <p:sp>
        <p:nvSpPr>
          <p:cNvPr id="25" name="Rectangle 24"/>
          <p:cNvSpPr/>
          <p:nvPr/>
        </p:nvSpPr>
        <p:spPr>
          <a:xfrm>
            <a:off x="7680960" y="1417320"/>
            <a:ext cx="384048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155448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7" name="TextBox 26"/>
          <p:cNvSpPr txBox="1"/>
          <p:nvPr/>
        </p:nvSpPr>
        <p:spPr>
          <a:xfrm>
            <a:off x="8001000" y="1554480"/>
            <a:ext cx="3474720" cy="274320"/>
          </a:xfrm>
          <a:prstGeom prst="rect">
            <a:avLst/>
          </a:prstGeom>
          <a:noFill/>
        </p:spPr>
        <p:txBody>
          <a:bodyPr wrap="square">
            <a:spAutoFit/>
          </a:bodyPr>
          <a:lstStyle/>
          <a:p>
            <a:pPr algn="l">
              <a:defRPr sz="900" b="0">
                <a:solidFill>
                  <a:srgbClr val="2D2D2D"/>
                </a:solidFill>
                <a:latin typeface="Calibri"/>
              </a:defRPr>
            </a:pPr>
            <a:r>
              <a:t>Execution date</a:t>
            </a:r>
          </a:p>
        </p:txBody>
      </p:sp>
      <p:sp>
        <p:nvSpPr>
          <p:cNvPr id="28" name="TextBox 27"/>
          <p:cNvSpPr txBox="1"/>
          <p:nvPr/>
        </p:nvSpPr>
        <p:spPr>
          <a:xfrm>
            <a:off x="7772400" y="181051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9" name="TextBox 28"/>
          <p:cNvSpPr txBox="1"/>
          <p:nvPr/>
        </p:nvSpPr>
        <p:spPr>
          <a:xfrm>
            <a:off x="8001000" y="1810512"/>
            <a:ext cx="3474720" cy="274320"/>
          </a:xfrm>
          <a:prstGeom prst="rect">
            <a:avLst/>
          </a:prstGeom>
          <a:noFill/>
        </p:spPr>
        <p:txBody>
          <a:bodyPr wrap="square">
            <a:spAutoFit/>
          </a:bodyPr>
          <a:lstStyle/>
          <a:p>
            <a:pPr algn="l">
              <a:defRPr sz="900" b="0">
                <a:solidFill>
                  <a:srgbClr val="2D2D2D"/>
                </a:solidFill>
                <a:latin typeface="Calibri"/>
              </a:defRPr>
            </a:pPr>
            <a:r>
              <a:t>contract effective date</a:t>
            </a:r>
          </a:p>
        </p:txBody>
      </p:sp>
      <p:sp>
        <p:nvSpPr>
          <p:cNvPr id="30" name="TextBox 29"/>
          <p:cNvSpPr txBox="1"/>
          <p:nvPr/>
        </p:nvSpPr>
        <p:spPr>
          <a:xfrm>
            <a:off x="7772400" y="2066543"/>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1" name="TextBox 30"/>
          <p:cNvSpPr txBox="1"/>
          <p:nvPr/>
        </p:nvSpPr>
        <p:spPr>
          <a:xfrm>
            <a:off x="8001000" y="2066543"/>
            <a:ext cx="3474720" cy="274320"/>
          </a:xfrm>
          <a:prstGeom prst="rect">
            <a:avLst/>
          </a:prstGeom>
          <a:noFill/>
        </p:spPr>
        <p:txBody>
          <a:bodyPr wrap="square">
            <a:spAutoFit/>
          </a:bodyPr>
          <a:lstStyle/>
          <a:p>
            <a:pPr algn="l">
              <a:defRPr sz="900" b="0">
                <a:solidFill>
                  <a:srgbClr val="2D2D2D"/>
                </a:solidFill>
                <a:latin typeface="Calibri"/>
              </a:defRPr>
            </a:pPr>
            <a:r>
              <a:t>contract term</a:t>
            </a:r>
          </a:p>
        </p:txBody>
      </p:sp>
      <p:sp>
        <p:nvSpPr>
          <p:cNvPr id="32" name="TextBox 31"/>
          <p:cNvSpPr txBox="1"/>
          <p:nvPr/>
        </p:nvSpPr>
        <p:spPr>
          <a:xfrm>
            <a:off x="7772400" y="232257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3" name="TextBox 32"/>
          <p:cNvSpPr txBox="1"/>
          <p:nvPr/>
        </p:nvSpPr>
        <p:spPr>
          <a:xfrm>
            <a:off x="8001000" y="2322576"/>
            <a:ext cx="3474720" cy="274320"/>
          </a:xfrm>
          <a:prstGeom prst="rect">
            <a:avLst/>
          </a:prstGeom>
          <a:noFill/>
        </p:spPr>
        <p:txBody>
          <a:bodyPr wrap="square">
            <a:spAutoFit/>
          </a:bodyPr>
          <a:lstStyle/>
          <a:p>
            <a:pPr algn="l">
              <a:defRPr sz="900" b="0">
                <a:solidFill>
                  <a:srgbClr val="2D2D2D"/>
                </a:solidFill>
                <a:latin typeface="Calibri"/>
              </a:defRPr>
            </a:pPr>
            <a:r>
              <a:t>total contract value</a:t>
            </a:r>
          </a:p>
        </p:txBody>
      </p:sp>
      <p:sp>
        <p:nvSpPr>
          <p:cNvPr id="34" name="TextBox 33"/>
          <p:cNvSpPr txBox="1"/>
          <p:nvPr/>
        </p:nvSpPr>
        <p:spPr>
          <a:xfrm>
            <a:off x="7772400" y="2578608"/>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5" name="TextBox 34"/>
          <p:cNvSpPr txBox="1"/>
          <p:nvPr/>
        </p:nvSpPr>
        <p:spPr>
          <a:xfrm>
            <a:off x="8001000" y="2578608"/>
            <a:ext cx="3474720" cy="274320"/>
          </a:xfrm>
          <a:prstGeom prst="rect">
            <a:avLst/>
          </a:prstGeom>
          <a:noFill/>
        </p:spPr>
        <p:txBody>
          <a:bodyPr wrap="square">
            <a:spAutoFit/>
          </a:bodyPr>
          <a:lstStyle/>
          <a:p>
            <a:pPr algn="l">
              <a:defRPr sz="900" b="0">
                <a:solidFill>
                  <a:srgbClr val="2D2D2D"/>
                </a:solidFill>
                <a:latin typeface="Calibri"/>
              </a:defRPr>
            </a:pPr>
            <a:r>
              <a:t>authorized signatories</a:t>
            </a:r>
          </a:p>
        </p:txBody>
      </p:sp>
      <p:sp>
        <p:nvSpPr>
          <p:cNvPr id="36" name="TextBox 35"/>
          <p:cNvSpPr txBox="1"/>
          <p:nvPr/>
        </p:nvSpPr>
        <p:spPr>
          <a:xfrm>
            <a:off x="7772400" y="283464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7" name="TextBox 36"/>
          <p:cNvSpPr txBox="1"/>
          <p:nvPr/>
        </p:nvSpPr>
        <p:spPr>
          <a:xfrm>
            <a:off x="8001000" y="2834640"/>
            <a:ext cx="3474720" cy="274320"/>
          </a:xfrm>
          <a:prstGeom prst="rect">
            <a:avLst/>
          </a:prstGeom>
          <a:noFill/>
        </p:spPr>
        <p:txBody>
          <a:bodyPr wrap="square">
            <a:spAutoFit/>
          </a:bodyPr>
          <a:lstStyle/>
          <a:p>
            <a:pPr algn="l">
              <a:defRPr sz="900" b="0">
                <a:solidFill>
                  <a:srgbClr val="2D2D2D"/>
                </a:solidFill>
                <a:latin typeface="Calibri"/>
              </a:defRPr>
            </a:pPr>
            <a:r>
              <a:t>contract reference number</a:t>
            </a:r>
          </a:p>
        </p:txBody>
      </p:sp>
      <p:sp>
        <p:nvSpPr>
          <p:cNvPr id="38" name="TextBox 37"/>
          <p:cNvSpPr txBox="1"/>
          <p:nvPr/>
        </p:nvSpPr>
        <p:spPr>
          <a:xfrm>
            <a:off x="7772400" y="309067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9" name="TextBox 38"/>
          <p:cNvSpPr txBox="1"/>
          <p:nvPr/>
        </p:nvSpPr>
        <p:spPr>
          <a:xfrm>
            <a:off x="8001000" y="3090672"/>
            <a:ext cx="3474720" cy="274320"/>
          </a:xfrm>
          <a:prstGeom prst="rect">
            <a:avLst/>
          </a:prstGeom>
          <a:noFill/>
        </p:spPr>
        <p:txBody>
          <a:bodyPr wrap="square">
            <a:spAutoFit/>
          </a:bodyPr>
          <a:lstStyle/>
          <a:p>
            <a:pPr algn="l">
              <a:defRPr sz="900" b="0">
                <a:solidFill>
                  <a:srgbClr val="2D2D2D"/>
                </a:solidFill>
                <a:latin typeface="Calibri"/>
              </a:defRPr>
            </a:pPr>
            <a:r>
              <a:t>DPA execution confirmation</a:t>
            </a:r>
          </a:p>
        </p:txBody>
      </p:sp>
      <p:sp>
        <p:nvSpPr>
          <p:cNvPr id="40" name="TextBox 39"/>
          <p:cNvSpPr txBox="1"/>
          <p:nvPr/>
        </p:nvSpPr>
        <p:spPr>
          <a:xfrm>
            <a:off x="7772400" y="3346704"/>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1" name="TextBox 40"/>
          <p:cNvSpPr txBox="1"/>
          <p:nvPr/>
        </p:nvSpPr>
        <p:spPr>
          <a:xfrm>
            <a:off x="8001000" y="3346704"/>
            <a:ext cx="3474720" cy="274320"/>
          </a:xfrm>
          <a:prstGeom prst="rect">
            <a:avLst/>
          </a:prstGeom>
          <a:noFill/>
        </p:spPr>
        <p:txBody>
          <a:bodyPr wrap="square">
            <a:spAutoFit/>
          </a:bodyPr>
          <a:lstStyle/>
          <a:p>
            <a:pPr algn="l">
              <a:defRPr sz="900" b="0">
                <a:solidFill>
                  <a:srgbClr val="2D2D2D"/>
                </a:solidFill>
                <a:latin typeface="Calibri"/>
              </a:defRPr>
            </a:pPr>
            <a:r>
              <a:t>insurance coverage verification date</a:t>
            </a:r>
          </a:p>
        </p:txBody>
      </p:sp>
      <p:sp>
        <p:nvSpPr>
          <p:cNvPr id="42" name="TextBox 41"/>
          <p:cNvSpPr txBox="1"/>
          <p:nvPr/>
        </p:nvSpPr>
        <p:spPr>
          <a:xfrm>
            <a:off x="7772400" y="360273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3" name="TextBox 42"/>
          <p:cNvSpPr txBox="1"/>
          <p:nvPr/>
        </p:nvSpPr>
        <p:spPr>
          <a:xfrm>
            <a:off x="8001000" y="3602736"/>
            <a:ext cx="3474720" cy="274320"/>
          </a:xfrm>
          <a:prstGeom prst="rect">
            <a:avLst/>
          </a:prstGeom>
          <a:noFill/>
        </p:spPr>
        <p:txBody>
          <a:bodyPr wrap="square">
            <a:spAutoFit/>
          </a:bodyPr>
          <a:lstStyle/>
          <a:p>
            <a:pPr algn="l">
              <a:defRPr sz="900" b="0">
                <a:solidFill>
                  <a:srgbClr val="2D2D2D"/>
                </a:solidFill>
                <a:latin typeface="Calibri"/>
              </a:defRPr>
            </a:pPr>
            <a:r>
              <a:t>repository location</a:t>
            </a:r>
          </a:p>
        </p:txBody>
      </p:sp>
      <p:sp>
        <p:nvSpPr>
          <p:cNvPr id="44" name="Rectangle 43"/>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46" name="TextBox 45"/>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15 of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08</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Vendor Onboarding</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BPMN ID: Task_VendorOnboarding  |  Candidate Group: vendor-response</a:t>
            </a:r>
          </a:p>
        </p:txBody>
      </p:sp>
      <p:sp>
        <p:nvSpPr>
          <p:cNvPr id="7" name="Rectangle 6"/>
          <p:cNvSpPr/>
          <p:nvPr/>
        </p:nvSpPr>
        <p:spPr>
          <a:xfrm>
            <a:off x="457200" y="1051560"/>
            <a:ext cx="11247120" cy="14630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97280"/>
            <a:ext cx="10881360" cy="274320"/>
          </a:xfrm>
          <a:prstGeom prst="rect">
            <a:avLst/>
          </a:prstGeom>
          <a:noFill/>
        </p:spPr>
        <p:txBody>
          <a:bodyPr wrap="square">
            <a:spAutoFit/>
          </a:bodyPr>
          <a:lstStyle/>
          <a:p>
            <a:pPr algn="l">
              <a:defRPr sz="1000" b="1">
                <a:solidFill>
                  <a:srgbClr val="0053AE"/>
                </a:solidFill>
                <a:latin typeface="Calibri"/>
              </a:defRPr>
            </a:pPr>
            <a:r>
              <a:t>DESCRIPTION</a:t>
            </a:r>
          </a:p>
        </p:txBody>
      </p:sp>
      <p:sp>
        <p:nvSpPr>
          <p:cNvPr id="9" name="TextBox 8"/>
          <p:cNvSpPr txBox="1"/>
          <p:nvPr/>
        </p:nvSpPr>
        <p:spPr>
          <a:xfrm>
            <a:off x="640080" y="1371600"/>
            <a:ext cx="10881360" cy="1097280"/>
          </a:xfrm>
          <a:prstGeom prst="rect">
            <a:avLst/>
          </a:prstGeom>
          <a:noFill/>
        </p:spPr>
        <p:txBody>
          <a:bodyPr wrap="square">
            <a:spAutoFit/>
          </a:bodyPr>
          <a:lstStyle/>
          <a:p>
            <a:pPr algn="l">
              <a:defRPr sz="1100" b="0">
                <a:solidFill>
                  <a:srgbClr val="2D2D2D"/>
                </a:solidFill>
                <a:latin typeface="Calibri"/>
              </a:defRPr>
            </a:pPr>
            <a:r>
              <a:t>Vendor is formally onboarded into the organization's ecosystem. Includes provisioning system access on least-privilege basis, establishing data flows per the DPA, adding vendor to the third-party risk register and ICT provider inventory, configuring monitoring baselines, and completing knowledge transfer. Vendor completes security awareness acknowledgment and acceptable use policy acceptance.</a:t>
            </a:r>
          </a:p>
        </p:txBody>
      </p:sp>
      <p:sp>
        <p:nvSpPr>
          <p:cNvPr id="10" name="TextBox 9"/>
          <p:cNvSpPr txBox="1"/>
          <p:nvPr/>
        </p:nvSpPr>
        <p:spPr>
          <a:xfrm>
            <a:off x="457200" y="2697480"/>
            <a:ext cx="10972800" cy="274320"/>
          </a:xfrm>
          <a:prstGeom prst="rect">
            <a:avLst/>
          </a:prstGeom>
          <a:noFill/>
        </p:spPr>
        <p:txBody>
          <a:bodyPr wrap="square">
            <a:spAutoFit/>
          </a:bodyPr>
          <a:lstStyle/>
          <a:p>
            <a:pPr algn="l">
              <a:defRPr sz="1200" b="1">
                <a:solidFill>
                  <a:srgbClr val="00338D"/>
                </a:solidFill>
                <a:latin typeface="Calibri"/>
              </a:defRPr>
            </a:pPr>
            <a:r>
              <a:t>REGULATORY CONTROLS</a:t>
            </a:r>
          </a:p>
        </p:txBody>
      </p:sp>
      <p:sp>
        <p:nvSpPr>
          <p:cNvPr id="11" name="Rectangle 10"/>
          <p:cNvSpPr/>
          <p:nvPr/>
        </p:nvSpPr>
        <p:spPr>
          <a:xfrm>
            <a:off x="457200" y="2971800"/>
            <a:ext cx="11247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63240"/>
            <a:ext cx="10881360" cy="228600"/>
          </a:xfrm>
          <a:prstGeom prst="rect">
            <a:avLst/>
          </a:prstGeom>
          <a:noFill/>
        </p:spPr>
        <p:txBody>
          <a:bodyPr wrap="square">
            <a:spAutoFit/>
          </a:bodyPr>
          <a:lstStyle/>
          <a:p>
            <a:pPr algn="l">
              <a:defRPr sz="1000" b="1">
                <a:solidFill>
                  <a:srgbClr val="007B5F"/>
                </a:solidFill>
                <a:latin typeface="Calibri"/>
              </a:defRPr>
            </a:pPr>
            <a:r>
              <a:t>OCC 2023-17 Section 80</a:t>
            </a:r>
          </a:p>
        </p:txBody>
      </p:sp>
      <p:sp>
        <p:nvSpPr>
          <p:cNvPr id="13" name="TextBox 12"/>
          <p:cNvSpPr txBox="1"/>
          <p:nvPr/>
        </p:nvSpPr>
        <p:spPr>
          <a:xfrm>
            <a:off x="822960" y="3264408"/>
            <a:ext cx="10698480" cy="320040"/>
          </a:xfrm>
          <a:prstGeom prst="rect">
            <a:avLst/>
          </a:prstGeom>
          <a:noFill/>
        </p:spPr>
        <p:txBody>
          <a:bodyPr wrap="square">
            <a:spAutoFit/>
          </a:bodyPr>
          <a:lstStyle/>
          <a:p>
            <a:pPr algn="l">
              <a:defRPr sz="900" b="0">
                <a:solidFill>
                  <a:srgbClr val="5F6368"/>
                </a:solidFill>
                <a:latin typeface="Calibri"/>
              </a:defRPr>
            </a:pPr>
            <a:r>
              <a:t>Ongoing monitoring baseline established — vendor added to third-party inventory with risk tier, criticality designation, and monitoring cadence.</a:t>
            </a:r>
          </a:p>
        </p:txBody>
      </p:sp>
      <p:sp>
        <p:nvSpPr>
          <p:cNvPr id="14" name="TextBox 13"/>
          <p:cNvSpPr txBox="1"/>
          <p:nvPr/>
        </p:nvSpPr>
        <p:spPr>
          <a:xfrm>
            <a:off x="640080" y="3584448"/>
            <a:ext cx="10881360" cy="228600"/>
          </a:xfrm>
          <a:prstGeom prst="rect">
            <a:avLst/>
          </a:prstGeom>
          <a:noFill/>
        </p:spPr>
        <p:txBody>
          <a:bodyPr wrap="square">
            <a:spAutoFit/>
          </a:bodyPr>
          <a:lstStyle/>
          <a:p>
            <a:pPr algn="l">
              <a:defRPr sz="1000" b="1">
                <a:solidFill>
                  <a:srgbClr val="007B5F"/>
                </a:solidFill>
                <a:latin typeface="Calibri"/>
              </a:defRPr>
            </a:pPr>
            <a:r>
              <a:t>NIST CSF 2.0 PR.AA-05</a:t>
            </a:r>
          </a:p>
        </p:txBody>
      </p:sp>
      <p:sp>
        <p:nvSpPr>
          <p:cNvPr id="15" name="TextBox 14"/>
          <p:cNvSpPr txBox="1"/>
          <p:nvPr/>
        </p:nvSpPr>
        <p:spPr>
          <a:xfrm>
            <a:off x="822960" y="3785616"/>
            <a:ext cx="10698480" cy="320040"/>
          </a:xfrm>
          <a:prstGeom prst="rect">
            <a:avLst/>
          </a:prstGeom>
          <a:noFill/>
        </p:spPr>
        <p:txBody>
          <a:bodyPr wrap="square">
            <a:spAutoFit/>
          </a:bodyPr>
          <a:lstStyle/>
          <a:p>
            <a:pPr algn="l">
              <a:defRPr sz="900" b="0">
                <a:solidFill>
                  <a:srgbClr val="5F6368"/>
                </a:solidFill>
                <a:latin typeface="Calibri"/>
              </a:defRPr>
            </a:pPr>
            <a:r>
              <a:t>Vendor access provisioned on least-privilege principle with MFA enforced.</a:t>
            </a:r>
          </a:p>
        </p:txBody>
      </p:sp>
      <p:sp>
        <p:nvSpPr>
          <p:cNvPr id="16" name="TextBox 15"/>
          <p:cNvSpPr txBox="1"/>
          <p:nvPr/>
        </p:nvSpPr>
        <p:spPr>
          <a:xfrm>
            <a:off x="640080" y="4105656"/>
            <a:ext cx="10881360" cy="228600"/>
          </a:xfrm>
          <a:prstGeom prst="rect">
            <a:avLst/>
          </a:prstGeom>
          <a:noFill/>
        </p:spPr>
        <p:txBody>
          <a:bodyPr wrap="square">
            <a:spAutoFit/>
          </a:bodyPr>
          <a:lstStyle/>
          <a:p>
            <a:pPr algn="l">
              <a:defRPr sz="1000" b="1">
                <a:solidFill>
                  <a:srgbClr val="007B5F"/>
                </a:solidFill>
                <a:latin typeface="Calibri"/>
              </a:defRPr>
            </a:pPr>
            <a:r>
              <a:t>DORA Article 28</a:t>
            </a:r>
          </a:p>
        </p:txBody>
      </p:sp>
      <p:sp>
        <p:nvSpPr>
          <p:cNvPr id="17" name="TextBox 16"/>
          <p:cNvSpPr txBox="1"/>
          <p:nvPr/>
        </p:nvSpPr>
        <p:spPr>
          <a:xfrm>
            <a:off x="822960" y="4306824"/>
            <a:ext cx="10698480" cy="320040"/>
          </a:xfrm>
          <a:prstGeom prst="rect">
            <a:avLst/>
          </a:prstGeom>
          <a:noFill/>
        </p:spPr>
        <p:txBody>
          <a:bodyPr wrap="square">
            <a:spAutoFit/>
          </a:bodyPr>
          <a:lstStyle/>
          <a:p>
            <a:pPr algn="l">
              <a:defRPr sz="900" b="0">
                <a:solidFill>
                  <a:srgbClr val="5F6368"/>
                </a:solidFill>
                <a:latin typeface="Calibri"/>
              </a:defRPr>
            </a:pPr>
            <a:r>
              <a:t>Vendor added to the ICT third-party provider register with all mandatory fields.</a:t>
            </a:r>
          </a:p>
        </p:txBody>
      </p:sp>
      <p:sp>
        <p:nvSpPr>
          <p:cNvPr id="18" name="TextBox 17"/>
          <p:cNvSpPr txBox="1"/>
          <p:nvPr/>
        </p:nvSpPr>
        <p:spPr>
          <a:xfrm>
            <a:off x="640080" y="4626864"/>
            <a:ext cx="10881360" cy="228600"/>
          </a:xfrm>
          <a:prstGeom prst="rect">
            <a:avLst/>
          </a:prstGeom>
          <a:noFill/>
        </p:spPr>
        <p:txBody>
          <a:bodyPr wrap="square">
            <a:spAutoFit/>
          </a:bodyPr>
          <a:lstStyle/>
          <a:p>
            <a:pPr algn="l">
              <a:defRPr sz="1000" b="1">
                <a:solidFill>
                  <a:srgbClr val="007B5F"/>
                </a:solidFill>
                <a:latin typeface="Calibri"/>
              </a:defRPr>
            </a:pPr>
            <a:r>
              <a:t>GDPR / CCPA</a:t>
            </a:r>
          </a:p>
        </p:txBody>
      </p:sp>
      <p:sp>
        <p:nvSpPr>
          <p:cNvPr id="19" name="TextBox 18"/>
          <p:cNvSpPr txBox="1"/>
          <p:nvPr/>
        </p:nvSpPr>
        <p:spPr>
          <a:xfrm>
            <a:off x="822960" y="4828031"/>
            <a:ext cx="10698480" cy="320040"/>
          </a:xfrm>
          <a:prstGeom prst="rect">
            <a:avLst/>
          </a:prstGeom>
          <a:noFill/>
        </p:spPr>
        <p:txBody>
          <a:bodyPr wrap="square">
            <a:spAutoFit/>
          </a:bodyPr>
          <a:lstStyle/>
          <a:p>
            <a:pPr algn="l">
              <a:defRPr sz="900" b="0">
                <a:solidFill>
                  <a:srgbClr val="5F6368"/>
                </a:solidFill>
                <a:latin typeface="Calibri"/>
              </a:defRPr>
            </a:pPr>
            <a:r>
              <a:t>Data flows documented in ROPA. DPA controls activated and verified.</a:t>
            </a:r>
          </a:p>
        </p:txBody>
      </p:sp>
      <p:sp>
        <p:nvSpPr>
          <p:cNvPr id="20" name="TextBox 19"/>
          <p:cNvSpPr txBox="1"/>
          <p:nvPr/>
        </p:nvSpPr>
        <p:spPr>
          <a:xfrm>
            <a:off x="640080" y="5148071"/>
            <a:ext cx="10881360" cy="228600"/>
          </a:xfrm>
          <a:prstGeom prst="rect">
            <a:avLst/>
          </a:prstGeom>
          <a:noFill/>
        </p:spPr>
        <p:txBody>
          <a:bodyPr wrap="square">
            <a:spAutoFit/>
          </a:bodyPr>
          <a:lstStyle/>
          <a:p>
            <a:pPr algn="l">
              <a:defRPr sz="1000" b="1">
                <a:solidFill>
                  <a:srgbClr val="007B5F"/>
                </a:solidFill>
                <a:latin typeface="Calibri"/>
              </a:defRPr>
            </a:pPr>
            <a:r>
              <a:t>ISO 27001 A.15.1</a:t>
            </a:r>
          </a:p>
        </p:txBody>
      </p:sp>
      <p:sp>
        <p:nvSpPr>
          <p:cNvPr id="21" name="TextBox 20"/>
          <p:cNvSpPr txBox="1"/>
          <p:nvPr/>
        </p:nvSpPr>
        <p:spPr>
          <a:xfrm>
            <a:off x="822960" y="5349239"/>
            <a:ext cx="10698480" cy="320040"/>
          </a:xfrm>
          <a:prstGeom prst="rect">
            <a:avLst/>
          </a:prstGeom>
          <a:noFill/>
        </p:spPr>
        <p:txBody>
          <a:bodyPr wrap="square">
            <a:spAutoFit/>
          </a:bodyPr>
          <a:lstStyle/>
          <a:p>
            <a:pPr algn="l">
              <a:defRPr sz="900" b="0">
                <a:solidFill>
                  <a:srgbClr val="5F6368"/>
                </a:solidFill>
                <a:latin typeface="Calibri"/>
              </a:defRPr>
            </a:pPr>
            <a:r>
              <a:t>Vendor formally enrolled in the supplier management program.</a:t>
            </a:r>
          </a:p>
        </p:txBody>
      </p:sp>
      <p:sp>
        <p:nvSpPr>
          <p:cNvPr id="22" name="Rectangle 21"/>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24" name="TextBox 23"/>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16 of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08</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Vendor Onboarding — Evidence &amp; Data</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Evidence Collection Requirements and Key Data Points</a:t>
            </a:r>
          </a:p>
        </p:txBody>
      </p:sp>
      <p:sp>
        <p:nvSpPr>
          <p:cNvPr id="7" name="TextBox 6"/>
          <p:cNvSpPr txBox="1"/>
          <p:nvPr/>
        </p:nvSpPr>
        <p:spPr>
          <a:xfrm>
            <a:off x="457200" y="1051560"/>
            <a:ext cx="6400800" cy="274320"/>
          </a:xfrm>
          <a:prstGeom prst="rect">
            <a:avLst/>
          </a:prstGeom>
          <a:noFill/>
        </p:spPr>
        <p:txBody>
          <a:bodyPr wrap="square">
            <a:spAutoFit/>
          </a:bodyPr>
          <a:lstStyle/>
          <a:p>
            <a:pPr algn="l">
              <a:defRPr sz="1200" b="1">
                <a:solidFill>
                  <a:srgbClr val="00338D"/>
                </a:solidFill>
                <a:latin typeface="Calibri"/>
              </a:defRPr>
            </a:pPr>
            <a:r>
              <a:t>EVIDENCE COLLECTION</a:t>
            </a:r>
          </a:p>
        </p:txBody>
      </p:sp>
      <p:sp>
        <p:nvSpPr>
          <p:cNvPr id="8" name="Rectangle 7"/>
          <p:cNvSpPr/>
          <p:nvPr/>
        </p:nvSpPr>
        <p:spPr>
          <a:xfrm>
            <a:off x="457200" y="1325880"/>
            <a:ext cx="6675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0" name="TextBox 9"/>
          <p:cNvSpPr txBox="1"/>
          <p:nvPr/>
        </p:nvSpPr>
        <p:spPr>
          <a:xfrm>
            <a:off x="868680" y="1463040"/>
            <a:ext cx="6126480" cy="365760"/>
          </a:xfrm>
          <a:prstGeom prst="rect">
            <a:avLst/>
          </a:prstGeom>
          <a:noFill/>
        </p:spPr>
        <p:txBody>
          <a:bodyPr wrap="square">
            <a:spAutoFit/>
          </a:bodyPr>
          <a:lstStyle/>
          <a:p>
            <a:pPr algn="l">
              <a:defRPr sz="1000" b="0">
                <a:solidFill>
                  <a:srgbClr val="2D2D2D"/>
                </a:solidFill>
                <a:latin typeface="Calibri"/>
              </a:defRPr>
            </a:pPr>
            <a:r>
              <a:t>Vendor entry in the third-party risk register with complete metadata</a:t>
            </a:r>
          </a:p>
        </p:txBody>
      </p:sp>
      <p:sp>
        <p:nvSpPr>
          <p:cNvPr id="11" name="TextBox 10"/>
          <p:cNvSpPr txBox="1"/>
          <p:nvPr/>
        </p:nvSpPr>
        <p:spPr>
          <a:xfrm>
            <a:off x="548640" y="184708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2" name="TextBox 11"/>
          <p:cNvSpPr txBox="1"/>
          <p:nvPr/>
        </p:nvSpPr>
        <p:spPr>
          <a:xfrm>
            <a:off x="868680" y="1847088"/>
            <a:ext cx="6126480" cy="365760"/>
          </a:xfrm>
          <a:prstGeom prst="rect">
            <a:avLst/>
          </a:prstGeom>
          <a:noFill/>
        </p:spPr>
        <p:txBody>
          <a:bodyPr wrap="square">
            <a:spAutoFit/>
          </a:bodyPr>
          <a:lstStyle/>
          <a:p>
            <a:pPr algn="l">
              <a:defRPr sz="1000" b="0">
                <a:solidFill>
                  <a:srgbClr val="2D2D2D"/>
                </a:solidFill>
                <a:latin typeface="Calibri"/>
              </a:defRPr>
            </a:pPr>
            <a:r>
              <a:t>Access provisioning record (systems, roles, permissions — least-privilege verified)</a:t>
            </a:r>
          </a:p>
        </p:txBody>
      </p:sp>
      <p:sp>
        <p:nvSpPr>
          <p:cNvPr id="13" name="TextBox 12"/>
          <p:cNvSpPr txBox="1"/>
          <p:nvPr/>
        </p:nvSpPr>
        <p:spPr>
          <a:xfrm>
            <a:off x="548640" y="2231136"/>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4" name="TextBox 13"/>
          <p:cNvSpPr txBox="1"/>
          <p:nvPr/>
        </p:nvSpPr>
        <p:spPr>
          <a:xfrm>
            <a:off x="868680" y="2231136"/>
            <a:ext cx="6126480" cy="365760"/>
          </a:xfrm>
          <a:prstGeom prst="rect">
            <a:avLst/>
          </a:prstGeom>
          <a:noFill/>
        </p:spPr>
        <p:txBody>
          <a:bodyPr wrap="square">
            <a:spAutoFit/>
          </a:bodyPr>
          <a:lstStyle/>
          <a:p>
            <a:pPr algn="l">
              <a:defRPr sz="1000" b="0">
                <a:solidFill>
                  <a:srgbClr val="2D2D2D"/>
                </a:solidFill>
                <a:latin typeface="Calibri"/>
              </a:defRPr>
            </a:pPr>
            <a:r>
              <a:t>Updated data flow diagram showing vendor data ingress/egress points</a:t>
            </a:r>
          </a:p>
        </p:txBody>
      </p:sp>
      <p:sp>
        <p:nvSpPr>
          <p:cNvPr id="15" name="TextBox 14"/>
          <p:cNvSpPr txBox="1"/>
          <p:nvPr/>
        </p:nvSpPr>
        <p:spPr>
          <a:xfrm>
            <a:off x="548640" y="2615184"/>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6" name="TextBox 15"/>
          <p:cNvSpPr txBox="1"/>
          <p:nvPr/>
        </p:nvSpPr>
        <p:spPr>
          <a:xfrm>
            <a:off x="868680" y="2615184"/>
            <a:ext cx="6126480" cy="365760"/>
          </a:xfrm>
          <a:prstGeom prst="rect">
            <a:avLst/>
          </a:prstGeom>
          <a:noFill/>
        </p:spPr>
        <p:txBody>
          <a:bodyPr wrap="square">
            <a:spAutoFit/>
          </a:bodyPr>
          <a:lstStyle/>
          <a:p>
            <a:pPr algn="l">
              <a:defRPr sz="1000" b="0">
                <a:solidFill>
                  <a:srgbClr val="2D2D2D"/>
                </a:solidFill>
                <a:latin typeface="Calibri"/>
              </a:defRPr>
            </a:pPr>
            <a:r>
              <a:t>Supplier onboarding checklist signed off by Risk and Governance team</a:t>
            </a:r>
          </a:p>
        </p:txBody>
      </p:sp>
      <p:sp>
        <p:nvSpPr>
          <p:cNvPr id="17" name="TextBox 16"/>
          <p:cNvSpPr txBox="1"/>
          <p:nvPr/>
        </p:nvSpPr>
        <p:spPr>
          <a:xfrm>
            <a:off x="548640" y="2999232"/>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8" name="TextBox 17"/>
          <p:cNvSpPr txBox="1"/>
          <p:nvPr/>
        </p:nvSpPr>
        <p:spPr>
          <a:xfrm>
            <a:off x="868680" y="2999232"/>
            <a:ext cx="6126480" cy="365760"/>
          </a:xfrm>
          <a:prstGeom prst="rect">
            <a:avLst/>
          </a:prstGeom>
          <a:noFill/>
        </p:spPr>
        <p:txBody>
          <a:bodyPr wrap="square">
            <a:spAutoFit/>
          </a:bodyPr>
          <a:lstStyle/>
          <a:p>
            <a:pPr algn="l">
              <a:defRPr sz="1000" b="0">
                <a:solidFill>
                  <a:srgbClr val="2D2D2D"/>
                </a:solidFill>
                <a:latin typeface="Calibri"/>
              </a:defRPr>
            </a:pPr>
            <a:r>
              <a:t>Vendor security awareness acknowledgment and acceptable use policy acceptance</a:t>
            </a:r>
          </a:p>
        </p:txBody>
      </p:sp>
      <p:sp>
        <p:nvSpPr>
          <p:cNvPr id="19" name="TextBox 18"/>
          <p:cNvSpPr txBox="1"/>
          <p:nvPr/>
        </p:nvSpPr>
        <p:spPr>
          <a:xfrm>
            <a:off x="548640" y="3383279"/>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0" name="TextBox 19"/>
          <p:cNvSpPr txBox="1"/>
          <p:nvPr/>
        </p:nvSpPr>
        <p:spPr>
          <a:xfrm>
            <a:off x="868680" y="3383279"/>
            <a:ext cx="6126480" cy="365760"/>
          </a:xfrm>
          <a:prstGeom prst="rect">
            <a:avLst/>
          </a:prstGeom>
          <a:noFill/>
        </p:spPr>
        <p:txBody>
          <a:bodyPr wrap="square">
            <a:spAutoFit/>
          </a:bodyPr>
          <a:lstStyle/>
          <a:p>
            <a:pPr algn="l">
              <a:defRPr sz="1000" b="0">
                <a:solidFill>
                  <a:srgbClr val="2D2D2D"/>
                </a:solidFill>
                <a:latin typeface="Calibri"/>
              </a:defRPr>
            </a:pPr>
            <a:r>
              <a:t>Emergency contact and escalation path registration</a:t>
            </a:r>
          </a:p>
        </p:txBody>
      </p:sp>
      <p:sp>
        <p:nvSpPr>
          <p:cNvPr id="21" name="TextBox 20"/>
          <p:cNvSpPr txBox="1"/>
          <p:nvPr/>
        </p:nvSpPr>
        <p:spPr>
          <a:xfrm>
            <a:off x="548640" y="376732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2" name="TextBox 21"/>
          <p:cNvSpPr txBox="1"/>
          <p:nvPr/>
        </p:nvSpPr>
        <p:spPr>
          <a:xfrm>
            <a:off x="868680" y="3767328"/>
            <a:ext cx="6126480" cy="365760"/>
          </a:xfrm>
          <a:prstGeom prst="rect">
            <a:avLst/>
          </a:prstGeom>
          <a:noFill/>
        </p:spPr>
        <p:txBody>
          <a:bodyPr wrap="square">
            <a:spAutoFit/>
          </a:bodyPr>
          <a:lstStyle/>
          <a:p>
            <a:pPr algn="l">
              <a:defRPr sz="1000" b="0">
                <a:solidFill>
                  <a:srgbClr val="2D2D2D"/>
                </a:solidFill>
                <a:latin typeface="Calibri"/>
              </a:defRPr>
            </a:pPr>
            <a:r>
              <a:t>Monitoring baseline configuration (KRIs, thresholds, alert recipients)</a:t>
            </a:r>
          </a:p>
        </p:txBody>
      </p:sp>
      <p:sp>
        <p:nvSpPr>
          <p:cNvPr id="23" name="Rectangle 22"/>
          <p:cNvSpPr/>
          <p:nvPr/>
        </p:nvSpPr>
        <p:spPr>
          <a:xfrm>
            <a:off x="7498079" y="1051560"/>
            <a:ext cx="4206240" cy="502920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1143000"/>
            <a:ext cx="3840480" cy="274320"/>
          </a:xfrm>
          <a:prstGeom prst="rect">
            <a:avLst/>
          </a:prstGeom>
          <a:noFill/>
        </p:spPr>
        <p:txBody>
          <a:bodyPr wrap="square">
            <a:spAutoFit/>
          </a:bodyPr>
          <a:lstStyle/>
          <a:p>
            <a:pPr algn="l">
              <a:defRPr sz="1200" b="1">
                <a:solidFill>
                  <a:srgbClr val="00338D"/>
                </a:solidFill>
                <a:latin typeface="Calibri"/>
              </a:defRPr>
            </a:pPr>
            <a:r>
              <a:t>KEY DATA POINTS</a:t>
            </a:r>
          </a:p>
        </p:txBody>
      </p:sp>
      <p:sp>
        <p:nvSpPr>
          <p:cNvPr id="25" name="Rectangle 24"/>
          <p:cNvSpPr/>
          <p:nvPr/>
        </p:nvSpPr>
        <p:spPr>
          <a:xfrm>
            <a:off x="7680960" y="1417320"/>
            <a:ext cx="384048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155448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7" name="TextBox 26"/>
          <p:cNvSpPr txBox="1"/>
          <p:nvPr/>
        </p:nvSpPr>
        <p:spPr>
          <a:xfrm>
            <a:off x="8001000" y="1554480"/>
            <a:ext cx="3474720" cy="274320"/>
          </a:xfrm>
          <a:prstGeom prst="rect">
            <a:avLst/>
          </a:prstGeom>
          <a:noFill/>
        </p:spPr>
        <p:txBody>
          <a:bodyPr wrap="square">
            <a:spAutoFit/>
          </a:bodyPr>
          <a:lstStyle/>
          <a:p>
            <a:pPr algn="l">
              <a:defRPr sz="900" b="0">
                <a:solidFill>
                  <a:srgbClr val="2D2D2D"/>
                </a:solidFill>
                <a:latin typeface="Calibri"/>
              </a:defRPr>
            </a:pPr>
            <a:r>
              <a:t>Systems accessed</a:t>
            </a:r>
          </a:p>
        </p:txBody>
      </p:sp>
      <p:sp>
        <p:nvSpPr>
          <p:cNvPr id="28" name="TextBox 27"/>
          <p:cNvSpPr txBox="1"/>
          <p:nvPr/>
        </p:nvSpPr>
        <p:spPr>
          <a:xfrm>
            <a:off x="7772400" y="181051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9" name="TextBox 28"/>
          <p:cNvSpPr txBox="1"/>
          <p:nvPr/>
        </p:nvSpPr>
        <p:spPr>
          <a:xfrm>
            <a:off x="8001000" y="1810512"/>
            <a:ext cx="3474720" cy="274320"/>
          </a:xfrm>
          <a:prstGeom prst="rect">
            <a:avLst/>
          </a:prstGeom>
          <a:noFill/>
        </p:spPr>
        <p:txBody>
          <a:bodyPr wrap="square">
            <a:spAutoFit/>
          </a:bodyPr>
          <a:lstStyle/>
          <a:p>
            <a:pPr algn="l">
              <a:defRPr sz="900" b="0">
                <a:solidFill>
                  <a:srgbClr val="2D2D2D"/>
                </a:solidFill>
                <a:latin typeface="Calibri"/>
              </a:defRPr>
            </a:pPr>
            <a:r>
              <a:t>access level per system</a:t>
            </a:r>
          </a:p>
        </p:txBody>
      </p:sp>
      <p:sp>
        <p:nvSpPr>
          <p:cNvPr id="30" name="TextBox 29"/>
          <p:cNvSpPr txBox="1"/>
          <p:nvPr/>
        </p:nvSpPr>
        <p:spPr>
          <a:xfrm>
            <a:off x="7772400" y="2066543"/>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1" name="TextBox 30"/>
          <p:cNvSpPr txBox="1"/>
          <p:nvPr/>
        </p:nvSpPr>
        <p:spPr>
          <a:xfrm>
            <a:off x="8001000" y="2066543"/>
            <a:ext cx="3474720" cy="274320"/>
          </a:xfrm>
          <a:prstGeom prst="rect">
            <a:avLst/>
          </a:prstGeom>
          <a:noFill/>
        </p:spPr>
        <p:txBody>
          <a:bodyPr wrap="square">
            <a:spAutoFit/>
          </a:bodyPr>
          <a:lstStyle/>
          <a:p>
            <a:pPr algn="l">
              <a:defRPr sz="900" b="0">
                <a:solidFill>
                  <a:srgbClr val="2D2D2D"/>
                </a:solidFill>
                <a:latin typeface="Calibri"/>
              </a:defRPr>
            </a:pPr>
            <a:r>
              <a:t>data categories processed</a:t>
            </a:r>
          </a:p>
        </p:txBody>
      </p:sp>
      <p:sp>
        <p:nvSpPr>
          <p:cNvPr id="32" name="TextBox 31"/>
          <p:cNvSpPr txBox="1"/>
          <p:nvPr/>
        </p:nvSpPr>
        <p:spPr>
          <a:xfrm>
            <a:off x="7772400" y="232257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3" name="TextBox 32"/>
          <p:cNvSpPr txBox="1"/>
          <p:nvPr/>
        </p:nvSpPr>
        <p:spPr>
          <a:xfrm>
            <a:off x="8001000" y="2322576"/>
            <a:ext cx="3474720" cy="274320"/>
          </a:xfrm>
          <a:prstGeom prst="rect">
            <a:avLst/>
          </a:prstGeom>
          <a:noFill/>
        </p:spPr>
        <p:txBody>
          <a:bodyPr wrap="square">
            <a:spAutoFit/>
          </a:bodyPr>
          <a:lstStyle/>
          <a:p>
            <a:pPr algn="l">
              <a:defRPr sz="900" b="0">
                <a:solidFill>
                  <a:srgbClr val="2D2D2D"/>
                </a:solidFill>
                <a:latin typeface="Calibri"/>
              </a:defRPr>
            </a:pPr>
            <a:r>
              <a:t>data flow endpoints</a:t>
            </a:r>
          </a:p>
        </p:txBody>
      </p:sp>
      <p:sp>
        <p:nvSpPr>
          <p:cNvPr id="34" name="TextBox 33"/>
          <p:cNvSpPr txBox="1"/>
          <p:nvPr/>
        </p:nvSpPr>
        <p:spPr>
          <a:xfrm>
            <a:off x="7772400" y="2578608"/>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5" name="TextBox 34"/>
          <p:cNvSpPr txBox="1"/>
          <p:nvPr/>
        </p:nvSpPr>
        <p:spPr>
          <a:xfrm>
            <a:off x="8001000" y="2578608"/>
            <a:ext cx="3474720" cy="274320"/>
          </a:xfrm>
          <a:prstGeom prst="rect">
            <a:avLst/>
          </a:prstGeom>
          <a:noFill/>
        </p:spPr>
        <p:txBody>
          <a:bodyPr wrap="square">
            <a:spAutoFit/>
          </a:bodyPr>
          <a:lstStyle/>
          <a:p>
            <a:pPr algn="l">
              <a:defRPr sz="900" b="0">
                <a:solidFill>
                  <a:srgbClr val="2D2D2D"/>
                </a:solidFill>
                <a:latin typeface="Calibri"/>
              </a:defRPr>
            </a:pPr>
            <a:r>
              <a:t>monitoring cadence assigned</a:t>
            </a:r>
          </a:p>
        </p:txBody>
      </p:sp>
      <p:sp>
        <p:nvSpPr>
          <p:cNvPr id="36" name="TextBox 35"/>
          <p:cNvSpPr txBox="1"/>
          <p:nvPr/>
        </p:nvSpPr>
        <p:spPr>
          <a:xfrm>
            <a:off x="7772400" y="283464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7" name="TextBox 36"/>
          <p:cNvSpPr txBox="1"/>
          <p:nvPr/>
        </p:nvSpPr>
        <p:spPr>
          <a:xfrm>
            <a:off x="8001000" y="2834640"/>
            <a:ext cx="3474720" cy="274320"/>
          </a:xfrm>
          <a:prstGeom prst="rect">
            <a:avLst/>
          </a:prstGeom>
          <a:noFill/>
        </p:spPr>
        <p:txBody>
          <a:bodyPr wrap="square">
            <a:spAutoFit/>
          </a:bodyPr>
          <a:lstStyle/>
          <a:p>
            <a:pPr algn="l">
              <a:defRPr sz="900" b="0">
                <a:solidFill>
                  <a:srgbClr val="2D2D2D"/>
                </a:solidFill>
                <a:latin typeface="Calibri"/>
              </a:defRPr>
            </a:pPr>
            <a:r>
              <a:t>KRI thresholds</a:t>
            </a:r>
          </a:p>
        </p:txBody>
      </p:sp>
      <p:sp>
        <p:nvSpPr>
          <p:cNvPr id="38" name="TextBox 37"/>
          <p:cNvSpPr txBox="1"/>
          <p:nvPr/>
        </p:nvSpPr>
        <p:spPr>
          <a:xfrm>
            <a:off x="7772400" y="309067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9" name="TextBox 38"/>
          <p:cNvSpPr txBox="1"/>
          <p:nvPr/>
        </p:nvSpPr>
        <p:spPr>
          <a:xfrm>
            <a:off x="8001000" y="3090672"/>
            <a:ext cx="3474720" cy="274320"/>
          </a:xfrm>
          <a:prstGeom prst="rect">
            <a:avLst/>
          </a:prstGeom>
          <a:noFill/>
        </p:spPr>
        <p:txBody>
          <a:bodyPr wrap="square">
            <a:spAutoFit/>
          </a:bodyPr>
          <a:lstStyle/>
          <a:p>
            <a:pPr algn="l">
              <a:defRPr sz="900" b="0">
                <a:solidFill>
                  <a:srgbClr val="2D2D2D"/>
                </a:solidFill>
                <a:latin typeface="Calibri"/>
              </a:defRPr>
            </a:pPr>
            <a:r>
              <a:t>onboarding completion date</a:t>
            </a:r>
          </a:p>
        </p:txBody>
      </p:sp>
      <p:sp>
        <p:nvSpPr>
          <p:cNvPr id="40" name="TextBox 39"/>
          <p:cNvSpPr txBox="1"/>
          <p:nvPr/>
        </p:nvSpPr>
        <p:spPr>
          <a:xfrm>
            <a:off x="7772400" y="3346704"/>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1" name="TextBox 40"/>
          <p:cNvSpPr txBox="1"/>
          <p:nvPr/>
        </p:nvSpPr>
        <p:spPr>
          <a:xfrm>
            <a:off x="8001000" y="3346704"/>
            <a:ext cx="3474720" cy="274320"/>
          </a:xfrm>
          <a:prstGeom prst="rect">
            <a:avLst/>
          </a:prstGeom>
          <a:noFill/>
        </p:spPr>
        <p:txBody>
          <a:bodyPr wrap="square">
            <a:spAutoFit/>
          </a:bodyPr>
          <a:lstStyle/>
          <a:p>
            <a:pPr algn="l">
              <a:defRPr sz="900" b="0">
                <a:solidFill>
                  <a:srgbClr val="2D2D2D"/>
                </a:solidFill>
                <a:latin typeface="Calibri"/>
              </a:defRPr>
            </a:pPr>
            <a:r>
              <a:t>first scheduled review date</a:t>
            </a:r>
          </a:p>
        </p:txBody>
      </p:sp>
      <p:sp>
        <p:nvSpPr>
          <p:cNvPr id="42" name="TextBox 41"/>
          <p:cNvSpPr txBox="1"/>
          <p:nvPr/>
        </p:nvSpPr>
        <p:spPr>
          <a:xfrm>
            <a:off x="7772400" y="360273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3" name="TextBox 42"/>
          <p:cNvSpPr txBox="1"/>
          <p:nvPr/>
        </p:nvSpPr>
        <p:spPr>
          <a:xfrm>
            <a:off x="8001000" y="3602736"/>
            <a:ext cx="3474720" cy="274320"/>
          </a:xfrm>
          <a:prstGeom prst="rect">
            <a:avLst/>
          </a:prstGeom>
          <a:noFill/>
        </p:spPr>
        <p:txBody>
          <a:bodyPr wrap="square">
            <a:spAutoFit/>
          </a:bodyPr>
          <a:lstStyle/>
          <a:p>
            <a:pPr algn="l">
              <a:defRPr sz="900" b="0">
                <a:solidFill>
                  <a:srgbClr val="2D2D2D"/>
                </a:solidFill>
                <a:latin typeface="Calibri"/>
              </a:defRPr>
            </a:pPr>
            <a:r>
              <a:t>vendor relationship manager assigned</a:t>
            </a:r>
          </a:p>
        </p:txBody>
      </p:sp>
      <p:sp>
        <p:nvSpPr>
          <p:cNvPr id="44" name="Rectangle 43"/>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46" name="TextBox 45"/>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17 of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09</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Deployment Support</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BPMN ID: Task_VendorDeploySupport  |  Candidate Group: vendor-response</a:t>
            </a:r>
          </a:p>
        </p:txBody>
      </p:sp>
      <p:sp>
        <p:nvSpPr>
          <p:cNvPr id="7" name="Rectangle 6"/>
          <p:cNvSpPr/>
          <p:nvPr/>
        </p:nvSpPr>
        <p:spPr>
          <a:xfrm>
            <a:off x="457200" y="1051560"/>
            <a:ext cx="11247120" cy="14630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97280"/>
            <a:ext cx="10881360" cy="274320"/>
          </a:xfrm>
          <a:prstGeom prst="rect">
            <a:avLst/>
          </a:prstGeom>
          <a:noFill/>
        </p:spPr>
        <p:txBody>
          <a:bodyPr wrap="square">
            <a:spAutoFit/>
          </a:bodyPr>
          <a:lstStyle/>
          <a:p>
            <a:pPr algn="l">
              <a:defRPr sz="1000" b="1">
                <a:solidFill>
                  <a:srgbClr val="0053AE"/>
                </a:solidFill>
                <a:latin typeface="Calibri"/>
              </a:defRPr>
            </a:pPr>
            <a:r>
              <a:t>DESCRIPTION</a:t>
            </a:r>
          </a:p>
        </p:txBody>
      </p:sp>
      <p:sp>
        <p:nvSpPr>
          <p:cNvPr id="9" name="TextBox 8"/>
          <p:cNvSpPr txBox="1"/>
          <p:nvPr/>
        </p:nvSpPr>
        <p:spPr>
          <a:xfrm>
            <a:off x="640080" y="1371600"/>
            <a:ext cx="10881360" cy="1097280"/>
          </a:xfrm>
          <a:prstGeom prst="rect">
            <a:avLst/>
          </a:prstGeom>
          <a:noFill/>
        </p:spPr>
        <p:txBody>
          <a:bodyPr wrap="square">
            <a:spAutoFit/>
          </a:bodyPr>
          <a:lstStyle/>
          <a:p>
            <a:pPr algn="l">
              <a:defRPr sz="1100" b="0">
                <a:solidFill>
                  <a:srgbClr val="2D2D2D"/>
                </a:solidFill>
                <a:latin typeface="Calibri"/>
              </a:defRPr>
            </a:pPr>
            <a:r>
              <a:t>Vendor actively supports deployment and go-live within the organization's environment. Includes executing the deployment runbook, configuring production environments, performing data migration (if applicable), conducting smoke testing, establishing configuration baselines, verifying rollback procedures, and providing on-call support during stabilization.</a:t>
            </a:r>
          </a:p>
        </p:txBody>
      </p:sp>
      <p:sp>
        <p:nvSpPr>
          <p:cNvPr id="10" name="TextBox 9"/>
          <p:cNvSpPr txBox="1"/>
          <p:nvPr/>
        </p:nvSpPr>
        <p:spPr>
          <a:xfrm>
            <a:off x="457200" y="2697480"/>
            <a:ext cx="10972800" cy="274320"/>
          </a:xfrm>
          <a:prstGeom prst="rect">
            <a:avLst/>
          </a:prstGeom>
          <a:noFill/>
        </p:spPr>
        <p:txBody>
          <a:bodyPr wrap="square">
            <a:spAutoFit/>
          </a:bodyPr>
          <a:lstStyle/>
          <a:p>
            <a:pPr algn="l">
              <a:defRPr sz="1200" b="1">
                <a:solidFill>
                  <a:srgbClr val="00338D"/>
                </a:solidFill>
                <a:latin typeface="Calibri"/>
              </a:defRPr>
            </a:pPr>
            <a:r>
              <a:t>REGULATORY CONTROLS</a:t>
            </a:r>
          </a:p>
        </p:txBody>
      </p:sp>
      <p:sp>
        <p:nvSpPr>
          <p:cNvPr id="11" name="Rectangle 10"/>
          <p:cNvSpPr/>
          <p:nvPr/>
        </p:nvSpPr>
        <p:spPr>
          <a:xfrm>
            <a:off x="457200" y="2971800"/>
            <a:ext cx="11247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63240"/>
            <a:ext cx="10881360" cy="228600"/>
          </a:xfrm>
          <a:prstGeom prst="rect">
            <a:avLst/>
          </a:prstGeom>
          <a:noFill/>
        </p:spPr>
        <p:txBody>
          <a:bodyPr wrap="square">
            <a:spAutoFit/>
          </a:bodyPr>
          <a:lstStyle/>
          <a:p>
            <a:pPr algn="l">
              <a:defRPr sz="1000" b="1">
                <a:solidFill>
                  <a:srgbClr val="007B5F"/>
                </a:solidFill>
                <a:latin typeface="Calibri"/>
              </a:defRPr>
            </a:pPr>
            <a:r>
              <a:t>OCC 2023-17 Section 80</a:t>
            </a:r>
          </a:p>
        </p:txBody>
      </p:sp>
      <p:sp>
        <p:nvSpPr>
          <p:cNvPr id="13" name="TextBox 12"/>
          <p:cNvSpPr txBox="1"/>
          <p:nvPr/>
        </p:nvSpPr>
        <p:spPr>
          <a:xfrm>
            <a:off x="822960" y="3264408"/>
            <a:ext cx="10698480" cy="320040"/>
          </a:xfrm>
          <a:prstGeom prst="rect">
            <a:avLst/>
          </a:prstGeom>
          <a:noFill/>
        </p:spPr>
        <p:txBody>
          <a:bodyPr wrap="square">
            <a:spAutoFit/>
          </a:bodyPr>
          <a:lstStyle/>
          <a:p>
            <a:pPr algn="l">
              <a:defRPr sz="900" b="0">
                <a:solidFill>
                  <a:srgbClr val="5F6368"/>
                </a:solidFill>
                <a:latin typeface="Calibri"/>
              </a:defRPr>
            </a:pPr>
            <a:r>
              <a:t>Change management oversight — all vendor deployment activities must follow the organization's change management process.</a:t>
            </a:r>
          </a:p>
        </p:txBody>
      </p:sp>
      <p:sp>
        <p:nvSpPr>
          <p:cNvPr id="14" name="TextBox 13"/>
          <p:cNvSpPr txBox="1"/>
          <p:nvPr/>
        </p:nvSpPr>
        <p:spPr>
          <a:xfrm>
            <a:off x="640080" y="3584448"/>
            <a:ext cx="10881360" cy="228600"/>
          </a:xfrm>
          <a:prstGeom prst="rect">
            <a:avLst/>
          </a:prstGeom>
          <a:noFill/>
        </p:spPr>
        <p:txBody>
          <a:bodyPr wrap="square">
            <a:spAutoFit/>
          </a:bodyPr>
          <a:lstStyle/>
          <a:p>
            <a:pPr algn="l">
              <a:defRPr sz="1000" b="1">
                <a:solidFill>
                  <a:srgbClr val="007B5F"/>
                </a:solidFill>
                <a:latin typeface="Calibri"/>
              </a:defRPr>
            </a:pPr>
            <a:r>
              <a:t>NIST CSF 2.0 PR.PS-04</a:t>
            </a:r>
          </a:p>
        </p:txBody>
      </p:sp>
      <p:sp>
        <p:nvSpPr>
          <p:cNvPr id="15" name="TextBox 14"/>
          <p:cNvSpPr txBox="1"/>
          <p:nvPr/>
        </p:nvSpPr>
        <p:spPr>
          <a:xfrm>
            <a:off x="822960" y="3785616"/>
            <a:ext cx="10698480" cy="320040"/>
          </a:xfrm>
          <a:prstGeom prst="rect">
            <a:avLst/>
          </a:prstGeom>
          <a:noFill/>
        </p:spPr>
        <p:txBody>
          <a:bodyPr wrap="square">
            <a:spAutoFit/>
          </a:bodyPr>
          <a:lstStyle/>
          <a:p>
            <a:pPr algn="l">
              <a:defRPr sz="900" b="0">
                <a:solidFill>
                  <a:srgbClr val="5F6368"/>
                </a:solidFill>
                <a:latin typeface="Calibri"/>
              </a:defRPr>
            </a:pPr>
            <a:r>
              <a:t>Audit logs for all configuration changes, access events, and deployment actions. Configuration baseline established post-deployment.</a:t>
            </a:r>
          </a:p>
        </p:txBody>
      </p:sp>
      <p:sp>
        <p:nvSpPr>
          <p:cNvPr id="16" name="TextBox 15"/>
          <p:cNvSpPr txBox="1"/>
          <p:nvPr/>
        </p:nvSpPr>
        <p:spPr>
          <a:xfrm>
            <a:off x="640080" y="4105656"/>
            <a:ext cx="10881360" cy="228600"/>
          </a:xfrm>
          <a:prstGeom prst="rect">
            <a:avLst/>
          </a:prstGeom>
          <a:noFill/>
        </p:spPr>
        <p:txBody>
          <a:bodyPr wrap="square">
            <a:spAutoFit/>
          </a:bodyPr>
          <a:lstStyle/>
          <a:p>
            <a:pPr algn="l">
              <a:defRPr sz="1000" b="1">
                <a:solidFill>
                  <a:srgbClr val="007B5F"/>
                </a:solidFill>
                <a:latin typeface="Calibri"/>
              </a:defRPr>
            </a:pPr>
            <a:r>
              <a:t>DORA Article 12</a:t>
            </a:r>
          </a:p>
        </p:txBody>
      </p:sp>
      <p:sp>
        <p:nvSpPr>
          <p:cNvPr id="17" name="TextBox 16"/>
          <p:cNvSpPr txBox="1"/>
          <p:nvPr/>
        </p:nvSpPr>
        <p:spPr>
          <a:xfrm>
            <a:off x="822960" y="4306824"/>
            <a:ext cx="10698480" cy="320040"/>
          </a:xfrm>
          <a:prstGeom prst="rect">
            <a:avLst/>
          </a:prstGeom>
          <a:noFill/>
        </p:spPr>
        <p:txBody>
          <a:bodyPr wrap="square">
            <a:spAutoFit/>
          </a:bodyPr>
          <a:lstStyle/>
          <a:p>
            <a:pPr algn="l">
              <a:defRPr sz="900" b="0">
                <a:solidFill>
                  <a:srgbClr val="5F6368"/>
                </a:solidFill>
                <a:latin typeface="Calibri"/>
              </a:defRPr>
            </a:pPr>
            <a:r>
              <a:t>ICT change management — vendor changes covered under resilience testing. Rollback verified before go-live.</a:t>
            </a:r>
          </a:p>
        </p:txBody>
      </p:sp>
      <p:sp>
        <p:nvSpPr>
          <p:cNvPr id="18" name="TextBox 17"/>
          <p:cNvSpPr txBox="1"/>
          <p:nvPr/>
        </p:nvSpPr>
        <p:spPr>
          <a:xfrm>
            <a:off x="640080" y="4626864"/>
            <a:ext cx="10881360" cy="228600"/>
          </a:xfrm>
          <a:prstGeom prst="rect">
            <a:avLst/>
          </a:prstGeom>
          <a:noFill/>
        </p:spPr>
        <p:txBody>
          <a:bodyPr wrap="square">
            <a:spAutoFit/>
          </a:bodyPr>
          <a:lstStyle/>
          <a:p>
            <a:pPr algn="l">
              <a:defRPr sz="1000" b="1">
                <a:solidFill>
                  <a:srgbClr val="007B5F"/>
                </a:solidFill>
                <a:latin typeface="Calibri"/>
              </a:defRPr>
            </a:pPr>
            <a:r>
              <a:t>ISO 27001 A.12.1.2</a:t>
            </a:r>
          </a:p>
        </p:txBody>
      </p:sp>
      <p:sp>
        <p:nvSpPr>
          <p:cNvPr id="19" name="TextBox 18"/>
          <p:cNvSpPr txBox="1"/>
          <p:nvPr/>
        </p:nvSpPr>
        <p:spPr>
          <a:xfrm>
            <a:off x="822960" y="4828031"/>
            <a:ext cx="10698480" cy="320040"/>
          </a:xfrm>
          <a:prstGeom prst="rect">
            <a:avLst/>
          </a:prstGeom>
          <a:noFill/>
        </p:spPr>
        <p:txBody>
          <a:bodyPr wrap="square">
            <a:spAutoFit/>
          </a:bodyPr>
          <a:lstStyle/>
          <a:p>
            <a:pPr algn="l">
              <a:defRPr sz="900" b="0">
                <a:solidFill>
                  <a:srgbClr val="5F6368"/>
                </a:solidFill>
                <a:latin typeface="Calibri"/>
              </a:defRPr>
            </a:pPr>
            <a:r>
              <a:t>Change management controls — formal change request, impact assessment, approval, implementation, and post-implementation review.</a:t>
            </a:r>
          </a:p>
        </p:txBody>
      </p:sp>
      <p:sp>
        <p:nvSpPr>
          <p:cNvPr id="20" name="Rectangle 19"/>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22" name="TextBox 21"/>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18 of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09</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Deployment Support — Evidence &amp; Data</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Evidence Collection Requirements and Key Data Points</a:t>
            </a:r>
          </a:p>
        </p:txBody>
      </p:sp>
      <p:sp>
        <p:nvSpPr>
          <p:cNvPr id="7" name="TextBox 6"/>
          <p:cNvSpPr txBox="1"/>
          <p:nvPr/>
        </p:nvSpPr>
        <p:spPr>
          <a:xfrm>
            <a:off x="457200" y="1051560"/>
            <a:ext cx="6400800" cy="274320"/>
          </a:xfrm>
          <a:prstGeom prst="rect">
            <a:avLst/>
          </a:prstGeom>
          <a:noFill/>
        </p:spPr>
        <p:txBody>
          <a:bodyPr wrap="square">
            <a:spAutoFit/>
          </a:bodyPr>
          <a:lstStyle/>
          <a:p>
            <a:pPr algn="l">
              <a:defRPr sz="1200" b="1">
                <a:solidFill>
                  <a:srgbClr val="00338D"/>
                </a:solidFill>
                <a:latin typeface="Calibri"/>
              </a:defRPr>
            </a:pPr>
            <a:r>
              <a:t>EVIDENCE COLLECTION</a:t>
            </a:r>
          </a:p>
        </p:txBody>
      </p:sp>
      <p:sp>
        <p:nvSpPr>
          <p:cNvPr id="8" name="Rectangle 7"/>
          <p:cNvSpPr/>
          <p:nvPr/>
        </p:nvSpPr>
        <p:spPr>
          <a:xfrm>
            <a:off x="457200" y="1325880"/>
            <a:ext cx="6675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0" name="TextBox 9"/>
          <p:cNvSpPr txBox="1"/>
          <p:nvPr/>
        </p:nvSpPr>
        <p:spPr>
          <a:xfrm>
            <a:off x="868680" y="1463040"/>
            <a:ext cx="6126480" cy="365760"/>
          </a:xfrm>
          <a:prstGeom prst="rect">
            <a:avLst/>
          </a:prstGeom>
          <a:noFill/>
        </p:spPr>
        <p:txBody>
          <a:bodyPr wrap="square">
            <a:spAutoFit/>
          </a:bodyPr>
          <a:lstStyle/>
          <a:p>
            <a:pPr algn="l">
              <a:defRPr sz="1000" b="0">
                <a:solidFill>
                  <a:srgbClr val="2D2D2D"/>
                </a:solidFill>
                <a:latin typeface="Calibri"/>
              </a:defRPr>
            </a:pPr>
            <a:r>
              <a:t>Vendor-provided deployment runbook with step-by-step procedures</a:t>
            </a:r>
          </a:p>
        </p:txBody>
      </p:sp>
      <p:sp>
        <p:nvSpPr>
          <p:cNvPr id="11" name="TextBox 10"/>
          <p:cNvSpPr txBox="1"/>
          <p:nvPr/>
        </p:nvSpPr>
        <p:spPr>
          <a:xfrm>
            <a:off x="548640" y="184708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2" name="TextBox 11"/>
          <p:cNvSpPr txBox="1"/>
          <p:nvPr/>
        </p:nvSpPr>
        <p:spPr>
          <a:xfrm>
            <a:off x="868680" y="1847088"/>
            <a:ext cx="6126480" cy="365760"/>
          </a:xfrm>
          <a:prstGeom prst="rect">
            <a:avLst/>
          </a:prstGeom>
          <a:noFill/>
        </p:spPr>
        <p:txBody>
          <a:bodyPr wrap="square">
            <a:spAutoFit/>
          </a:bodyPr>
          <a:lstStyle/>
          <a:p>
            <a:pPr algn="l">
              <a:defRPr sz="1000" b="0">
                <a:solidFill>
                  <a:srgbClr val="2D2D2D"/>
                </a:solidFill>
                <a:latin typeface="Calibri"/>
              </a:defRPr>
            </a:pPr>
            <a:r>
              <a:t>Go-live sign-off record (Technical Assessment, Business Owner, Vendor)</a:t>
            </a:r>
          </a:p>
        </p:txBody>
      </p:sp>
      <p:sp>
        <p:nvSpPr>
          <p:cNvPr id="13" name="TextBox 12"/>
          <p:cNvSpPr txBox="1"/>
          <p:nvPr/>
        </p:nvSpPr>
        <p:spPr>
          <a:xfrm>
            <a:off x="548640" y="2231136"/>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4" name="TextBox 13"/>
          <p:cNvSpPr txBox="1"/>
          <p:nvPr/>
        </p:nvSpPr>
        <p:spPr>
          <a:xfrm>
            <a:off x="868680" y="2231136"/>
            <a:ext cx="6126480" cy="365760"/>
          </a:xfrm>
          <a:prstGeom prst="rect">
            <a:avLst/>
          </a:prstGeom>
          <a:noFill/>
        </p:spPr>
        <p:txBody>
          <a:bodyPr wrap="square">
            <a:spAutoFit/>
          </a:bodyPr>
          <a:lstStyle/>
          <a:p>
            <a:pPr algn="l">
              <a:defRPr sz="1000" b="0">
                <a:solidFill>
                  <a:srgbClr val="2D2D2D"/>
                </a:solidFill>
                <a:latin typeface="Calibri"/>
              </a:defRPr>
            </a:pPr>
            <a:r>
              <a:t>Configuration baseline snapshot captured post-deployment</a:t>
            </a:r>
          </a:p>
        </p:txBody>
      </p:sp>
      <p:sp>
        <p:nvSpPr>
          <p:cNvPr id="15" name="TextBox 14"/>
          <p:cNvSpPr txBox="1"/>
          <p:nvPr/>
        </p:nvSpPr>
        <p:spPr>
          <a:xfrm>
            <a:off x="548640" y="2615184"/>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6" name="TextBox 15"/>
          <p:cNvSpPr txBox="1"/>
          <p:nvPr/>
        </p:nvSpPr>
        <p:spPr>
          <a:xfrm>
            <a:off x="868680" y="2615184"/>
            <a:ext cx="6126480" cy="365760"/>
          </a:xfrm>
          <a:prstGeom prst="rect">
            <a:avLst/>
          </a:prstGeom>
          <a:noFill/>
        </p:spPr>
        <p:txBody>
          <a:bodyPr wrap="square">
            <a:spAutoFit/>
          </a:bodyPr>
          <a:lstStyle/>
          <a:p>
            <a:pPr algn="l">
              <a:defRPr sz="1000" b="0">
                <a:solidFill>
                  <a:srgbClr val="2D2D2D"/>
                </a:solidFill>
                <a:latin typeface="Calibri"/>
              </a:defRPr>
            </a:pPr>
            <a:r>
              <a:t>Rollback plan confirmed — tested and verified before production deployment</a:t>
            </a:r>
          </a:p>
        </p:txBody>
      </p:sp>
      <p:sp>
        <p:nvSpPr>
          <p:cNvPr id="17" name="TextBox 16"/>
          <p:cNvSpPr txBox="1"/>
          <p:nvPr/>
        </p:nvSpPr>
        <p:spPr>
          <a:xfrm>
            <a:off x="548640" y="2999232"/>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8" name="TextBox 17"/>
          <p:cNvSpPr txBox="1"/>
          <p:nvPr/>
        </p:nvSpPr>
        <p:spPr>
          <a:xfrm>
            <a:off x="868680" y="2999232"/>
            <a:ext cx="6126480" cy="365760"/>
          </a:xfrm>
          <a:prstGeom prst="rect">
            <a:avLst/>
          </a:prstGeom>
          <a:noFill/>
        </p:spPr>
        <p:txBody>
          <a:bodyPr wrap="square">
            <a:spAutoFit/>
          </a:bodyPr>
          <a:lstStyle/>
          <a:p>
            <a:pPr algn="l">
              <a:defRPr sz="1000" b="0">
                <a:solidFill>
                  <a:srgbClr val="2D2D2D"/>
                </a:solidFill>
                <a:latin typeface="Calibri"/>
              </a:defRPr>
            </a:pPr>
            <a:r>
              <a:t>Deployment log with timestamps, actions, personnel, and issues</a:t>
            </a:r>
          </a:p>
        </p:txBody>
      </p:sp>
      <p:sp>
        <p:nvSpPr>
          <p:cNvPr id="19" name="TextBox 18"/>
          <p:cNvSpPr txBox="1"/>
          <p:nvPr/>
        </p:nvSpPr>
        <p:spPr>
          <a:xfrm>
            <a:off x="548640" y="3383279"/>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0" name="TextBox 19"/>
          <p:cNvSpPr txBox="1"/>
          <p:nvPr/>
        </p:nvSpPr>
        <p:spPr>
          <a:xfrm>
            <a:off x="868680" y="3383279"/>
            <a:ext cx="6126480" cy="365760"/>
          </a:xfrm>
          <a:prstGeom prst="rect">
            <a:avLst/>
          </a:prstGeom>
          <a:noFill/>
        </p:spPr>
        <p:txBody>
          <a:bodyPr wrap="square">
            <a:spAutoFit/>
          </a:bodyPr>
          <a:lstStyle/>
          <a:p>
            <a:pPr algn="l">
              <a:defRPr sz="1000" b="0">
                <a:solidFill>
                  <a:srgbClr val="2D2D2D"/>
                </a:solidFill>
                <a:latin typeface="Calibri"/>
              </a:defRPr>
            </a:pPr>
            <a:r>
              <a:t>Smoke test results confirming core functionality in production</a:t>
            </a:r>
          </a:p>
        </p:txBody>
      </p:sp>
      <p:sp>
        <p:nvSpPr>
          <p:cNvPr id="21" name="TextBox 20"/>
          <p:cNvSpPr txBox="1"/>
          <p:nvPr/>
        </p:nvSpPr>
        <p:spPr>
          <a:xfrm>
            <a:off x="548640" y="376732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2" name="TextBox 21"/>
          <p:cNvSpPr txBox="1"/>
          <p:nvPr/>
        </p:nvSpPr>
        <p:spPr>
          <a:xfrm>
            <a:off x="868680" y="3767328"/>
            <a:ext cx="6126480" cy="365760"/>
          </a:xfrm>
          <a:prstGeom prst="rect">
            <a:avLst/>
          </a:prstGeom>
          <a:noFill/>
        </p:spPr>
        <p:txBody>
          <a:bodyPr wrap="square">
            <a:spAutoFit/>
          </a:bodyPr>
          <a:lstStyle/>
          <a:p>
            <a:pPr algn="l">
              <a:defRPr sz="1000" b="0">
                <a:solidFill>
                  <a:srgbClr val="2D2D2D"/>
                </a:solidFill>
                <a:latin typeface="Calibri"/>
              </a:defRPr>
            </a:pPr>
            <a:r>
              <a:t>Data migration validation report (if applicable)</a:t>
            </a:r>
          </a:p>
        </p:txBody>
      </p:sp>
      <p:sp>
        <p:nvSpPr>
          <p:cNvPr id="23" name="Rectangle 22"/>
          <p:cNvSpPr/>
          <p:nvPr/>
        </p:nvSpPr>
        <p:spPr>
          <a:xfrm>
            <a:off x="7498079" y="1051560"/>
            <a:ext cx="4206240" cy="502920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1143000"/>
            <a:ext cx="3840480" cy="274320"/>
          </a:xfrm>
          <a:prstGeom prst="rect">
            <a:avLst/>
          </a:prstGeom>
          <a:noFill/>
        </p:spPr>
        <p:txBody>
          <a:bodyPr wrap="square">
            <a:spAutoFit/>
          </a:bodyPr>
          <a:lstStyle/>
          <a:p>
            <a:pPr algn="l">
              <a:defRPr sz="1200" b="1">
                <a:solidFill>
                  <a:srgbClr val="00338D"/>
                </a:solidFill>
                <a:latin typeface="Calibri"/>
              </a:defRPr>
            </a:pPr>
            <a:r>
              <a:t>KEY DATA POINTS</a:t>
            </a:r>
          </a:p>
        </p:txBody>
      </p:sp>
      <p:sp>
        <p:nvSpPr>
          <p:cNvPr id="25" name="Rectangle 24"/>
          <p:cNvSpPr/>
          <p:nvPr/>
        </p:nvSpPr>
        <p:spPr>
          <a:xfrm>
            <a:off x="7680960" y="1417320"/>
            <a:ext cx="384048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155448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7" name="TextBox 26"/>
          <p:cNvSpPr txBox="1"/>
          <p:nvPr/>
        </p:nvSpPr>
        <p:spPr>
          <a:xfrm>
            <a:off x="8001000" y="1554480"/>
            <a:ext cx="3474720" cy="274320"/>
          </a:xfrm>
          <a:prstGeom prst="rect">
            <a:avLst/>
          </a:prstGeom>
          <a:noFill/>
        </p:spPr>
        <p:txBody>
          <a:bodyPr wrap="square">
            <a:spAutoFit/>
          </a:bodyPr>
          <a:lstStyle/>
          <a:p>
            <a:pPr algn="l">
              <a:defRPr sz="900" b="0">
                <a:solidFill>
                  <a:srgbClr val="2D2D2D"/>
                </a:solidFill>
                <a:latin typeface="Calibri"/>
              </a:defRPr>
            </a:pPr>
            <a:r>
              <a:t>Deployment date/duration</a:t>
            </a:r>
          </a:p>
        </p:txBody>
      </p:sp>
      <p:sp>
        <p:nvSpPr>
          <p:cNvPr id="28" name="TextBox 27"/>
          <p:cNvSpPr txBox="1"/>
          <p:nvPr/>
        </p:nvSpPr>
        <p:spPr>
          <a:xfrm>
            <a:off x="7772400" y="181051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9" name="TextBox 28"/>
          <p:cNvSpPr txBox="1"/>
          <p:nvPr/>
        </p:nvSpPr>
        <p:spPr>
          <a:xfrm>
            <a:off x="8001000" y="1810512"/>
            <a:ext cx="3474720" cy="274320"/>
          </a:xfrm>
          <a:prstGeom prst="rect">
            <a:avLst/>
          </a:prstGeom>
          <a:noFill/>
        </p:spPr>
        <p:txBody>
          <a:bodyPr wrap="square">
            <a:spAutoFit/>
          </a:bodyPr>
          <a:lstStyle/>
          <a:p>
            <a:pPr algn="l">
              <a:defRPr sz="900" b="0">
                <a:solidFill>
                  <a:srgbClr val="2D2D2D"/>
                </a:solidFill>
                <a:latin typeface="Calibri"/>
              </a:defRPr>
            </a:pPr>
            <a:r>
              <a:t>deployment method (blue-green</a:t>
            </a:r>
          </a:p>
        </p:txBody>
      </p:sp>
      <p:sp>
        <p:nvSpPr>
          <p:cNvPr id="30" name="TextBox 29"/>
          <p:cNvSpPr txBox="1"/>
          <p:nvPr/>
        </p:nvSpPr>
        <p:spPr>
          <a:xfrm>
            <a:off x="7772400" y="2066543"/>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1" name="TextBox 30"/>
          <p:cNvSpPr txBox="1"/>
          <p:nvPr/>
        </p:nvSpPr>
        <p:spPr>
          <a:xfrm>
            <a:off x="8001000" y="2066543"/>
            <a:ext cx="3474720" cy="274320"/>
          </a:xfrm>
          <a:prstGeom prst="rect">
            <a:avLst/>
          </a:prstGeom>
          <a:noFill/>
        </p:spPr>
        <p:txBody>
          <a:bodyPr wrap="square">
            <a:spAutoFit/>
          </a:bodyPr>
          <a:lstStyle/>
          <a:p>
            <a:pPr algn="l">
              <a:defRPr sz="900" b="0">
                <a:solidFill>
                  <a:srgbClr val="2D2D2D"/>
                </a:solidFill>
                <a:latin typeface="Calibri"/>
              </a:defRPr>
            </a:pPr>
            <a:r>
              <a:t>rolling</a:t>
            </a:r>
          </a:p>
        </p:txBody>
      </p:sp>
      <p:sp>
        <p:nvSpPr>
          <p:cNvPr id="32" name="TextBox 31"/>
          <p:cNvSpPr txBox="1"/>
          <p:nvPr/>
        </p:nvSpPr>
        <p:spPr>
          <a:xfrm>
            <a:off x="7772400" y="232257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3" name="TextBox 32"/>
          <p:cNvSpPr txBox="1"/>
          <p:nvPr/>
        </p:nvSpPr>
        <p:spPr>
          <a:xfrm>
            <a:off x="8001000" y="2322576"/>
            <a:ext cx="3474720" cy="274320"/>
          </a:xfrm>
          <a:prstGeom prst="rect">
            <a:avLst/>
          </a:prstGeom>
          <a:noFill/>
        </p:spPr>
        <p:txBody>
          <a:bodyPr wrap="square">
            <a:spAutoFit/>
          </a:bodyPr>
          <a:lstStyle/>
          <a:p>
            <a:pPr algn="l">
              <a:defRPr sz="900" b="0">
                <a:solidFill>
                  <a:srgbClr val="2D2D2D"/>
                </a:solidFill>
                <a:latin typeface="Calibri"/>
              </a:defRPr>
            </a:pPr>
            <a:r>
              <a:t>big-bang)</a:t>
            </a:r>
          </a:p>
        </p:txBody>
      </p:sp>
      <p:sp>
        <p:nvSpPr>
          <p:cNvPr id="34" name="TextBox 33"/>
          <p:cNvSpPr txBox="1"/>
          <p:nvPr/>
        </p:nvSpPr>
        <p:spPr>
          <a:xfrm>
            <a:off x="7772400" y="2578608"/>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5" name="TextBox 34"/>
          <p:cNvSpPr txBox="1"/>
          <p:nvPr/>
        </p:nvSpPr>
        <p:spPr>
          <a:xfrm>
            <a:off x="8001000" y="2578608"/>
            <a:ext cx="3474720" cy="274320"/>
          </a:xfrm>
          <a:prstGeom prst="rect">
            <a:avLst/>
          </a:prstGeom>
          <a:noFill/>
        </p:spPr>
        <p:txBody>
          <a:bodyPr wrap="square">
            <a:spAutoFit/>
          </a:bodyPr>
          <a:lstStyle/>
          <a:p>
            <a:pPr algn="l">
              <a:defRPr sz="900" b="0">
                <a:solidFill>
                  <a:srgbClr val="2D2D2D"/>
                </a:solidFill>
                <a:latin typeface="Calibri"/>
              </a:defRPr>
            </a:pPr>
            <a:r>
              <a:t>environments deployed to</a:t>
            </a:r>
          </a:p>
        </p:txBody>
      </p:sp>
      <p:sp>
        <p:nvSpPr>
          <p:cNvPr id="36" name="TextBox 35"/>
          <p:cNvSpPr txBox="1"/>
          <p:nvPr/>
        </p:nvSpPr>
        <p:spPr>
          <a:xfrm>
            <a:off x="7772400" y="283464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7" name="TextBox 36"/>
          <p:cNvSpPr txBox="1"/>
          <p:nvPr/>
        </p:nvSpPr>
        <p:spPr>
          <a:xfrm>
            <a:off x="8001000" y="2834640"/>
            <a:ext cx="3474720" cy="274320"/>
          </a:xfrm>
          <a:prstGeom prst="rect">
            <a:avLst/>
          </a:prstGeom>
          <a:noFill/>
        </p:spPr>
        <p:txBody>
          <a:bodyPr wrap="square">
            <a:spAutoFit/>
          </a:bodyPr>
          <a:lstStyle/>
          <a:p>
            <a:pPr algn="l">
              <a:defRPr sz="900" b="0">
                <a:solidFill>
                  <a:srgbClr val="2D2D2D"/>
                </a:solidFill>
                <a:latin typeface="Calibri"/>
              </a:defRPr>
            </a:pPr>
            <a:r>
              <a:t>config items changed</a:t>
            </a:r>
          </a:p>
        </p:txBody>
      </p:sp>
      <p:sp>
        <p:nvSpPr>
          <p:cNvPr id="38" name="TextBox 37"/>
          <p:cNvSpPr txBox="1"/>
          <p:nvPr/>
        </p:nvSpPr>
        <p:spPr>
          <a:xfrm>
            <a:off x="7772400" y="309067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9" name="TextBox 38"/>
          <p:cNvSpPr txBox="1"/>
          <p:nvPr/>
        </p:nvSpPr>
        <p:spPr>
          <a:xfrm>
            <a:off x="8001000" y="3090672"/>
            <a:ext cx="3474720" cy="274320"/>
          </a:xfrm>
          <a:prstGeom prst="rect">
            <a:avLst/>
          </a:prstGeom>
          <a:noFill/>
        </p:spPr>
        <p:txBody>
          <a:bodyPr wrap="square">
            <a:spAutoFit/>
          </a:bodyPr>
          <a:lstStyle/>
          <a:p>
            <a:pPr algn="l">
              <a:defRPr sz="900" b="0">
                <a:solidFill>
                  <a:srgbClr val="2D2D2D"/>
                </a:solidFill>
                <a:latin typeface="Calibri"/>
              </a:defRPr>
            </a:pPr>
            <a:r>
              <a:t>data migration volume/validation</a:t>
            </a:r>
          </a:p>
        </p:txBody>
      </p:sp>
      <p:sp>
        <p:nvSpPr>
          <p:cNvPr id="40" name="TextBox 39"/>
          <p:cNvSpPr txBox="1"/>
          <p:nvPr/>
        </p:nvSpPr>
        <p:spPr>
          <a:xfrm>
            <a:off x="7772400" y="3346704"/>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1" name="TextBox 40"/>
          <p:cNvSpPr txBox="1"/>
          <p:nvPr/>
        </p:nvSpPr>
        <p:spPr>
          <a:xfrm>
            <a:off x="8001000" y="3346704"/>
            <a:ext cx="3474720" cy="274320"/>
          </a:xfrm>
          <a:prstGeom prst="rect">
            <a:avLst/>
          </a:prstGeom>
          <a:noFill/>
        </p:spPr>
        <p:txBody>
          <a:bodyPr wrap="square">
            <a:spAutoFit/>
          </a:bodyPr>
          <a:lstStyle/>
          <a:p>
            <a:pPr algn="l">
              <a:defRPr sz="900" b="0">
                <a:solidFill>
                  <a:srgbClr val="2D2D2D"/>
                </a:solidFill>
                <a:latin typeface="Calibri"/>
              </a:defRPr>
            </a:pPr>
            <a:r>
              <a:t>smoke test results</a:t>
            </a:r>
          </a:p>
        </p:txBody>
      </p:sp>
      <p:sp>
        <p:nvSpPr>
          <p:cNvPr id="42" name="TextBox 41"/>
          <p:cNvSpPr txBox="1"/>
          <p:nvPr/>
        </p:nvSpPr>
        <p:spPr>
          <a:xfrm>
            <a:off x="7772400" y="360273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3" name="TextBox 42"/>
          <p:cNvSpPr txBox="1"/>
          <p:nvPr/>
        </p:nvSpPr>
        <p:spPr>
          <a:xfrm>
            <a:off x="8001000" y="3602736"/>
            <a:ext cx="3474720" cy="274320"/>
          </a:xfrm>
          <a:prstGeom prst="rect">
            <a:avLst/>
          </a:prstGeom>
          <a:noFill/>
        </p:spPr>
        <p:txBody>
          <a:bodyPr wrap="square">
            <a:spAutoFit/>
          </a:bodyPr>
          <a:lstStyle/>
          <a:p>
            <a:pPr algn="l">
              <a:defRPr sz="900" b="0">
                <a:solidFill>
                  <a:srgbClr val="2D2D2D"/>
                </a:solidFill>
                <a:latin typeface="Calibri"/>
              </a:defRPr>
            </a:pPr>
            <a:r>
              <a:t>issues and resolution</a:t>
            </a:r>
          </a:p>
        </p:txBody>
      </p:sp>
      <p:sp>
        <p:nvSpPr>
          <p:cNvPr id="44" name="TextBox 43"/>
          <p:cNvSpPr txBox="1"/>
          <p:nvPr/>
        </p:nvSpPr>
        <p:spPr>
          <a:xfrm>
            <a:off x="7772400" y="3858768"/>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5" name="TextBox 44"/>
          <p:cNvSpPr txBox="1"/>
          <p:nvPr/>
        </p:nvSpPr>
        <p:spPr>
          <a:xfrm>
            <a:off x="8001000" y="3858768"/>
            <a:ext cx="3474720" cy="274320"/>
          </a:xfrm>
          <a:prstGeom prst="rect">
            <a:avLst/>
          </a:prstGeom>
          <a:noFill/>
        </p:spPr>
        <p:txBody>
          <a:bodyPr wrap="square">
            <a:spAutoFit/>
          </a:bodyPr>
          <a:lstStyle/>
          <a:p>
            <a:pPr algn="l">
              <a:defRPr sz="900" b="0">
                <a:solidFill>
                  <a:srgbClr val="2D2D2D"/>
                </a:solidFill>
                <a:latin typeface="Calibri"/>
              </a:defRPr>
            </a:pPr>
            <a:r>
              <a:t>rollback test result</a:t>
            </a:r>
          </a:p>
        </p:txBody>
      </p:sp>
      <p:sp>
        <p:nvSpPr>
          <p:cNvPr id="46" name="TextBox 45"/>
          <p:cNvSpPr txBox="1"/>
          <p:nvPr/>
        </p:nvSpPr>
        <p:spPr>
          <a:xfrm>
            <a:off x="7772400" y="411480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7" name="TextBox 46"/>
          <p:cNvSpPr txBox="1"/>
          <p:nvPr/>
        </p:nvSpPr>
        <p:spPr>
          <a:xfrm>
            <a:off x="8001000" y="4114800"/>
            <a:ext cx="3474720" cy="274320"/>
          </a:xfrm>
          <a:prstGeom prst="rect">
            <a:avLst/>
          </a:prstGeom>
          <a:noFill/>
        </p:spPr>
        <p:txBody>
          <a:bodyPr wrap="square">
            <a:spAutoFit/>
          </a:bodyPr>
          <a:lstStyle/>
          <a:p>
            <a:pPr algn="l">
              <a:defRPr sz="900" b="0">
                <a:solidFill>
                  <a:srgbClr val="2D2D2D"/>
                </a:solidFill>
                <a:latin typeface="Calibri"/>
              </a:defRPr>
            </a:pPr>
            <a:r>
              <a:t>stabilization period</a:t>
            </a:r>
          </a:p>
        </p:txBody>
      </p:sp>
      <p:sp>
        <p:nvSpPr>
          <p:cNvPr id="48" name="TextBox 47"/>
          <p:cNvSpPr txBox="1"/>
          <p:nvPr/>
        </p:nvSpPr>
        <p:spPr>
          <a:xfrm>
            <a:off x="7772400" y="437083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9" name="TextBox 48"/>
          <p:cNvSpPr txBox="1"/>
          <p:nvPr/>
        </p:nvSpPr>
        <p:spPr>
          <a:xfrm>
            <a:off x="8001000" y="4370832"/>
            <a:ext cx="3474720" cy="274320"/>
          </a:xfrm>
          <a:prstGeom prst="rect">
            <a:avLst/>
          </a:prstGeom>
          <a:noFill/>
        </p:spPr>
        <p:txBody>
          <a:bodyPr wrap="square">
            <a:spAutoFit/>
          </a:bodyPr>
          <a:lstStyle/>
          <a:p>
            <a:pPr algn="l">
              <a:defRPr sz="900" b="0">
                <a:solidFill>
                  <a:srgbClr val="2D2D2D"/>
                </a:solidFill>
                <a:latin typeface="Calibri"/>
              </a:defRPr>
            </a:pPr>
            <a:r>
              <a:t>on-call contact</a:t>
            </a:r>
          </a:p>
        </p:txBody>
      </p:sp>
      <p:sp>
        <p:nvSpPr>
          <p:cNvPr id="50" name="Rectangle 49"/>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52" name="TextBox 51"/>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19 of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10</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Close Request</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BPMN ID: Task_VendorCloseRequest  |  Candidate Group: vendor-response</a:t>
            </a:r>
          </a:p>
        </p:txBody>
      </p:sp>
      <p:sp>
        <p:nvSpPr>
          <p:cNvPr id="7" name="Rectangle 6"/>
          <p:cNvSpPr/>
          <p:nvPr/>
        </p:nvSpPr>
        <p:spPr>
          <a:xfrm>
            <a:off x="457200" y="1051560"/>
            <a:ext cx="11247120" cy="146304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97280"/>
            <a:ext cx="10881360" cy="274320"/>
          </a:xfrm>
          <a:prstGeom prst="rect">
            <a:avLst/>
          </a:prstGeom>
          <a:noFill/>
        </p:spPr>
        <p:txBody>
          <a:bodyPr wrap="square">
            <a:spAutoFit/>
          </a:bodyPr>
          <a:lstStyle/>
          <a:p>
            <a:pPr algn="l">
              <a:defRPr sz="1000" b="1">
                <a:solidFill>
                  <a:srgbClr val="0053AE"/>
                </a:solidFill>
                <a:latin typeface="Calibri"/>
              </a:defRPr>
            </a:pPr>
            <a:r>
              <a:t>DESCRIPTION</a:t>
            </a:r>
          </a:p>
        </p:txBody>
      </p:sp>
      <p:sp>
        <p:nvSpPr>
          <p:cNvPr id="9" name="TextBox 8"/>
          <p:cNvSpPr txBox="1"/>
          <p:nvPr/>
        </p:nvSpPr>
        <p:spPr>
          <a:xfrm>
            <a:off x="640080" y="1371600"/>
            <a:ext cx="10881360" cy="1097280"/>
          </a:xfrm>
          <a:prstGeom prst="rect">
            <a:avLst/>
          </a:prstGeom>
          <a:noFill/>
        </p:spPr>
        <p:txBody>
          <a:bodyPr wrap="square">
            <a:spAutoFit/>
          </a:bodyPr>
          <a:lstStyle/>
          <a:p>
            <a:pPr algn="l">
              <a:defRPr sz="1100" b="0">
                <a:solidFill>
                  <a:srgbClr val="2D2D2D"/>
                </a:solidFill>
                <a:latin typeface="Calibri"/>
              </a:defRPr>
            </a:pPr>
            <a:r>
              <a:t>Vendor confirms engagement completion and provides final deliverables for handoff to ongoing operations and monitoring. Includes archiving all security and compliance evidence, establishing vendor performance baselines, completing final documentation, confirming data handling obligations are met, and transitioning to the ongoing monitoring cadence.</a:t>
            </a:r>
          </a:p>
        </p:txBody>
      </p:sp>
      <p:sp>
        <p:nvSpPr>
          <p:cNvPr id="10" name="TextBox 9"/>
          <p:cNvSpPr txBox="1"/>
          <p:nvPr/>
        </p:nvSpPr>
        <p:spPr>
          <a:xfrm>
            <a:off x="457200" y="2697480"/>
            <a:ext cx="10972800" cy="274320"/>
          </a:xfrm>
          <a:prstGeom prst="rect">
            <a:avLst/>
          </a:prstGeom>
          <a:noFill/>
        </p:spPr>
        <p:txBody>
          <a:bodyPr wrap="square">
            <a:spAutoFit/>
          </a:bodyPr>
          <a:lstStyle/>
          <a:p>
            <a:pPr algn="l">
              <a:defRPr sz="1200" b="1">
                <a:solidFill>
                  <a:srgbClr val="00338D"/>
                </a:solidFill>
                <a:latin typeface="Calibri"/>
              </a:defRPr>
            </a:pPr>
            <a:r>
              <a:t>REGULATORY CONTROLS</a:t>
            </a:r>
          </a:p>
        </p:txBody>
      </p:sp>
      <p:sp>
        <p:nvSpPr>
          <p:cNvPr id="11" name="Rectangle 10"/>
          <p:cNvSpPr/>
          <p:nvPr/>
        </p:nvSpPr>
        <p:spPr>
          <a:xfrm>
            <a:off x="457200" y="2971800"/>
            <a:ext cx="11247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63240"/>
            <a:ext cx="10881360" cy="228600"/>
          </a:xfrm>
          <a:prstGeom prst="rect">
            <a:avLst/>
          </a:prstGeom>
          <a:noFill/>
        </p:spPr>
        <p:txBody>
          <a:bodyPr wrap="square">
            <a:spAutoFit/>
          </a:bodyPr>
          <a:lstStyle/>
          <a:p>
            <a:pPr algn="l">
              <a:defRPr sz="1000" b="1">
                <a:solidFill>
                  <a:srgbClr val="007B5F"/>
                </a:solidFill>
                <a:latin typeface="Calibri"/>
              </a:defRPr>
            </a:pPr>
            <a:r>
              <a:t>OCC 2023-17 Section 80</a:t>
            </a:r>
          </a:p>
        </p:txBody>
      </p:sp>
      <p:sp>
        <p:nvSpPr>
          <p:cNvPr id="13" name="TextBox 12"/>
          <p:cNvSpPr txBox="1"/>
          <p:nvPr/>
        </p:nvSpPr>
        <p:spPr>
          <a:xfrm>
            <a:off x="822960" y="3264408"/>
            <a:ext cx="10698480" cy="320040"/>
          </a:xfrm>
          <a:prstGeom prst="rect">
            <a:avLst/>
          </a:prstGeom>
          <a:noFill/>
        </p:spPr>
        <p:txBody>
          <a:bodyPr wrap="square">
            <a:spAutoFit/>
          </a:bodyPr>
          <a:lstStyle/>
          <a:p>
            <a:pPr algn="l">
              <a:defRPr sz="900" b="0">
                <a:solidFill>
                  <a:srgbClr val="5F6368"/>
                </a:solidFill>
                <a:latin typeface="Calibri"/>
              </a:defRPr>
            </a:pPr>
            <a:r>
              <a:t>Transition to ongoing monitoring — vendor performance baseline documented and monitoring cadence formally established.</a:t>
            </a:r>
          </a:p>
        </p:txBody>
      </p:sp>
      <p:sp>
        <p:nvSpPr>
          <p:cNvPr id="14" name="TextBox 13"/>
          <p:cNvSpPr txBox="1"/>
          <p:nvPr/>
        </p:nvSpPr>
        <p:spPr>
          <a:xfrm>
            <a:off x="640080" y="3584448"/>
            <a:ext cx="10881360" cy="228600"/>
          </a:xfrm>
          <a:prstGeom prst="rect">
            <a:avLst/>
          </a:prstGeom>
          <a:noFill/>
        </p:spPr>
        <p:txBody>
          <a:bodyPr wrap="square">
            <a:spAutoFit/>
          </a:bodyPr>
          <a:lstStyle/>
          <a:p>
            <a:pPr algn="l">
              <a:defRPr sz="1000" b="1">
                <a:solidFill>
                  <a:srgbClr val="007B5F"/>
                </a:solidFill>
                <a:latin typeface="Calibri"/>
              </a:defRPr>
            </a:pPr>
            <a:r>
              <a:t>NIST CSF 2.0 GV.SC-09</a:t>
            </a:r>
          </a:p>
        </p:txBody>
      </p:sp>
      <p:sp>
        <p:nvSpPr>
          <p:cNvPr id="15" name="TextBox 14"/>
          <p:cNvSpPr txBox="1"/>
          <p:nvPr/>
        </p:nvSpPr>
        <p:spPr>
          <a:xfrm>
            <a:off x="822960" y="3785616"/>
            <a:ext cx="10698480" cy="320040"/>
          </a:xfrm>
          <a:prstGeom prst="rect">
            <a:avLst/>
          </a:prstGeom>
          <a:noFill/>
        </p:spPr>
        <p:txBody>
          <a:bodyPr wrap="square">
            <a:spAutoFit/>
          </a:bodyPr>
          <a:lstStyle/>
          <a:p>
            <a:pPr algn="l">
              <a:defRPr sz="900" b="0">
                <a:solidFill>
                  <a:srgbClr val="5F6368"/>
                </a:solidFill>
                <a:latin typeface="Calibri"/>
              </a:defRPr>
            </a:pPr>
            <a:r>
              <a:t>Supplier performance debrief — lessons-learned review of the onboarding process.</a:t>
            </a:r>
          </a:p>
        </p:txBody>
      </p:sp>
      <p:sp>
        <p:nvSpPr>
          <p:cNvPr id="16" name="TextBox 15"/>
          <p:cNvSpPr txBox="1"/>
          <p:nvPr/>
        </p:nvSpPr>
        <p:spPr>
          <a:xfrm>
            <a:off x="640080" y="4105656"/>
            <a:ext cx="10881360" cy="228600"/>
          </a:xfrm>
          <a:prstGeom prst="rect">
            <a:avLst/>
          </a:prstGeom>
          <a:noFill/>
        </p:spPr>
        <p:txBody>
          <a:bodyPr wrap="square">
            <a:spAutoFit/>
          </a:bodyPr>
          <a:lstStyle/>
          <a:p>
            <a:pPr algn="l">
              <a:defRPr sz="1000" b="1">
                <a:solidFill>
                  <a:srgbClr val="007B5F"/>
                </a:solidFill>
                <a:latin typeface="Calibri"/>
              </a:defRPr>
            </a:pPr>
            <a:r>
              <a:t>GDPR / CCPA</a:t>
            </a:r>
          </a:p>
        </p:txBody>
      </p:sp>
      <p:sp>
        <p:nvSpPr>
          <p:cNvPr id="17" name="TextBox 16"/>
          <p:cNvSpPr txBox="1"/>
          <p:nvPr/>
        </p:nvSpPr>
        <p:spPr>
          <a:xfrm>
            <a:off x="822960" y="4306824"/>
            <a:ext cx="10698480" cy="320040"/>
          </a:xfrm>
          <a:prstGeom prst="rect">
            <a:avLst/>
          </a:prstGeom>
          <a:noFill/>
        </p:spPr>
        <p:txBody>
          <a:bodyPr wrap="square">
            <a:spAutoFit/>
          </a:bodyPr>
          <a:lstStyle/>
          <a:p>
            <a:pPr algn="l">
              <a:defRPr sz="900" b="0">
                <a:solidFill>
                  <a:srgbClr val="5F6368"/>
                </a:solidFill>
                <a:latin typeface="Calibri"/>
              </a:defRPr>
            </a:pPr>
            <a:r>
              <a:t>Confirm all data processing activities are within contracted scope. Verify no unauthorized residual data retained.</a:t>
            </a:r>
          </a:p>
        </p:txBody>
      </p:sp>
      <p:sp>
        <p:nvSpPr>
          <p:cNvPr id="18" name="TextBox 17"/>
          <p:cNvSpPr txBox="1"/>
          <p:nvPr/>
        </p:nvSpPr>
        <p:spPr>
          <a:xfrm>
            <a:off x="640080" y="4626864"/>
            <a:ext cx="10881360" cy="228600"/>
          </a:xfrm>
          <a:prstGeom prst="rect">
            <a:avLst/>
          </a:prstGeom>
          <a:noFill/>
        </p:spPr>
        <p:txBody>
          <a:bodyPr wrap="square">
            <a:spAutoFit/>
          </a:bodyPr>
          <a:lstStyle/>
          <a:p>
            <a:pPr algn="l">
              <a:defRPr sz="1000" b="1">
                <a:solidFill>
                  <a:srgbClr val="007B5F"/>
                </a:solidFill>
                <a:latin typeface="Calibri"/>
              </a:defRPr>
            </a:pPr>
            <a:r>
              <a:t>SEC 17a-4</a:t>
            </a:r>
          </a:p>
        </p:txBody>
      </p:sp>
      <p:sp>
        <p:nvSpPr>
          <p:cNvPr id="19" name="TextBox 18"/>
          <p:cNvSpPr txBox="1"/>
          <p:nvPr/>
        </p:nvSpPr>
        <p:spPr>
          <a:xfrm>
            <a:off x="822960" y="4828031"/>
            <a:ext cx="10698480" cy="320040"/>
          </a:xfrm>
          <a:prstGeom prst="rect">
            <a:avLst/>
          </a:prstGeom>
          <a:noFill/>
        </p:spPr>
        <p:txBody>
          <a:bodyPr wrap="square">
            <a:spAutoFit/>
          </a:bodyPr>
          <a:lstStyle/>
          <a:p>
            <a:pPr algn="l">
              <a:defRPr sz="900" b="0">
                <a:solidFill>
                  <a:srgbClr val="5F6368"/>
                </a:solidFill>
                <a:latin typeface="Calibri"/>
              </a:defRPr>
            </a:pPr>
            <a:r>
              <a:t>Engagement records archived in compliant, tamper-evident repository. Complete audit trail preserved.</a:t>
            </a:r>
          </a:p>
        </p:txBody>
      </p:sp>
      <p:sp>
        <p:nvSpPr>
          <p:cNvPr id="20" name="Rectangle 19"/>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22" name="TextBox 21"/>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20 of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548640"/>
          </a:xfrm>
          <a:prstGeom prst="rect">
            <a:avLst/>
          </a:prstGeom>
          <a:noFill/>
        </p:spPr>
        <p:txBody>
          <a:bodyPr wrap="square">
            <a:spAutoFit/>
          </a:bodyPr>
          <a:lstStyle/>
          <a:p>
            <a:pPr algn="l">
              <a:defRPr sz="3200" b="1">
                <a:solidFill>
                  <a:srgbClr val="FFFFFF"/>
                </a:solidFill>
                <a:latin typeface="Calibri"/>
              </a:defRPr>
            </a:pPr>
            <a:r>
              <a:t>10</a:t>
            </a:r>
          </a:p>
        </p:txBody>
      </p:sp>
      <p:sp>
        <p:nvSpPr>
          <p:cNvPr id="5" name="TextBox 4"/>
          <p:cNvSpPr txBox="1"/>
          <p:nvPr/>
        </p:nvSpPr>
        <p:spPr>
          <a:xfrm>
            <a:off x="1280160" y="137160"/>
            <a:ext cx="9144000" cy="320040"/>
          </a:xfrm>
          <a:prstGeom prst="rect">
            <a:avLst/>
          </a:prstGeom>
          <a:noFill/>
        </p:spPr>
        <p:txBody>
          <a:bodyPr wrap="square">
            <a:spAutoFit/>
          </a:bodyPr>
          <a:lstStyle/>
          <a:p>
            <a:pPr algn="l">
              <a:defRPr sz="2200" b="1">
                <a:solidFill>
                  <a:srgbClr val="FFFFFF"/>
                </a:solidFill>
                <a:latin typeface="Calibri"/>
              </a:defRPr>
            </a:pPr>
            <a:r>
              <a:t>Close Request — Evidence &amp; Data</a:t>
            </a:r>
          </a:p>
        </p:txBody>
      </p:sp>
      <p:sp>
        <p:nvSpPr>
          <p:cNvPr id="6" name="TextBox 5"/>
          <p:cNvSpPr txBox="1"/>
          <p:nvPr/>
        </p:nvSpPr>
        <p:spPr>
          <a:xfrm>
            <a:off x="1280160" y="457200"/>
            <a:ext cx="9144000" cy="274320"/>
          </a:xfrm>
          <a:prstGeom prst="rect">
            <a:avLst/>
          </a:prstGeom>
          <a:noFill/>
        </p:spPr>
        <p:txBody>
          <a:bodyPr wrap="square">
            <a:spAutoFit/>
          </a:bodyPr>
          <a:lstStyle/>
          <a:p>
            <a:pPr algn="l">
              <a:defRPr sz="1000" b="0">
                <a:solidFill>
                  <a:srgbClr val="A0C4FF"/>
                </a:solidFill>
                <a:latin typeface="Calibri"/>
              </a:defRPr>
            </a:pPr>
            <a:r>
              <a:t>Evidence Collection Requirements and Key Data Points</a:t>
            </a:r>
          </a:p>
        </p:txBody>
      </p:sp>
      <p:sp>
        <p:nvSpPr>
          <p:cNvPr id="7" name="TextBox 6"/>
          <p:cNvSpPr txBox="1"/>
          <p:nvPr/>
        </p:nvSpPr>
        <p:spPr>
          <a:xfrm>
            <a:off x="457200" y="1051560"/>
            <a:ext cx="6400800" cy="274320"/>
          </a:xfrm>
          <a:prstGeom prst="rect">
            <a:avLst/>
          </a:prstGeom>
          <a:noFill/>
        </p:spPr>
        <p:txBody>
          <a:bodyPr wrap="square">
            <a:spAutoFit/>
          </a:bodyPr>
          <a:lstStyle/>
          <a:p>
            <a:pPr algn="l">
              <a:defRPr sz="1200" b="1">
                <a:solidFill>
                  <a:srgbClr val="00338D"/>
                </a:solidFill>
                <a:latin typeface="Calibri"/>
              </a:defRPr>
            </a:pPr>
            <a:r>
              <a:t>EVIDENCE COLLECTION</a:t>
            </a:r>
          </a:p>
        </p:txBody>
      </p:sp>
      <p:sp>
        <p:nvSpPr>
          <p:cNvPr id="8" name="Rectangle 7"/>
          <p:cNvSpPr/>
          <p:nvPr/>
        </p:nvSpPr>
        <p:spPr>
          <a:xfrm>
            <a:off x="457200" y="1325880"/>
            <a:ext cx="667512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0" name="TextBox 9"/>
          <p:cNvSpPr txBox="1"/>
          <p:nvPr/>
        </p:nvSpPr>
        <p:spPr>
          <a:xfrm>
            <a:off x="868680" y="1463040"/>
            <a:ext cx="6126480" cy="365760"/>
          </a:xfrm>
          <a:prstGeom prst="rect">
            <a:avLst/>
          </a:prstGeom>
          <a:noFill/>
        </p:spPr>
        <p:txBody>
          <a:bodyPr wrap="square">
            <a:spAutoFit/>
          </a:bodyPr>
          <a:lstStyle/>
          <a:p>
            <a:pPr algn="l">
              <a:defRPr sz="1000" b="0">
                <a:solidFill>
                  <a:srgbClr val="2D2D2D"/>
                </a:solidFill>
                <a:latin typeface="Calibri"/>
              </a:defRPr>
            </a:pPr>
            <a:r>
              <a:t>Vendor closure confirmation signed by both parties</a:t>
            </a:r>
          </a:p>
        </p:txBody>
      </p:sp>
      <p:sp>
        <p:nvSpPr>
          <p:cNvPr id="11" name="TextBox 10"/>
          <p:cNvSpPr txBox="1"/>
          <p:nvPr/>
        </p:nvSpPr>
        <p:spPr>
          <a:xfrm>
            <a:off x="548640" y="184708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2" name="TextBox 11"/>
          <p:cNvSpPr txBox="1"/>
          <p:nvPr/>
        </p:nvSpPr>
        <p:spPr>
          <a:xfrm>
            <a:off x="868680" y="1847088"/>
            <a:ext cx="6126480" cy="365760"/>
          </a:xfrm>
          <a:prstGeom prst="rect">
            <a:avLst/>
          </a:prstGeom>
          <a:noFill/>
        </p:spPr>
        <p:txBody>
          <a:bodyPr wrap="square">
            <a:spAutoFit/>
          </a:bodyPr>
          <a:lstStyle/>
          <a:p>
            <a:pPr algn="l">
              <a:defRPr sz="1000" b="0">
                <a:solidFill>
                  <a:srgbClr val="2D2D2D"/>
                </a:solidFill>
                <a:latin typeface="Calibri"/>
              </a:defRPr>
            </a:pPr>
            <a:r>
              <a:t>Performance baseline scorecard with initial KRI values and targets</a:t>
            </a:r>
          </a:p>
        </p:txBody>
      </p:sp>
      <p:sp>
        <p:nvSpPr>
          <p:cNvPr id="13" name="TextBox 12"/>
          <p:cNvSpPr txBox="1"/>
          <p:nvPr/>
        </p:nvSpPr>
        <p:spPr>
          <a:xfrm>
            <a:off x="548640" y="2231136"/>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4" name="TextBox 13"/>
          <p:cNvSpPr txBox="1"/>
          <p:nvPr/>
        </p:nvSpPr>
        <p:spPr>
          <a:xfrm>
            <a:off x="868680" y="2231136"/>
            <a:ext cx="6126480" cy="365760"/>
          </a:xfrm>
          <a:prstGeom prst="rect">
            <a:avLst/>
          </a:prstGeom>
          <a:noFill/>
        </p:spPr>
        <p:txBody>
          <a:bodyPr wrap="square">
            <a:spAutoFit/>
          </a:bodyPr>
          <a:lstStyle/>
          <a:p>
            <a:pPr algn="l">
              <a:defRPr sz="1000" b="0">
                <a:solidFill>
                  <a:srgbClr val="2D2D2D"/>
                </a:solidFill>
                <a:latin typeface="Calibri"/>
              </a:defRPr>
            </a:pPr>
            <a:r>
              <a:t>Data handling confirmation letter from vendor attesting DPA compliance</a:t>
            </a:r>
          </a:p>
        </p:txBody>
      </p:sp>
      <p:sp>
        <p:nvSpPr>
          <p:cNvPr id="15" name="TextBox 14"/>
          <p:cNvSpPr txBox="1"/>
          <p:nvPr/>
        </p:nvSpPr>
        <p:spPr>
          <a:xfrm>
            <a:off x="548640" y="2615184"/>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6" name="TextBox 15"/>
          <p:cNvSpPr txBox="1"/>
          <p:nvPr/>
        </p:nvSpPr>
        <p:spPr>
          <a:xfrm>
            <a:off x="868680" y="2615184"/>
            <a:ext cx="6126480" cy="365760"/>
          </a:xfrm>
          <a:prstGeom prst="rect">
            <a:avLst/>
          </a:prstGeom>
          <a:noFill/>
        </p:spPr>
        <p:txBody>
          <a:bodyPr wrap="square">
            <a:spAutoFit/>
          </a:bodyPr>
          <a:lstStyle/>
          <a:p>
            <a:pPr algn="l">
              <a:defRPr sz="1000" b="0">
                <a:solidFill>
                  <a:srgbClr val="2D2D2D"/>
                </a:solidFill>
                <a:latin typeface="Calibri"/>
              </a:defRPr>
            </a:pPr>
            <a:r>
              <a:t>Complete engagement summary filed to the audit record</a:t>
            </a:r>
          </a:p>
        </p:txBody>
      </p:sp>
      <p:sp>
        <p:nvSpPr>
          <p:cNvPr id="17" name="TextBox 16"/>
          <p:cNvSpPr txBox="1"/>
          <p:nvPr/>
        </p:nvSpPr>
        <p:spPr>
          <a:xfrm>
            <a:off x="548640" y="2999232"/>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18" name="TextBox 17"/>
          <p:cNvSpPr txBox="1"/>
          <p:nvPr/>
        </p:nvSpPr>
        <p:spPr>
          <a:xfrm>
            <a:off x="868680" y="2999232"/>
            <a:ext cx="6126480" cy="365760"/>
          </a:xfrm>
          <a:prstGeom prst="rect">
            <a:avLst/>
          </a:prstGeom>
          <a:noFill/>
        </p:spPr>
        <p:txBody>
          <a:bodyPr wrap="square">
            <a:spAutoFit/>
          </a:bodyPr>
          <a:lstStyle/>
          <a:p>
            <a:pPr algn="l">
              <a:defRPr sz="1000" b="0">
                <a:solidFill>
                  <a:srgbClr val="2D2D2D"/>
                </a:solidFill>
                <a:latin typeface="Calibri"/>
              </a:defRPr>
            </a:pPr>
            <a:r>
              <a:t>Transition to monitoring cadence documented (reviewer, schedule, escalation path)</a:t>
            </a:r>
          </a:p>
        </p:txBody>
      </p:sp>
      <p:sp>
        <p:nvSpPr>
          <p:cNvPr id="19" name="TextBox 18"/>
          <p:cNvSpPr txBox="1"/>
          <p:nvPr/>
        </p:nvSpPr>
        <p:spPr>
          <a:xfrm>
            <a:off x="548640" y="3383279"/>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0" name="TextBox 19"/>
          <p:cNvSpPr txBox="1"/>
          <p:nvPr/>
        </p:nvSpPr>
        <p:spPr>
          <a:xfrm>
            <a:off x="868680" y="3383279"/>
            <a:ext cx="6126480" cy="365760"/>
          </a:xfrm>
          <a:prstGeom prst="rect">
            <a:avLst/>
          </a:prstGeom>
          <a:noFill/>
        </p:spPr>
        <p:txBody>
          <a:bodyPr wrap="square">
            <a:spAutoFit/>
          </a:bodyPr>
          <a:lstStyle/>
          <a:p>
            <a:pPr algn="l">
              <a:defRPr sz="1000" b="0">
                <a:solidFill>
                  <a:srgbClr val="2D2D2D"/>
                </a:solidFill>
                <a:latin typeface="Calibri"/>
              </a:defRPr>
            </a:pPr>
            <a:r>
              <a:t>Lessons learned document from the onboarding process</a:t>
            </a:r>
          </a:p>
        </p:txBody>
      </p:sp>
      <p:sp>
        <p:nvSpPr>
          <p:cNvPr id="21" name="TextBox 20"/>
          <p:cNvSpPr txBox="1"/>
          <p:nvPr/>
        </p:nvSpPr>
        <p:spPr>
          <a:xfrm>
            <a:off x="548640" y="3767328"/>
            <a:ext cx="274320" cy="274320"/>
          </a:xfrm>
          <a:prstGeom prst="rect">
            <a:avLst/>
          </a:prstGeom>
          <a:noFill/>
        </p:spPr>
        <p:txBody>
          <a:bodyPr wrap="square">
            <a:spAutoFit/>
          </a:bodyPr>
          <a:lstStyle/>
          <a:p>
            <a:pPr algn="l">
              <a:defRPr sz="1100" b="0">
                <a:solidFill>
                  <a:srgbClr val="007B5F"/>
                </a:solidFill>
                <a:latin typeface="Calibri"/>
              </a:defRPr>
            </a:pPr>
            <a:r>
              <a:t>✔</a:t>
            </a:r>
          </a:p>
        </p:txBody>
      </p:sp>
      <p:sp>
        <p:nvSpPr>
          <p:cNvPr id="22" name="TextBox 21"/>
          <p:cNvSpPr txBox="1"/>
          <p:nvPr/>
        </p:nvSpPr>
        <p:spPr>
          <a:xfrm>
            <a:off x="868680" y="3767328"/>
            <a:ext cx="6126480" cy="365760"/>
          </a:xfrm>
          <a:prstGeom prst="rect">
            <a:avLst/>
          </a:prstGeom>
          <a:noFill/>
        </p:spPr>
        <p:txBody>
          <a:bodyPr wrap="square">
            <a:spAutoFit/>
          </a:bodyPr>
          <a:lstStyle/>
          <a:p>
            <a:pPr algn="l">
              <a:defRPr sz="1000" b="0">
                <a:solidFill>
                  <a:srgbClr val="2D2D2D"/>
                </a:solidFill>
                <a:latin typeface="Calibri"/>
              </a:defRPr>
            </a:pPr>
            <a:r>
              <a:t>Updated third-party risk register reflecting steady-state risk tier</a:t>
            </a:r>
          </a:p>
        </p:txBody>
      </p:sp>
      <p:sp>
        <p:nvSpPr>
          <p:cNvPr id="23" name="Rectangle 22"/>
          <p:cNvSpPr/>
          <p:nvPr/>
        </p:nvSpPr>
        <p:spPr>
          <a:xfrm>
            <a:off x="7498079" y="1051560"/>
            <a:ext cx="4206240" cy="5029200"/>
          </a:xfrm>
          <a:prstGeom prst="rect">
            <a:avLst/>
          </a:prstGeom>
          <a:solidFill>
            <a:srgbClr val="E8F0FE"/>
          </a:solidFill>
          <a:ln w="12700">
            <a:solidFill>
              <a:srgbClr val="0053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1143000"/>
            <a:ext cx="3840480" cy="274320"/>
          </a:xfrm>
          <a:prstGeom prst="rect">
            <a:avLst/>
          </a:prstGeom>
          <a:noFill/>
        </p:spPr>
        <p:txBody>
          <a:bodyPr wrap="square">
            <a:spAutoFit/>
          </a:bodyPr>
          <a:lstStyle/>
          <a:p>
            <a:pPr algn="l">
              <a:defRPr sz="1200" b="1">
                <a:solidFill>
                  <a:srgbClr val="00338D"/>
                </a:solidFill>
                <a:latin typeface="Calibri"/>
              </a:defRPr>
            </a:pPr>
            <a:r>
              <a:t>KEY DATA POINTS</a:t>
            </a:r>
          </a:p>
        </p:txBody>
      </p:sp>
      <p:sp>
        <p:nvSpPr>
          <p:cNvPr id="25" name="Rectangle 24"/>
          <p:cNvSpPr/>
          <p:nvPr/>
        </p:nvSpPr>
        <p:spPr>
          <a:xfrm>
            <a:off x="7680960" y="1417320"/>
            <a:ext cx="3840480" cy="27432"/>
          </a:xfrm>
          <a:prstGeom prst="rect">
            <a:avLst/>
          </a:prstGeom>
          <a:solidFill>
            <a:srgbClr val="007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155448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7" name="TextBox 26"/>
          <p:cNvSpPr txBox="1"/>
          <p:nvPr/>
        </p:nvSpPr>
        <p:spPr>
          <a:xfrm>
            <a:off x="8001000" y="1554480"/>
            <a:ext cx="3474720" cy="274320"/>
          </a:xfrm>
          <a:prstGeom prst="rect">
            <a:avLst/>
          </a:prstGeom>
          <a:noFill/>
        </p:spPr>
        <p:txBody>
          <a:bodyPr wrap="square">
            <a:spAutoFit/>
          </a:bodyPr>
          <a:lstStyle/>
          <a:p>
            <a:pPr algn="l">
              <a:defRPr sz="900" b="0">
                <a:solidFill>
                  <a:srgbClr val="2D2D2D"/>
                </a:solidFill>
                <a:latin typeface="Calibri"/>
              </a:defRPr>
            </a:pPr>
            <a:r>
              <a:t>Onboarding completion date</a:t>
            </a:r>
          </a:p>
        </p:txBody>
      </p:sp>
      <p:sp>
        <p:nvSpPr>
          <p:cNvPr id="28" name="TextBox 27"/>
          <p:cNvSpPr txBox="1"/>
          <p:nvPr/>
        </p:nvSpPr>
        <p:spPr>
          <a:xfrm>
            <a:off x="7772400" y="181051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29" name="TextBox 28"/>
          <p:cNvSpPr txBox="1"/>
          <p:nvPr/>
        </p:nvSpPr>
        <p:spPr>
          <a:xfrm>
            <a:off x="8001000" y="1810512"/>
            <a:ext cx="3474720" cy="274320"/>
          </a:xfrm>
          <a:prstGeom prst="rect">
            <a:avLst/>
          </a:prstGeom>
          <a:noFill/>
        </p:spPr>
        <p:txBody>
          <a:bodyPr wrap="square">
            <a:spAutoFit/>
          </a:bodyPr>
          <a:lstStyle/>
          <a:p>
            <a:pPr algn="l">
              <a:defRPr sz="900" b="0">
                <a:solidFill>
                  <a:srgbClr val="2D2D2D"/>
                </a:solidFill>
                <a:latin typeface="Calibri"/>
              </a:defRPr>
            </a:pPr>
            <a:r>
              <a:t>total duration (days)</a:t>
            </a:r>
          </a:p>
        </p:txBody>
      </p:sp>
      <p:sp>
        <p:nvSpPr>
          <p:cNvPr id="30" name="TextBox 29"/>
          <p:cNvSpPr txBox="1"/>
          <p:nvPr/>
        </p:nvSpPr>
        <p:spPr>
          <a:xfrm>
            <a:off x="7772400" y="2066543"/>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1" name="TextBox 30"/>
          <p:cNvSpPr txBox="1"/>
          <p:nvPr/>
        </p:nvSpPr>
        <p:spPr>
          <a:xfrm>
            <a:off x="8001000" y="2066543"/>
            <a:ext cx="3474720" cy="274320"/>
          </a:xfrm>
          <a:prstGeom prst="rect">
            <a:avLst/>
          </a:prstGeom>
          <a:noFill/>
        </p:spPr>
        <p:txBody>
          <a:bodyPr wrap="square">
            <a:spAutoFit/>
          </a:bodyPr>
          <a:lstStyle/>
          <a:p>
            <a:pPr algn="l">
              <a:defRPr sz="900" b="0">
                <a:solidFill>
                  <a:srgbClr val="2D2D2D"/>
                </a:solidFill>
                <a:latin typeface="Calibri"/>
              </a:defRPr>
            </a:pPr>
            <a:r>
              <a:t>onboarding cost</a:t>
            </a:r>
          </a:p>
        </p:txBody>
      </p:sp>
      <p:sp>
        <p:nvSpPr>
          <p:cNvPr id="32" name="TextBox 31"/>
          <p:cNvSpPr txBox="1"/>
          <p:nvPr/>
        </p:nvSpPr>
        <p:spPr>
          <a:xfrm>
            <a:off x="7772400" y="232257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3" name="TextBox 32"/>
          <p:cNvSpPr txBox="1"/>
          <p:nvPr/>
        </p:nvSpPr>
        <p:spPr>
          <a:xfrm>
            <a:off x="8001000" y="2322576"/>
            <a:ext cx="3474720" cy="274320"/>
          </a:xfrm>
          <a:prstGeom prst="rect">
            <a:avLst/>
          </a:prstGeom>
          <a:noFill/>
        </p:spPr>
        <p:txBody>
          <a:bodyPr wrap="square">
            <a:spAutoFit/>
          </a:bodyPr>
          <a:lstStyle/>
          <a:p>
            <a:pPr algn="l">
              <a:defRPr sz="900" b="0">
                <a:solidFill>
                  <a:srgbClr val="2D2D2D"/>
                </a:solidFill>
                <a:latin typeface="Calibri"/>
              </a:defRPr>
            </a:pPr>
            <a:r>
              <a:t>initial vendor performance score</a:t>
            </a:r>
          </a:p>
        </p:txBody>
      </p:sp>
      <p:sp>
        <p:nvSpPr>
          <p:cNvPr id="34" name="TextBox 33"/>
          <p:cNvSpPr txBox="1"/>
          <p:nvPr/>
        </p:nvSpPr>
        <p:spPr>
          <a:xfrm>
            <a:off x="7772400" y="2578608"/>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5" name="TextBox 34"/>
          <p:cNvSpPr txBox="1"/>
          <p:nvPr/>
        </p:nvSpPr>
        <p:spPr>
          <a:xfrm>
            <a:off x="8001000" y="2578608"/>
            <a:ext cx="3474720" cy="274320"/>
          </a:xfrm>
          <a:prstGeom prst="rect">
            <a:avLst/>
          </a:prstGeom>
          <a:noFill/>
        </p:spPr>
        <p:txBody>
          <a:bodyPr wrap="square">
            <a:spAutoFit/>
          </a:bodyPr>
          <a:lstStyle/>
          <a:p>
            <a:pPr algn="l">
              <a:defRPr sz="900" b="0">
                <a:solidFill>
                  <a:srgbClr val="2D2D2D"/>
                </a:solidFill>
                <a:latin typeface="Calibri"/>
              </a:defRPr>
            </a:pPr>
            <a:r>
              <a:t>monitoring cadence assigned</a:t>
            </a:r>
          </a:p>
        </p:txBody>
      </p:sp>
      <p:sp>
        <p:nvSpPr>
          <p:cNvPr id="36" name="TextBox 35"/>
          <p:cNvSpPr txBox="1"/>
          <p:nvPr/>
        </p:nvSpPr>
        <p:spPr>
          <a:xfrm>
            <a:off x="7772400" y="2834640"/>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7" name="TextBox 36"/>
          <p:cNvSpPr txBox="1"/>
          <p:nvPr/>
        </p:nvSpPr>
        <p:spPr>
          <a:xfrm>
            <a:off x="8001000" y="2834640"/>
            <a:ext cx="3474720" cy="274320"/>
          </a:xfrm>
          <a:prstGeom prst="rect">
            <a:avLst/>
          </a:prstGeom>
          <a:noFill/>
        </p:spPr>
        <p:txBody>
          <a:bodyPr wrap="square">
            <a:spAutoFit/>
          </a:bodyPr>
          <a:lstStyle/>
          <a:p>
            <a:pPr algn="l">
              <a:defRPr sz="900" b="0">
                <a:solidFill>
                  <a:srgbClr val="2D2D2D"/>
                </a:solidFill>
                <a:latin typeface="Calibri"/>
              </a:defRPr>
            </a:pPr>
            <a:r>
              <a:t>next scheduled review date</a:t>
            </a:r>
          </a:p>
        </p:txBody>
      </p:sp>
      <p:sp>
        <p:nvSpPr>
          <p:cNvPr id="38" name="TextBox 37"/>
          <p:cNvSpPr txBox="1"/>
          <p:nvPr/>
        </p:nvSpPr>
        <p:spPr>
          <a:xfrm>
            <a:off x="7772400" y="3090672"/>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39" name="TextBox 38"/>
          <p:cNvSpPr txBox="1"/>
          <p:nvPr/>
        </p:nvSpPr>
        <p:spPr>
          <a:xfrm>
            <a:off x="8001000" y="3090672"/>
            <a:ext cx="3474720" cy="274320"/>
          </a:xfrm>
          <a:prstGeom prst="rect">
            <a:avLst/>
          </a:prstGeom>
          <a:noFill/>
        </p:spPr>
        <p:txBody>
          <a:bodyPr wrap="square">
            <a:spAutoFit/>
          </a:bodyPr>
          <a:lstStyle/>
          <a:p>
            <a:pPr algn="l">
              <a:defRPr sz="900" b="0">
                <a:solidFill>
                  <a:srgbClr val="2D2D2D"/>
                </a:solidFill>
                <a:latin typeface="Calibri"/>
              </a:defRPr>
            </a:pPr>
            <a:r>
              <a:t>vendor relationship manager</a:t>
            </a:r>
          </a:p>
        </p:txBody>
      </p:sp>
      <p:sp>
        <p:nvSpPr>
          <p:cNvPr id="40" name="TextBox 39"/>
          <p:cNvSpPr txBox="1"/>
          <p:nvPr/>
        </p:nvSpPr>
        <p:spPr>
          <a:xfrm>
            <a:off x="7772400" y="3346704"/>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1" name="TextBox 40"/>
          <p:cNvSpPr txBox="1"/>
          <p:nvPr/>
        </p:nvSpPr>
        <p:spPr>
          <a:xfrm>
            <a:off x="8001000" y="3346704"/>
            <a:ext cx="3474720" cy="274320"/>
          </a:xfrm>
          <a:prstGeom prst="rect">
            <a:avLst/>
          </a:prstGeom>
          <a:noFill/>
        </p:spPr>
        <p:txBody>
          <a:bodyPr wrap="square">
            <a:spAutoFit/>
          </a:bodyPr>
          <a:lstStyle/>
          <a:p>
            <a:pPr algn="l">
              <a:defRPr sz="900" b="0">
                <a:solidFill>
                  <a:srgbClr val="2D2D2D"/>
                </a:solidFill>
                <a:latin typeface="Calibri"/>
              </a:defRPr>
            </a:pPr>
            <a:r>
              <a:t>open action items with owners and due dates</a:t>
            </a:r>
          </a:p>
        </p:txBody>
      </p:sp>
      <p:sp>
        <p:nvSpPr>
          <p:cNvPr id="42" name="TextBox 41"/>
          <p:cNvSpPr txBox="1"/>
          <p:nvPr/>
        </p:nvSpPr>
        <p:spPr>
          <a:xfrm>
            <a:off x="7772400" y="3602736"/>
            <a:ext cx="228600" cy="228600"/>
          </a:xfrm>
          <a:prstGeom prst="rect">
            <a:avLst/>
          </a:prstGeom>
          <a:noFill/>
        </p:spPr>
        <p:txBody>
          <a:bodyPr wrap="square">
            <a:spAutoFit/>
          </a:bodyPr>
          <a:lstStyle/>
          <a:p>
            <a:pPr algn="l">
              <a:defRPr sz="1000" b="0">
                <a:solidFill>
                  <a:srgbClr val="007B5F"/>
                </a:solidFill>
                <a:latin typeface="Calibri"/>
              </a:defRPr>
            </a:pPr>
            <a:r>
              <a:t>•</a:t>
            </a:r>
          </a:p>
        </p:txBody>
      </p:sp>
      <p:sp>
        <p:nvSpPr>
          <p:cNvPr id="43" name="TextBox 42"/>
          <p:cNvSpPr txBox="1"/>
          <p:nvPr/>
        </p:nvSpPr>
        <p:spPr>
          <a:xfrm>
            <a:off x="8001000" y="3602736"/>
            <a:ext cx="3474720" cy="274320"/>
          </a:xfrm>
          <a:prstGeom prst="rect">
            <a:avLst/>
          </a:prstGeom>
          <a:noFill/>
        </p:spPr>
        <p:txBody>
          <a:bodyPr wrap="square">
            <a:spAutoFit/>
          </a:bodyPr>
          <a:lstStyle/>
          <a:p>
            <a:pPr algn="l">
              <a:defRPr sz="900" b="0">
                <a:solidFill>
                  <a:srgbClr val="2D2D2D"/>
                </a:solidFill>
                <a:latin typeface="Calibri"/>
              </a:defRPr>
            </a:pPr>
            <a:r>
              <a:t>process improvement recommendations</a:t>
            </a:r>
          </a:p>
        </p:txBody>
      </p:sp>
      <p:sp>
        <p:nvSpPr>
          <p:cNvPr id="44" name="Rectangle 43"/>
          <p:cNvSpPr/>
          <p:nvPr/>
        </p:nvSpPr>
        <p:spPr>
          <a:xfrm>
            <a:off x="0" y="6492240"/>
            <a:ext cx="12191695"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537960"/>
            <a:ext cx="5486400" cy="274320"/>
          </a:xfrm>
          <a:prstGeom prst="rect">
            <a:avLst/>
          </a:prstGeom>
          <a:noFill/>
        </p:spPr>
        <p:txBody>
          <a:bodyPr wrap="square">
            <a:spAutoFit/>
          </a:bodyPr>
          <a:lstStyle/>
          <a:p>
            <a:pPr algn="l">
              <a:defRPr sz="800" b="0">
                <a:solidFill>
                  <a:srgbClr val="5F6368"/>
                </a:solidFill>
                <a:latin typeface="Calibri"/>
              </a:defRPr>
            </a:pPr>
            <a:r>
              <a:t>Vendor / Third Party — External Software or Contracting</a:t>
            </a:r>
          </a:p>
        </p:txBody>
      </p:sp>
      <p:sp>
        <p:nvSpPr>
          <p:cNvPr id="46" name="TextBox 45"/>
          <p:cNvSpPr txBox="1"/>
          <p:nvPr/>
        </p:nvSpPr>
        <p:spPr>
          <a:xfrm>
            <a:off x="9144000" y="6537960"/>
            <a:ext cx="2743200" cy="274320"/>
          </a:xfrm>
          <a:prstGeom prst="rect">
            <a:avLst/>
          </a:prstGeom>
          <a:noFill/>
        </p:spPr>
        <p:txBody>
          <a:bodyPr wrap="square">
            <a:spAutoFit/>
          </a:bodyPr>
          <a:lstStyle/>
          <a:p>
            <a:pPr algn="r">
              <a:defRPr sz="800" b="0">
                <a:solidFill>
                  <a:srgbClr val="5F6368"/>
                </a:solidFill>
                <a:latin typeface="Calibri"/>
              </a:defRPr>
            </a:pPr>
            <a:r>
              <a:t>Slide 21 of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