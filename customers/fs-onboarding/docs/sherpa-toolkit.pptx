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Software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  <a:latin typeface="Calibri"/>
              </a:defRPr>
            </a:pPr>
            <a:r>
              <a:t>30-Day Process Improvement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Zero technology changes  —  7 organizational decisions that cut cycle time in half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114800"/>
            <a:ext cx="2286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6-9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Current Avg</a:t>
            </a:r>
            <a:br/>
            <a:r>
              <a:t>Cycle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114800"/>
            <a:ext cx="2286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3-4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Target After</a:t>
            </a:r>
            <a:br/>
            <a:r>
              <a:t>30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114800"/>
            <a:ext cx="2286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7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Process Changes</a:t>
            </a:r>
            <a:br/>
            <a:r>
              <a:t>No Technology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Financial Services  •  Software Onboarding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Problem: Why Onboarding Takes 6-9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Three root causes account for 80% of elapsed time. None require technology to 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2743200"/>
          </a:xfrm>
          <a:prstGeom prst="roundRect">
            <a:avLst/>
          </a:prstGeom>
          <a:solidFill>
            <a:srgbClr val="2A0D0D"/>
          </a:solidFill>
          <a:ln w="12700">
            <a:solidFill>
              <a:srgbClr val="5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18 Sequential Committees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Every request passes through up to 18 review committees one at a time. Security waits for Legal. Legal waits for Compliance. Compliance waits for Architecture.</a:t>
            </a:r>
            <a:br/>
            <a:br/>
            <a:r>
              <a:t>A 5-day review becomes 5 x 18 = 90 days of elapsed time, even though each reviewer only spends a few hours.</a:t>
            </a:r>
            <a:br/>
            <a:br/>
            <a:r>
              <a:t>The reviews themselves aren't slow — the sequencing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57600" cy="2743200"/>
          </a:xfrm>
          <a:prstGeom prst="roundRect">
            <a:avLst/>
          </a:prstGeom>
          <a:solidFill>
            <a:srgbClr val="2A0D0D"/>
          </a:solidFill>
          <a:ln w="12700">
            <a:solidFill>
              <a:srgbClr val="5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No Single Point of Accountability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Nobody owns elapsed time. Each reviewer owns their piece, but nobody tracks the overall request from intake to go-live.</a:t>
            </a:r>
            <a:br/>
            <a:br/>
            <a:r>
              <a:t>When a request stalls, no one notices for weeks. The requester calls around asking "where is my request?" and gets transferred between teams.</a:t>
            </a:r>
            <a:br/>
            <a:br/>
            <a:r>
              <a:t>The Sherpa role solves this — one person owns the clock.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657600" cy="2743200"/>
          </a:xfrm>
          <a:prstGeom prst="roundRect">
            <a:avLst/>
          </a:prstGeom>
          <a:solidFill>
            <a:srgbClr val="2A0D0D"/>
          </a:solidFill>
          <a:ln w="12700">
            <a:solidFill>
              <a:srgbClr val="5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Everything Gets Full 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 $10K SaaS renewal with an existing vendor gets the same 9-reviewer due diligence as a $2M AI platform from a brand new vendor.</a:t>
            </a:r>
            <a:br/>
            <a:br/>
            <a:r>
              <a:t>Roughly 40-50% of requests could be fast-tracked with minimal review, freeing reviewer capacity for the requests that actually need scrutiny.</a:t>
            </a:r>
            <a:br/>
            <a:br/>
            <a:r>
              <a:t>Tiered routing fixes this on day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11247120" cy="54864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30-Day Plan: Three Phases of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356616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920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#1-3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20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Stop the Bleeding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40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Assign Sherpas, run parallel reviews, pre-screen intake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846320"/>
            <a:ext cx="356616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892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Week 2-3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8920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#4-5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120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Create Rhythm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40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Tier routing, weekly governance stand-up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846320"/>
            <a:ext cx="356616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892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8920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#6-7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120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Measure &amp; Adjust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440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Visible tracking board, enforced SLA deadlines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Stop the Bleeding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Three changes in the first two weeks that immediately impact cycle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78308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Appoint Onboarding Sherpas (Day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663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Assign 2-3 people as dedicated facilitators who own each request end-to-end. The Sherpa tracks where every active request sits, chases reviewers who haven't responded, escalates stalls after 48 hours, and reports weekly to leadership on cycle time.</a:t>
            </a:r>
            <a:br/>
            <a:br/>
            <a:r>
              <a:t>Impact: Immediately surfaces where requests are stuck. Visibility alone cuts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178308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830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Kill Sequential Reviews — Run Parallel (Day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57400"/>
            <a:ext cx="4663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When a request enters Due Diligence, the Sherpa sends the package to ALL reviewers simultaneously with a shared deadline (e.g., 5 business days). No reviewer waits for another to finish first.</a:t>
            </a:r>
            <a:br/>
            <a:br/>
            <a:r>
              <a:t>Impact: Compresses the longest phase from 8-12 weeks to 2-3 weeks. This single change is worth 2-3 months of cycle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406908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Implement a Paper Pre-Screen (Mini RFP on Paper)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10424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Before a request enters the formal pipeline, require a 1-page intake form with 5 deal-killer questions:</a:t>
            </a:r>
            <a:br/>
            <a:br/>
            <a:r>
              <a:t>  •  Is there budget approval?</a:t>
            </a:r>
            <a:br/>
            <a:r>
              <a:t>  •  Is there a business sponsor (VP+ level)?</a:t>
            </a:r>
            <a:br/>
            <a:r>
              <a:t>  •  Does it touch regulated data (PII/PHI/financial)?</a:t>
            </a:r>
            <a:br/>
            <a:r>
              <a:t>  •  Is there an existing contract/vendor relationship?</a:t>
            </a:r>
            <a:br/>
            <a:r>
              <a:t>  •  What's the target go-live?</a:t>
            </a:r>
            <a:br/>
            <a:br/>
            <a:r>
              <a:t>If the first two are "No", the request doesn't enter the pipeline. Today, requests that will never be approved consume weeks of committee time.</a:t>
            </a:r>
            <a:br/>
            <a:br/>
            <a:r>
              <a:t>Impact: Filters out 20-30% of requests before they consume any reviewer bandwidth.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WEEK 2-3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Create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Establish the operating cadence that makes the process predictable.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7830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Tiered Review — Not Everything Gets the Full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Establish 3 risk tiers on paper (maps to DMN_RiskTierClassification):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0604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4114800"/>
                <a:gridCol w="1828800"/>
                <a:gridCol w="23774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Reviewers Required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Target SLA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Escalation Path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6-8 pts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FAST-TRACK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 + 1 reviewer (Security or Compliance)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Sherpa's manager after Day 3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9-13 pts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 key reviewers in parallel (Security, Compliance, Legal, Tech Architecture)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lead after Day 10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14-18 pts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ENHANCED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All 9 reviewers in parallel + executive briefing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CISO/CRO after Day 15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931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Today, a $10K SaaS renewal gets the same scrutiny as a $2M AI platform. 40-50% of requests move to Fast-Track, freeing reviewer capacity for what matters.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45262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2628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Weekly Governance Stand-Up (30 minutes max)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006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Replace monthly committee meetings with a weekly 30-minute stand-up: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5349240"/>
          <a:ext cx="112471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6035040"/>
                <a:gridCol w="182880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Time Box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Agenda Item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B82F6"/>
                          </a:solidFill>
                          <a:latin typeface="Calibri"/>
                        </a:defRPr>
                      </a:pPr>
                      <a:r>
                        <a:t>2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Pipeline Summary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How many requests total? How many in each phase? How many breached SLA?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10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SLA Breaches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Walk through EACH breached request. What is blocking? Who needs to act? Decision: escalate, extend, or kill?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 + Blockers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8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At-Risk Requests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Requests approaching SLA deadline (within 2 business days). What's needed to close on time?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 + Reviewers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New Intake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New requests this week. Quick tier assignment and reviewer identification.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Decisions Needed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Any go/no-go decisions the committee needs to make right now?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Lead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Measure &amp; Adjust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Make progress visible and create accountability through deadlines.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78308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Publish a Visible Kanban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10424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Put every active request on a physical board or simple spreadsheet with columns:</a:t>
            </a:r>
            <a:br/>
            <a:br/>
            <a:r>
              <a:t>    Intake  →  Triage  →  Due Diligence  →  Governance Review  →  Contracting  →  Go-Live</a:t>
            </a:r>
            <a:br/>
            <a:br/>
            <a:r>
              <a:t>Color-code by age: GREEN (on track), YELLOW (approaching SLA), RED (breached).</a:t>
            </a:r>
            <a:br/>
            <a:r>
              <a:t>Update weekly. Post it where leadership walks by.</a:t>
            </a:r>
            <a:br/>
            <a:br/>
            <a:r>
              <a:t>Impact: Social pressure and visibility. When leadership can see that 6 requests have been stuck in "Due Diligence" for 40+ days, things move.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20116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Intake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182880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ONB-007</a:t>
            </a:r>
            <a:br/>
            <a:r>
              <a:t>Slack Enterprise</a:t>
            </a:r>
            <a:br/>
            <a:r>
              <a:t>Day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206240"/>
            <a:ext cx="20116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4251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4526280"/>
            <a:ext cx="1828800" cy="594360"/>
          </a:xfrm>
          <a:prstGeom prst="roundRect">
            <a:avLst/>
          </a:prstGeom>
          <a:solidFill>
            <a:srgbClr val="2A0D0D"/>
          </a:solidFill>
          <a:ln w="12700">
            <a:solidFill>
              <a:srgbClr val="8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4572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7171"/>
                </a:solidFill>
                <a:latin typeface="Calibri"/>
              </a:defRPr>
            </a:pPr>
            <a:r>
              <a:t>ONB-003</a:t>
            </a:r>
            <a:br/>
            <a:r>
              <a:t>AI Analytics</a:t>
            </a:r>
            <a:br/>
            <a:r>
              <a:t>Day 18 (BREACH!)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5212080"/>
            <a:ext cx="182880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52578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ONB-005</a:t>
            </a:r>
            <a:br/>
            <a:r>
              <a:t>CRM Tool</a:t>
            </a:r>
            <a:br/>
            <a:r>
              <a:t>Day 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206240"/>
            <a:ext cx="20116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251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Gov.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526280"/>
            <a:ext cx="182880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4572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ONB-002</a:t>
            </a:r>
            <a:br/>
            <a:r>
              <a:t>Snowflake</a:t>
            </a:r>
            <a:br/>
            <a:r>
              <a:t>Day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206240"/>
            <a:ext cx="20116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251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Contracting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4526280"/>
            <a:ext cx="182880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4572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ONB-001</a:t>
            </a:r>
            <a:br/>
            <a:r>
              <a:t>ServiceNow</a:t>
            </a:r>
            <a:br/>
            <a:r>
              <a:t>Day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4206240"/>
            <a:ext cx="20116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251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Go-Live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(empty)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06240"/>
            <a:ext cx="9144" cy="914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" y="434340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343400"/>
            <a:ext cx="-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1097280" y="4617720"/>
            <a:ext cx="-813816" cy="-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"/>
            <a:ext cx="112471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68580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Set and Enforce SLA Deadlines (with Escalation)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60120"/>
            <a:ext cx="104241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Publish target timelines per phase. The escalation path is the enforcement mechanism — no technology needed, just the Sherpa sending an email: "This review is 3 days past SLA. Escalating per policy."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459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  <a:gridCol w="3108960"/>
                <a:gridCol w="310896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SLA Target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Warning At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Level 1 Escalation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Level 2 Escalation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Intake / Triage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1 (50%)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Sherpa's manager (Day 2)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Lead (Day 3)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Planning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3 (60%)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Lead (Day 5)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CRO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Due Diligence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10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7 (70%)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CISO / CLO (Day 10)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CRO + CFO (Day 14)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Individual Review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3 (60%)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Reviewer's manager (Day 5)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Domain head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Review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3 (60%)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CRO (Day 5)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COO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Contracting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5 (70%)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CLO / CPO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CFO (Day 10)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UAT / Go-Live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3 (60%)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Project Sponsor (Day 5)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CTO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463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alibri"/>
              </a:defRPr>
            </a:pPr>
            <a:r>
              <a:t>Impact: Creates accountability where none exists today. Decisions that currently wait 2-4 weeks for the next committee meeting happen within 5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Expected 30-Day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Conservative estimates based on peer financial services implementations.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  <a:gridCol w="393192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Current State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After 30 Days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Driver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Avg Cycle Time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6-9 months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3-4 months (new requests)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Parallel reviews + tiered routing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Requests in Limbo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100% visible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Tracking board + weekly stand-up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Reviewer Bottleneck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Hidden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Identified by name/team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SLA escalation ladder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Low-Value Requests Consuming Capacity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~30%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Filtered at intake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Pre-screen deal-killers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Decision Latency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2-4 weeks (next committee)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&lt;5 days (weekly stand-up)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Weekly governance cadence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Three Biggest Wins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62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5720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Parallel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46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Compresses Due Diligence from 8-12 weeks to 2-3 weeks. This single change recovers 2-3 months of cycle time per request. The reviews themselves aren't slow — the sequential scheduling 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5262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5720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572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Tiered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Moves 40-50% of requests to Fast-Track (5-day SLA vs 25-day). Frees reviewer capacity so Enhanced-tier requests get faster attention too. Net effect: everyone moves faster.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5262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5720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572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Sherpa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846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One person owns elapsed time per request. Chases reviewers, escalates stalls, reports weekly. Turns "nobody's watching" into "someone is always watching."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Sherpa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8 ready-to-use forms, templates, and checklists that give the Sherpa</a:t>
            </a:r>
            <a:br/>
            <a:r>
              <a:t>a mechanistic, repeatable process from intake to close-out.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347472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Intake</a:t>
            </a:r>
            <a:br/>
            <a:r>
              <a:t>Pre-Screen</a:t>
            </a:r>
          </a:p>
        </p:txBody>
      </p:sp>
      <p:sp>
        <p:nvSpPr>
          <p:cNvPr id="7" name="Oval 6"/>
          <p:cNvSpPr/>
          <p:nvPr/>
        </p:nvSpPr>
        <p:spPr>
          <a:xfrm>
            <a:off x="2423160" y="34747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41148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Risk Tier</a:t>
            </a:r>
            <a:br/>
            <a:r>
              <a:t>Classification</a:t>
            </a:r>
          </a:p>
        </p:txBody>
      </p:sp>
      <p:sp>
        <p:nvSpPr>
          <p:cNvPr id="9" name="Oval 8"/>
          <p:cNvSpPr/>
          <p:nvPr/>
        </p:nvSpPr>
        <p:spPr>
          <a:xfrm>
            <a:off x="3840480" y="34747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1148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Request</a:t>
            </a:r>
            <a:br/>
            <a:r>
              <a:t>Tracker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34747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41148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Parallel Review</a:t>
            </a:r>
            <a:br/>
            <a:r>
              <a:t>Kickoff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34747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Weekly</a:t>
            </a:r>
            <a:br/>
            <a:r>
              <a:t>Stand-Up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347472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1148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SLA</a:t>
            </a:r>
            <a:br/>
            <a:r>
              <a:t>Escalation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0" y="347472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1148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Phase</a:t>
            </a:r>
            <a:br/>
            <a:r>
              <a:t>Checklists</a:t>
            </a:r>
          </a:p>
        </p:txBody>
      </p:sp>
      <p:sp>
        <p:nvSpPr>
          <p:cNvPr id="19" name="Oval 18"/>
          <p:cNvSpPr/>
          <p:nvPr/>
        </p:nvSpPr>
        <p:spPr>
          <a:xfrm>
            <a:off x="10927080" y="34747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41148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Close-Out</a:t>
            </a:r>
            <a:br/>
            <a:r>
              <a:t>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These forms are the manual version of what we'll automate in Camunda. The process improvement comes first — the technology enforces it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37160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Onboarding Sherpa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91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Calibri"/>
              </a:defRPr>
            </a:pPr>
            <a:r>
              <a:t>Manual Process Forms, Templates &amp; Checklists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931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Software Onboarding Lifecycle  |  Financial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583680"/>
            <a:ext cx="12191695" cy="274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Zero technology required  •  Implementable in 30 days  •  8 ready-to-use 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Toolkit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8 forms and templates that give the Sherpa a mechanistic, repeatable process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41732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Intake Pre-Screen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Filter requests before they enter the pipeline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05740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Risk Tier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86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Score and route to Fast-Track / Standard / Enhanced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697479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Request Tracking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260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Kanban + register for all in-flight requests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37559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918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Parallel Review Kickoff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9-reviewer assignment matrix and kickoff email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Weekly Governance Stand-Up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06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30-minute agenda, notes template, summary email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1772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SLA Escalation Playbook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46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Escalation ladder with 3-level email templates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257799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120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Transition Checklists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8639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Gate checklists for every phase boundary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897879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8521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Request Close-Out 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61264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SLA performance capture and lessons learned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1371600"/>
            <a:ext cx="4846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14630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Expected 30-Day Impact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132320" y="1920240"/>
          <a:ext cx="43891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914400"/>
                <a:gridCol w="146304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After 30d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How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Avg Cycle Time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6-9 months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3-4 months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Parallel reviews + tiered routing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Requests in Limbo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100% visible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Tracking board + weekly stand-up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Reviewer Bottleneck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Hidden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Named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SLA escalation ladder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Low-Value Filtering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~0%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20-30%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Pre-screen deal-killers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Decision Latency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2-4 weeks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&lt;5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Weekly governance stand-up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FORM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Intake Pre-Screen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Complete BEFORE entering a request into the formal pipeline. ~10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Requester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Requester Name *                    Department / BU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Email                               Date Submitted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Software / Vendor Name *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Request Type *    (New Vendor | Existing Vendor | Renewal | Upgrade | Build | Forced Update)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Target Go-Live Date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Business Problem / Need *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Existing Solutions Considered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2011680"/>
          </a:xfrm>
          <a:prstGeom prst="roundRect">
            <a:avLst/>
          </a:prstGeom>
          <a:solidFill>
            <a:srgbClr val="2A0D0D"/>
          </a:solidFill>
          <a:ln w="12700">
            <a:solidFill>
              <a:srgbClr val="6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Deal-Killer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If ANY is "No", request cannot proceed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7171"/>
                </a:solidFill>
                <a:latin typeface="Calibri"/>
              </a:defRPr>
            </a:pPr>
            <a:r>
              <a:t>☐  Budget Approval: Has a budget been identified or pre-approved?</a:t>
            </a:r>
          </a:p>
          <a:p>
            <a:pPr>
              <a:spcAft>
                <a:spcPts val="400"/>
              </a:spcAft>
              <a:defRPr sz="1000">
                <a:solidFill>
                  <a:srgbClr val="F87171"/>
                </a:solidFill>
                <a:latin typeface="Calibri"/>
              </a:defRPr>
            </a:pPr>
            <a:r>
              <a:t>☐  Business Sponsor: Is there an executive sponsor (VP+ level)?</a:t>
            </a:r>
          </a:p>
          <a:p>
            <a:pPr>
              <a:spcAft>
                <a:spcPts val="400"/>
              </a:spcAft>
              <a:defRPr sz="1000">
                <a:solidFill>
                  <a:srgbClr val="F87171"/>
                </a:solidFill>
                <a:latin typeface="Calibri"/>
              </a:defRPr>
            </a:pPr>
            <a:r>
              <a:t>☐  Not a Duplicate: Confirmed not already in-flight or in portfolio?</a:t>
            </a:r>
          </a:p>
          <a:p>
            <a:pPr>
              <a:spcAft>
                <a:spcPts val="400"/>
              </a:spcAft>
              <a:defRPr sz="1000">
                <a:solidFill>
                  <a:srgbClr val="F87171"/>
                </a:solidFill>
                <a:latin typeface="Calibri"/>
              </a:defRPr>
            </a:pPr>
            <a:r>
              <a:t>☐  Organizational Alignment: Aligns with strategic initiative?</a:t>
            </a:r>
          </a:p>
          <a:p>
            <a:pPr>
              <a:spcAft>
                <a:spcPts val="400"/>
              </a:spcAft>
              <a:defRPr sz="1000">
                <a:solidFill>
                  <a:srgbClr val="F87171"/>
                </a:solidFill>
                <a:latin typeface="Calibri"/>
              </a:defRPr>
            </a:pPr>
            <a:r>
              <a:t>☐  Realistic Timeline: Go-live at least 30 days out (60 for new)?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Classification (Quick Screen)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Check all that apply — determines risk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☐  PII (Personally Identifiable Information)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☐  PHI (Protected Health Information)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☐  Financial transaction data (SOX-relevant)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☐  AI / machine learning models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☐  Critical infrastructure (core banking, payments)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☐  Cloud-hosted by third party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☐  Cross-border data transfer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☐  None of the above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Sherpa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Decision options: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PROCEED — Enter into pipeline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RETURN — Missing information (specify)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REJECT — Deal-killer not met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REDIRECT — Existing solution 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2064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Sherpa Name: ________________________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94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Notes / Conditions: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623560"/>
            <a:ext cx="50292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FORM 1 •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Intake Email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Copy and customize for common intake communications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Pre-Screen Rejection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Subject: Software Request Pre-Screen - Action Required</a:t>
            </a:r>
            <a:br/>
            <a:br/>
            <a:r>
              <a:t>Hi [Requester Name],</a:t>
            </a:r>
            <a:br/>
            <a:br/>
            <a:r>
              <a:t>Thank you for submitting your request for [Software/Vendor].</a:t>
            </a:r>
            <a:br/>
            <a:br/>
            <a:r>
              <a:t>After our pre-screen review, we've identified the following</a:t>
            </a:r>
            <a:br/>
            <a:r>
              <a:t>items that need to be addressed before we can enter this</a:t>
            </a:r>
            <a:br/>
            <a:r>
              <a:t>into the formal onboarding pipeline:</a:t>
            </a:r>
            <a:br/>
            <a:br/>
            <a:r>
              <a:t>  [  ] Budget approval from cost center owner</a:t>
            </a:r>
            <a:br/>
            <a:r>
              <a:t>  [  ] Executive sponsor identified (VP+ level)</a:t>
            </a:r>
            <a:br/>
            <a:r>
              <a:t>  [  ] Confirmation no existing solution covers this need</a:t>
            </a:r>
            <a:br/>
            <a:r>
              <a:t>  [  ] Strategic alignment documentation</a:t>
            </a:r>
            <a:br/>
            <a:r>
              <a:t>  [  ] Realistic timeline (minimum 30 days)</a:t>
            </a:r>
            <a:br/>
            <a:br/>
            <a:r>
              <a:t>Please provide the missing items and resubmit.</a:t>
            </a:r>
            <a:br/>
            <a:br/>
            <a:r>
              <a:t>If this is an emergency or regulatory-mandated change,</a:t>
            </a:r>
            <a:br/>
            <a:r>
              <a:t>let me know and we'll route it through our expedited path.</a:t>
            </a:r>
            <a:br/>
            <a:br/>
            <a:r>
              <a:t>[Sherpa Name], Onboarding Facilitator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Request Accepted -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Subject: Software Onboarding Request Accepted - [Tracking ID]</a:t>
            </a:r>
            <a:br/>
            <a:br/>
            <a:r>
              <a:t>Hi [Requester Name],</a:t>
            </a:r>
            <a:br/>
            <a:br/>
            <a:r>
              <a:t>Your request for [Software/Vendor Name] has passed</a:t>
            </a:r>
            <a:br/>
            <a:r>
              <a:t>pre-screening and is now in our onboarding pipeline.</a:t>
            </a:r>
            <a:br/>
            <a:br/>
            <a:r>
              <a:t>  Tracking ID:    [ONB-2026-XXX]</a:t>
            </a:r>
            <a:br/>
            <a:r>
              <a:t>  Risk Tier:      [Fast-Track / Standard / Enhanced]</a:t>
            </a:r>
            <a:br/>
            <a:r>
              <a:t>  Target SLA:     [5 / 15 / 25] business days</a:t>
            </a:r>
            <a:br/>
            <a:r>
              <a:t>  Your Sherpa:    [Sherpa Name]</a:t>
            </a:r>
            <a:br/>
            <a:br/>
            <a:r>
              <a:t>Next Steps:</a:t>
            </a:r>
            <a:br/>
            <a:r>
              <a:t>1. I will coordinate with the required review teams</a:t>
            </a:r>
            <a:br/>
            <a:r>
              <a:t>2. You may be contacted for additional details</a:t>
            </a:r>
            <a:br/>
            <a:r>
              <a:t>3. I'll send you weekly status updates every [Day]</a:t>
            </a:r>
            <a:br/>
            <a:br/>
            <a:r>
              <a:t>You can reach me directly with any questions. I'm your</a:t>
            </a:r>
            <a:br/>
            <a:r>
              <a:t>single point of contact throughout this process.</a:t>
            </a:r>
            <a:br/>
            <a:br/>
            <a:r>
              <a:t>[Sherpa Name], Onboarding Facilitator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FORM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Tier Classification Worksheet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Score each dimension 1-3. Total determines Fast-Track / Standard / Enhanced review level.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743200"/>
                <a:gridCol w="2743200"/>
                <a:gridCol w="13716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1 - Low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2 - Medium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3 - High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Data Sensitivity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 PII/PHI, public data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Internal data, limited PII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Regulated (PII/PHI/SOX)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Vendor Criticality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Existing vendor, proven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Known vendor, new product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New vendor, no history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Financial Exposure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Under $50K annual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$50K - $500K annual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Over $500K annual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Integration Complexity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Standalone SaaS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API with non-critical systems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Core banking / payments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 / ML Usage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 AI components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 features (analytics)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 in decisions (credit/fraud)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Regulatory Exposure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 regulatory reqs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Standard (GDPR, SOX)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Multi-reg (OCC, DORA, EU AI)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TOTAL: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Tier Routing Guide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521208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3200400"/>
                <a:gridCol w="1371600"/>
                <a:gridCol w="402336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Reviewers Required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Target SLA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Escalation Path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6-8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FAST-TRACK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 + 1 reviewer (Security or Compliance)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Sherpa's manager after Day 3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9-13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 reviewers parallel (Security, Compliance, Legal, Tech Arch)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lead after Day 10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14-18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ENHANCED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All 9 reviewers parallel + executive briefing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25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CISO/CRO after Day 15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Override: If ANY single dimension = 3, minimum tier is Standard. AI + Regulatory both = 3 → Enhanced automatically.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TOOL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Request Tracking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Visual tracker for all active requests. Update weekly. Color-code by SLA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Intake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8288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E8F0"/>
                </a:solidFill>
                <a:latin typeface="Calibri"/>
              </a:defRPr>
            </a:pPr>
            <a:r>
              <a:t>[Request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1737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Day X of Y  | 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600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920240"/>
            <a:ext cx="18288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9385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E8F0"/>
                </a:solidFill>
                <a:latin typeface="Calibri"/>
              </a:defRPr>
            </a:pPr>
            <a:r>
              <a:t>[Request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21408"/>
            <a:ext cx="1737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Day X of Y  |  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554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600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Gov.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920240"/>
            <a:ext cx="18288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9385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E8F0"/>
                </a:solidFill>
                <a:latin typeface="Calibri"/>
              </a:defRPr>
            </a:pPr>
            <a:r>
              <a:t>[Request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21408"/>
            <a:ext cx="1737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Day X of Y  |  Tier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554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600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Contracting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920240"/>
            <a:ext cx="18288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9385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E8F0"/>
                </a:solidFill>
                <a:latin typeface="Calibri"/>
              </a:defRPr>
            </a:pPr>
            <a:r>
              <a:t>[Request Name]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121408"/>
            <a:ext cx="1737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Day X of Y  |  Tier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554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600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Go-Live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1920240"/>
            <a:ext cx="18288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19385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E8F0"/>
                </a:solidFill>
                <a:latin typeface="Calibri"/>
              </a:defRPr>
            </a:pPr>
            <a:r>
              <a:t>[Request Name]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121408"/>
            <a:ext cx="1737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Day X of Y  |  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Active Request Register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319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Master list — print weekly for the stand-up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57200" y="420624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63040"/>
                <a:gridCol w="1097280"/>
                <a:gridCol w="731520"/>
                <a:gridCol w="1280160"/>
                <a:gridCol w="914400"/>
                <a:gridCol w="914400"/>
                <a:gridCol w="914400"/>
                <a:gridCol w="301752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Software/Vendor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Requester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Current Phase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Days In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SLA Target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Blocker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ONB-001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Snowflake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J. Smith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Due Diligence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15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On Track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ONB-002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Custom CRM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A. Jones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Enh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Gov. Review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25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At Risk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Waiting on security assessment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ONB-003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Slack Enterprise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M. Chen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Fast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Contracting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On Track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ONB-004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 Analytics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R. Patel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Enh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Due Diligence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25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Breached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Legal review overdue 3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FORM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Parallel Review Kickoff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Send to ALL required reviewers simultaneously. Do NOT wait for sequential reviews.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1828800"/>
                <a:gridCol w="1371600"/>
                <a:gridCol w="1371600"/>
                <a:gridCol w="393192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Req'd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Review Domain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Reviewer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Sent Date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Due Date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☑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Security Assessment</a:t>
                      </a:r>
                    </a:p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 testing, vuln scan, architecture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Sent / Sent / In Review / Complete / Overdue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 Architecture</a:t>
                      </a:r>
                    </a:p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Integration, scalability, infrastructure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Sent / Sent / In Review / Complete / Overdue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Assessment</a:t>
                      </a:r>
                    </a:p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Operational, financial, reputational risk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Sent / Sent / In Review / Complete / Overdue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Compliance Review</a:t>
                      </a:r>
                    </a:p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Regulatory mapping, control requirements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Sent / Sent / In Review / Complete / Overdue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Privacy Assessment</a:t>
                      </a:r>
                    </a:p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GDPR/CCPA, data classification, cross-border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Sent / Sent / In Review / Complete / Overdue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Legal Review</a:t>
                      </a:r>
                    </a:p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Contract terms, IP, liability, indemnification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Sent / Sent / In Review / Complete / Overdue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Financial Analysis</a:t>
                      </a:r>
                    </a:p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TCO, ROI, budget impact, NPV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Sent / Sent / In Review / Complete / Overdue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Vendor Landscape</a:t>
                      </a:r>
                    </a:p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Alternative vendors, market analysis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Sent / Sent / In Review / Complete / Overdue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Governance</a:t>
                      </a:r>
                    </a:p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risk, EU AI Act, SR 11-7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____/____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Sent / Sent / In Review / Complete / Overdue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FORM 4 •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Review Kickoff &amp;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Review Kickoff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Subject: REVIEW REQUESTED - [Software] - Due [Date]</a:t>
            </a:r>
            <a:br/>
            <a:br/>
            <a:r>
              <a:t>Hi [Reviewer Name],</a:t>
            </a:r>
            <a:br/>
            <a:br/>
            <a:r>
              <a:t>A software onboarding request requires your</a:t>
            </a:r>
            <a:br/>
            <a:r>
              <a:t>[Domain] review.</a:t>
            </a:r>
            <a:br/>
            <a:br/>
            <a:r>
              <a:t>  Request ID:     [ONB-2026-XXX]</a:t>
            </a:r>
            <a:br/>
            <a:r>
              <a:t>  Software:       [Name and brief description]</a:t>
            </a:r>
            <a:br/>
            <a:r>
              <a:t>  Vendor:         [Name, existing/new]</a:t>
            </a:r>
            <a:br/>
            <a:r>
              <a:t>  Risk Tier:      [Fast-Track / Standard / Enhanced]</a:t>
            </a:r>
            <a:br/>
            <a:r>
              <a:t>  Your Deadline:  [Date - X business days]</a:t>
            </a:r>
            <a:br/>
            <a:br/>
            <a:r>
              <a:t>YOUR REVIEW SCOPE:</a:t>
            </a:r>
            <a:br/>
            <a:r>
              <a:t>  [Specific questions for this domain]</a:t>
            </a:r>
            <a:br/>
            <a:br/>
            <a:r>
              <a:t>DELIVERABLE:</a:t>
            </a:r>
            <a:br/>
            <a:r>
              <a:t>Pass / Conditional Pass / Fail with findings.</a:t>
            </a:r>
            <a:br/>
            <a:br/>
            <a:r>
              <a:t>NOTE: This review runs IN PARALLEL with [N]</a:t>
            </a:r>
            <a:br/>
            <a:r>
              <a:t>other reviews. You do NOT need to wait.</a:t>
            </a:r>
            <a:br/>
            <a:br/>
            <a:r>
              <a:t>If you cannot meet the deadline, let me know</a:t>
            </a:r>
            <a:br/>
            <a:r>
              <a:t>by [Date + 1] so I can arrange coverage.</a:t>
            </a:r>
            <a:br/>
            <a:br/>
            <a:r>
              <a:t>[Sherpa Name]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Reviewer Findings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Consolidate before presenting to governance committee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78308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28346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Key Findings / Conditions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 / Cond / Fail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Tech Arch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 / Cond / Fail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 / Cond / Fail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Compliance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 / Cond / Fail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Privacy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 / Cond / Fail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Legal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 / Cond / Fail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Financial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 / Cond / Fail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Vendor Landscape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 / Cond / Fail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 Governance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 / Cond / Fail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TEMPLATE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Weekly Governance Stand-Up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30-minute maximum. Same time every week. Sherpa facilitates. Status and decisions only — no deep dives.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6035040"/>
                <a:gridCol w="182880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Time Box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Agenda Item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B82F6"/>
                          </a:solidFill>
                          <a:latin typeface="Calibri"/>
                        </a:defRPr>
                      </a:pPr>
                      <a:r>
                        <a:t>2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Pipeline Summary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How many requests total? How many in each phase? How many breached SLA?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7171"/>
                          </a:solidFill>
                          <a:latin typeface="Calibri"/>
                        </a:defRPr>
                      </a:pPr>
                      <a:r>
                        <a:t>10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SLA Breaches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Walk through EACH breached request. What is blocking? Who needs to act? Decision: escalate, extend, or kill?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 + Blockers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BBF24"/>
                          </a:solidFill>
                          <a:latin typeface="Calibri"/>
                        </a:defRPr>
                      </a:pPr>
                      <a:r>
                        <a:t>8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At-Risk Requests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Requests approaching SLA deadline (within 2 days). What's needed to close on time?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 + Reviewers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New Intake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Any new requests entering the pipeline this week? Quick tier assignment and reviewer identification.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Decisions Needed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Any go/no-go decisions the committee needs to make right now? Governance approvals waiting?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Lead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114800"/>
            <a:ext cx="11247120" cy="548640"/>
          </a:xfrm>
          <a:prstGeom prst="roundRect">
            <a:avLst/>
          </a:prstGeom>
          <a:solidFill>
            <a:srgbClr val="0D1A2A"/>
          </a:solidFill>
          <a:ln w="12700">
            <a:solidFill>
              <a:srgbClr val="20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Ground Rules: No deep-dive discussions. If a topic needs &gt; 2 minutes, schedule separately. Sherpa publishes action items within 1 hour.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54864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Meeting Notes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Meeting Date: ____/____/____    Attendees: ________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SLA Breaches: ID | Blocker | Decision | Owner | Deadline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At-Risk Items: ID | Risk | Mitigation | Owner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Decisions Made: Decision | Rationale | Who needs to know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Action Items: Action | Owner | Due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46320"/>
            <a:ext cx="54864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Post-Meeting Summary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Subject: Governance Stand-Up Summary - [Date]</a:t>
            </a:r>
            <a:br/>
            <a:br/>
            <a:r>
              <a:t>Pipeline: [N] active | [N] breached | [N] new</a:t>
            </a:r>
            <a:br/>
            <a:r>
              <a:t>SLA Breaches: [IDs and decisions]</a:t>
            </a:r>
            <a:br/>
            <a:r>
              <a:t>At-Risk: [IDs and needed actions]</a:t>
            </a:r>
            <a:br/>
            <a:r>
              <a:t>Decisions: [Made this week]</a:t>
            </a:r>
            <a:br/>
            <a:r>
              <a:t>Action Items: [Owner - action - due date]</a:t>
            </a:r>
            <a:br/>
            <a:br/>
            <a:r>
              <a:t>Next stand-up: [Date/Time]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TEMPLATE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SLA Escalation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The Sherpa owns escalation. Do not wait for someone else to notice a breach.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  <a:gridCol w="2743200"/>
                <a:gridCol w="347472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SLA Target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Warning Sent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Level 1 Escalation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Level 2 Escalation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Intake / Triage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1 (50%)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Sherpa's manager (Day 2)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Lead (Day 3)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Planning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3 (60%)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Lead (Day 5)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CRO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Due Diligence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10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7 (70%)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CISO / CLO (Day 10)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CRO + CFO (Day 14)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Individual Review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3 (60%)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Reviewer's manager (Day 5)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Domain head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Governance Review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3 (60%)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CRO (Day 5)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COO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Contracting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5 (70%)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CLO / CPO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CFO (Day 10)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UAT / Go-Live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 business days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Day 3 (60%)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Project Sponsor (Day 5)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CTO (Day 7)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Three Escalation Email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20640"/>
            <a:ext cx="356616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166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Level 0: Friendly Reminder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94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At warning threshold</a:t>
            </a:r>
            <a:br/>
            <a:br/>
            <a:r>
              <a:t>"Quick reminder that your [domain]</a:t>
            </a:r>
            <a:br/>
            <a:r>
              <a:t>review is due in [N] days.</a:t>
            </a:r>
            <a:br/>
            <a:br/>
            <a:r>
              <a:t>If you need info or are blocked,</a:t>
            </a:r>
            <a:br/>
            <a:r>
              <a:t>let me know so I can help."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5120640"/>
            <a:ext cx="356616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5166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Level 1: Formal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394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At SLA breach</a:t>
            </a:r>
            <a:br/>
            <a:br/>
            <a:r>
              <a:t>"I'm escalating [ONB-XXX] which</a:t>
            </a:r>
            <a:br/>
            <a:r>
              <a:t>has exceeded its SLA in [Phase].</a:t>
            </a:r>
            <a:br/>
            <a:br/>
            <a:r>
              <a:t>SLA Target: [N] days</a:t>
            </a:r>
            <a:br/>
            <a:r>
              <a:t>Actual: [N] days (overdue [N])</a:t>
            </a:r>
            <a:br/>
            <a:r>
              <a:t>Blocker: [specific reason]"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120640"/>
            <a:ext cx="356616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5166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Level 2: Executive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3949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After Level 1 fails</a:t>
            </a:r>
            <a:br/>
            <a:br/>
            <a:r>
              <a:t>"[ONB-XXX] has been stalled for</a:t>
            </a:r>
            <a:br/>
            <a:r>
              <a:t>[N] days beyond SLA. Level 1 on</a:t>
            </a:r>
            <a:br/>
            <a:r>
              <a:t>[Date] has not resolved.</a:t>
            </a:r>
            <a:br/>
            <a:br/>
            <a:r>
              <a:t>OPTIONS:</a:t>
            </a:r>
            <a:br/>
            <a:r>
              <a:t>1. [Recommended path]</a:t>
            </a:r>
            <a:br/>
            <a:r>
              <a:t>2. [Alternative]</a:t>
            </a:r>
            <a:br/>
            <a:r>
              <a:t>3. Kill the request"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CHECKLISTS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Transition Checklists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 request cannot advance until ALL items checked. Sherpa verifies and obtains sign-off.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Phase 1: Intake →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Pre-screen form completed (all deal-killers pass)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Existing portfolio checked (no duplicate)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Data classification completed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Risk tier assigned (Fast-Track / Standard / Enhanced)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Executive sponsor confirmed  [Requester]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Request entered in tracking register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Requester notified with tracking ID and SLA  [Sherpa]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6616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Phase 2: Planning → Due Diligence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Buy vs Build pathway determined  [Governance]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NDA executed (if new vendor)  [Legal]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Preliminary business analysis documented  [Business]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Review team identified based on tier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Vendor documentation package assembled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Review kickoff package prepared  [Sherpa]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Phase 3: Due Diligence → Gov.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ALL required reviews completed (per tier)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Findings consolidated (pass/cond/fail per domain)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No unresolved "Fail" findings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Conditional findings have remediation plans  [Reviewers]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Vendor DD response received and evaluated  [Procurement]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Governance committee briefing prepared  [Sherpa]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60"/>
            <a:ext cx="3566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Phase 4: Gov. Review → Contracting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257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Committee vote recorded  [Governance]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Conditions documented (if conditional)  [Governance]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Rejection communicated (if rejected)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Approval memo signed  [Gov. Lead]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Budget authorization confirmed  [Finance]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Contract requirements identified  [Legal]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937760"/>
            <a:ext cx="3566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Phase 5: Contracting → Go-Live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257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Contract fully executed (both parties)  [Legal]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SLA terms documented in contract  [Legal]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Security controls contractually required  [Security]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UAT plan with acceptance criteria  [Business]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Implementation timeline agreed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Conditional items remediated/tracked  [Sherpa]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937760"/>
            <a:ext cx="356616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983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Close-Out: Go-Live →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257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UAT completed and signed off  [Business]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Production deployment completed  [IT]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Monitoring and alerting configured  [IT/Security]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Onboarding record archived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Requester notified of completion  [Sherpa]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Monitoring cadence assigned (per tier)  [Governance]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Calibri"/>
              </a:defRPr>
            </a:pPr>
            <a:r>
              <a:t>☐ Contract renewal date flagged  [Sherpa]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B82F6"/>
                </a:solidFill>
                <a:latin typeface="Calibri"/>
              </a:defRPr>
            </a:pPr>
            <a:r>
              <a:t>FORM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Request Close-Out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Complete when a request reaches a terminal state. This is the permanent record.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Close-Out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Request ID: ONB-____-____          Software: ____________________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Outcome:  ☐ Onboarded   ☐ Rejected   ☐ Withdrawn   ☐ Redirected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Risk Tier: ☐ Fast-Track   ☐ Standard   ☐ Enhanced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Date Submitted: ____/____   Date Closed: ____/____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Total Elapsed Days: 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SLA Performance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920240"/>
          <a:ext cx="5120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19202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Actual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Delay Reason</a:t>
                      </a:r>
                    </a:p>
                  </a:txBody>
                  <a:tcPr marL="72000" marR="72000" marT="36000" marB="36000"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Intake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Planning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Due Diligence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10d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Gov. Review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Contracting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Go-Live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5d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____</a:t>
                      </a: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</a:p>
                  </a:txBody>
                  <a:tcPr marL="72000" marR="72000" marT="36000" marB="36000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3566160"/>
            <a:ext cx="548640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Lessons Learned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5029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Review quarterly to improve the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What went well?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________________________________________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What caused delays?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________________________________________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Process improvement suggestions: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alibri"/>
              </a:defRPr>
            </a:pPr>
            <a:r>
              <a:t>________________________________________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66160"/>
            <a:ext cx="548640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Close-Out Notification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onsolas"/>
              </a:defRPr>
            </a:pPr>
            <a:r>
              <a:t>Subject: Onboarding Complete - [Software Name]</a:t>
            </a:r>
            <a:br/>
            <a:br/>
            <a:r>
              <a:t>Hi [Requester],</a:t>
            </a:r>
            <a:br/>
            <a:br/>
            <a:r>
              <a:t>  Request ID:     [ONB-2026-XXX]</a:t>
            </a:r>
            <a:br/>
            <a:r>
              <a:t>  Outcome:        [Onboarded / Rejected / Withdrawn]</a:t>
            </a:r>
            <a:br/>
            <a:r>
              <a:t>  Total Duration: [N] business days</a:t>
            </a:r>
            <a:br/>
            <a:r>
              <a:t>  SLA Met:        [Yes / No - overdue by N days]</a:t>
            </a:r>
            <a:br/>
            <a:br/>
            <a:r>
              <a:t>If onboarded:</a:t>
            </a:r>
            <a:br/>
            <a:r>
              <a:t>  Monitoring:     [Team/Person]</a:t>
            </a:r>
            <a:br/>
            <a:r>
              <a:t>  Review cadence: [Quarterly / Semi-annual / Annual]</a:t>
            </a:r>
            <a:br/>
            <a:r>
              <a:t>  Contract renewal: [Date]</a:t>
            </a:r>
            <a:br/>
            <a:br/>
            <a:r>
              <a:t>If rejected:</a:t>
            </a:r>
            <a:br/>
            <a:r>
              <a:t>  Rationale: [Summary]</a:t>
            </a:r>
            <a:br/>
            <a:r>
              <a:t>  Alternatives: [If applicable]</a:t>
            </a:r>
            <a:br/>
            <a:br/>
            <a:r>
              <a:t>[Sherpa Name], Onboarding Facilitator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Sherpa Quick Reference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Print this page and keep at your desk. One card for the entire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Lifecycle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00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2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Pre-screen, deal-killers, tier assign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774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Pathway, NDA, review team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DUE DILIGENCE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546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10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55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 reviews IN PARALLEL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 GOV.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9319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330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Committee vote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5. CONTRACTING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7091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7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10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Contract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6. GO-LIVE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4864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87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UAT, deploy, monitor setup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1188720"/>
            <a:ext cx="3840480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Sherpa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15544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YOU own elapsed time. Nobody else is watching.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0116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NEVER wait for sequential reviews. Send all at once.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4688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ALWAYS set a deadline. No open-ended requests.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9260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ESCALATE at threshold. Not after. Not before.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WEEKLY stand-up is sacred. 30 min, no exceptions.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8404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TRACK everything. If it's not on the board, it doesn't exist.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2976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FILTER early. 1 rejected pre-screen saves 10 reviewer-hours.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7548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CLOSE the loop. Requester hears from you, not silence.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2120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9.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MEASURE cycle time. What gets measured gets improved.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669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10.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DOCUMENT lessons learned. Every close-out form, every time.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1188720"/>
            <a:ext cx="33832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1234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Tier Cheat Sheet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1600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FAST-TRACK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17830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6-8 pts  |  5 days  |  1 reviewer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22402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2423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9-13 pts  |  15 days  |  4 reviewers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2880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ENHANCED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30632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14-18 pts  |  25 days  |  9 reviewers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3840480"/>
            <a:ext cx="3383280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Escalation Cheat Sheet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2519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At 50-70% of SLA: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441655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Send friendly reminder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48006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At 100% of SLA: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96519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Level 1 → reviewer's manager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53492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At 140% of SLA: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551383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Level 2 → executive (CISO/CRO/CFO)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58978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Key principle: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20" y="606247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Be factual, not emotional.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6208776"/>
            <a:ext cx="3017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Options, not complaints.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