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(days)</c:v>
                </c:pt>
              </c:strCache>
            </c:strRef>
          </c:tx>
          <c:spPr>
            <a:solidFill>
              <a:srgbClr val="CBD5E1"/>
            </a:solidFill>
          </c:spPr>
          <c:cat>
            <c:strRef>
              <c:f>Sheet1!$A$2:$A$7</c:f>
              <c:strCache>
                <c:ptCount val="6"/>
                <c:pt idx="0">
                  <c:v>Vendor Evidence
Collection</c:v>
                </c:pt>
                <c:pt idx="1">
                  <c:v>Contract Review
Cycle</c:v>
                </c:pt>
                <c:pt idx="2">
                  <c:v>Committee
Scheduling</c:v>
                </c:pt>
                <c:pt idx="3">
                  <c:v>Compliance Gap
Analysis</c:v>
                </c:pt>
                <c:pt idx="4">
                  <c:v>DPA
Negotiation</c:v>
                </c:pt>
                <c:pt idx="5">
                  <c:v>Risk Tier
Classification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</c:v>
                </c:pt>
                <c:pt idx="1">
                  <c:v>20</c:v>
                </c:pt>
                <c:pt idx="2">
                  <c:v>12</c:v>
                </c:pt>
                <c:pt idx="3">
                  <c:v>10</c:v>
                </c:pt>
                <c:pt idx="4">
                  <c:v>8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(days)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Vendor Evidence
Collection</c:v>
                </c:pt>
                <c:pt idx="1">
                  <c:v>Contract Review
Cycle</c:v>
                </c:pt>
                <c:pt idx="2">
                  <c:v>Committee
Scheduling</c:v>
                </c:pt>
                <c:pt idx="3">
                  <c:v>Compliance Gap
Analysis</c:v>
                </c:pt>
                <c:pt idx="4">
                  <c:v>DPA
Negotiation</c:v>
                </c:pt>
                <c:pt idx="5">
                  <c:v>Risk Tier
Classification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7</c:v>
                </c:pt>
                <c:pt idx="2">
                  <c:v>5</c:v>
                </c:pt>
                <c:pt idx="3">
                  <c:v>3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Vendor Onboarding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Ideal State — Procurement &amp; Legal 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 3-pool, 38-task governance model with end-to-end regulatory traceability, automated evidence collection, and contract lifecycle management built for financial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1179576" cy="27432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OCC 2023-17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02536" y="4206240"/>
            <a:ext cx="1179576" cy="27432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GDPR / CCPA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4206240"/>
            <a:ext cx="1508760" cy="27432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DORA Art. 28-30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3752" y="4206240"/>
            <a:ext cx="1179576" cy="27432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SOX 302/404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4206240"/>
            <a:ext cx="1014983" cy="27432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SEC 17a-4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51192" y="4206240"/>
            <a:ext cx="1261872" cy="27432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NIST CSF 2.0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04504" y="4206240"/>
            <a:ext cx="1014983" cy="27432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ISO 27001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10928" y="4206240"/>
            <a:ext cx="932688" cy="27432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BPMN 2.0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35056" y="4206240"/>
            <a:ext cx="914400" cy="274320"/>
          </a:xfrm>
          <a:prstGeom prst="roundRect">
            <a:avLst/>
          </a:prstGeom>
          <a:solidFill>
            <a:srgbClr val="2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DMN 1.3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AAAAA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AAAAAA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1A3A6B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D2137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The Challenge: Current State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19072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Key Metrics &amp; Target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75104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3-Pool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31136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End-to-End 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243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D2137"/>
                </a:solidFill>
                <a:latin typeface="Calibri"/>
              </a:defRPr>
            </a:pPr>
            <a:r>
              <a:t>Procurement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Vendor Qualification &amp;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4612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Vendor Evaluation Triad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02152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Contract Negotiation &amp;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58184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Contract Execution &amp;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D2137"/>
                </a:solidFill>
                <a:latin typeface="Calibri"/>
              </a:defRPr>
            </a:pPr>
            <a:r>
              <a:t>Legal &amp; Regulatory Deep Dive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630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Regulatory Framework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719072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DPA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975104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Audit Rights &amp; Evidence 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231136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Risk-Tiered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24328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D2137"/>
                </a:solidFill>
                <a:latin typeface="Calibri"/>
              </a:defRPr>
            </a:pPr>
            <a:r>
              <a:t>Automation &amp;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90088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Bottleneck Elimination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24612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Evidence Automation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502152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Ongoing Monitoring &amp; Close-out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758184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563EB"/>
                </a:solidFill>
                <a:latin typeface="Calibri"/>
              </a:defRPr>
            </a:pPr>
            <a:r>
              <a:t>•  Call to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The Challenge: Current State vs. Target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47548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2926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98448"/>
            <a:ext cx="4480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Current State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90+ day vendor onboarding cycles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Manual evidence collection across siloed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6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Contract review bottlenecks (avg. 3–4 revision cycles)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Fragmented regulatory compliance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No standardized vendor qualification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DPA negotiations handled ad-hoc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8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Audit findings from inconsistent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54096"/>
            <a:ext cx="4480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Exit planning deferred until contract renewal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286000"/>
            <a:ext cx="731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596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188720"/>
            <a:ext cx="502920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4864" cy="29260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29844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Ideal State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64592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Under 30-day onboarding (risk-tiered)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84708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Automated evidence collection with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048256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Parallel contract and compliance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249424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regulatory frameworks traced to every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5059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DMN-driven vendor qualification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5176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Templated DPA with GDPR Art. 28(3)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5292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Complete evidence chain from intake to close-out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54096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Exit plan required before contract execution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97680"/>
            <a:ext cx="5303520" cy="50292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97680"/>
            <a:ext cx="4572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370832"/>
            <a:ext cx="5074920" cy="356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Procurement: Vendor qualification standardized with weighted scoring, parallel evaluation tracks eliminate sequential bottlenecks.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297680"/>
            <a:ext cx="5212080" cy="50292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297680"/>
            <a:ext cx="4572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370832"/>
            <a:ext cx="4983480" cy="356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Legal: Every task carries regulatory annotations (OCC, GDPR, SOX, DORA). DPA lifecycle is embedded, not bolted 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Key Metrics &amp; Target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60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&lt;30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Days — Target Onboarding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1188720"/>
            <a:ext cx="2560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39" y="1325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17373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Governed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188720"/>
            <a:ext cx="2560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1325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7373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Regulatory Frameworks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188720"/>
            <a:ext cx="2560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325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73736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Orchestrated Pools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86000"/>
            <a:ext cx="2560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23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346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Evidence Automation 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39" y="2286000"/>
            <a:ext cx="2560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39" y="2423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39" y="28346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Parallel Evaluation Tracks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286000"/>
            <a:ext cx="2560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423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DC262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8346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Message Flows (Cross-Pool)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286000"/>
            <a:ext cx="25603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24231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834640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Regulatory Traceability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47472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474720"/>
            <a:ext cx="54864" cy="1828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584448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Procurement Wins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31920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• Vendor landscape assessment with concentration risk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133088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• Weighted evaluation matrix applied consistently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34256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• Contract negotiation SLA timers prevent drift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35424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• Exit cost analysis required before execution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474720"/>
            <a:ext cx="5029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474720"/>
            <a:ext cx="54864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58444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Legal Wins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93192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• OCC 2023-17 mandatory provisions checklist embedded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13308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• GDPR Art. 28(3) DPA provisions automated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334256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• SEC 17a-4 records retention from day 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535424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• DORA Art. 30 ICT provider registration built 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3-Pool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The onboarding model orchestrates three independent organizational boundaries connected by 5 message 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5603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2563EB"/>
                </a:solidFill>
                <a:latin typeface="Calibri"/>
              </a:defRPr>
            </a:pPr>
            <a:r>
              <a:t>Software Requester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5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Review existing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70048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Leverage or proceed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71216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Gather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72384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Submit software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63040"/>
            <a:ext cx="3474720" cy="25603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5544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059669"/>
                </a:solidFill>
                <a:latin typeface="Calibri"/>
              </a:defRPr>
            </a:pPr>
            <a:r>
              <a:t>Product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920240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24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468880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Triage, analysis, pathway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670048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4 parallel evaluations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871216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Due diligence, PoC, negotiation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072384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UAT, approval, onboarding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474720" cy="256032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544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D97706"/>
                </a:solidFill>
                <a:latin typeface="Calibri"/>
              </a:defRPr>
            </a:pPr>
            <a:r>
              <a:t>Vendor / Third Party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920240"/>
            <a:ext cx="3474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9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468880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Vendor intake &amp; qualification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670048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Proposal &amp;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871216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Security &amp; compliance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72384"/>
            <a:ext cx="29260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• Contract review &amp; signing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6052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2137"/>
                </a:solidFill>
                <a:latin typeface="Calibri"/>
              </a:defRPr>
            </a:pPr>
            <a:r>
              <a:t>Cross-Pool Message Flows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31520" y="4480560"/>
          <a:ext cx="10515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Message Flow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From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Software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Requester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 Mgmt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Due Diligence Request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 Mgmt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 Mgmt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Contract Draft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 Mgmt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Signed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 Mgmt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End-to-End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All 38 tasks across 3 pools with procurement and legal touchpoints highlighted.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783080" cy="68580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Request &amp;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39" y="1371600"/>
            <a:ext cx="1783080" cy="685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Analysis &amp;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371600"/>
            <a:ext cx="1783080" cy="6858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Parallel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371600"/>
            <a:ext cx="1783080" cy="685800"/>
          </a:xfrm>
          <a:prstGeom prst="round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Vendor Due Diligence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1783080" cy="68580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5. Contract &amp;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371600"/>
            <a:ext cx="1783080" cy="6858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6. UAT &amp; Onboarding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28600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Pool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Tasks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Procurement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Legal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Requester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Review existing, gather docs, submit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Triage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 Mgmt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Initial triage, preliminary analysis, backlog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 Mgmt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Pathway routing (DMN), Buy vs. Build, vendor landscape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 Mgmt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Tech Architecture, Security, Risk &amp; Compliance, Financial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 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PM + Vendor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Due diligence, vendor proposal, evaluation, PoC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PM + Vendor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Negotiate, vendor review, vendor sign, finalize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Product Mgmt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UAT, final approval, software onboarding, 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029200"/>
            <a:ext cx="10515600" cy="50292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4572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102352"/>
            <a:ext cx="102870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Key insight: Procurement and Legal are jointly engaged in 4 of 7 stages. The parallel evaluation stage is where the highest efficiency gains are achieved — 4 tracks run simultaneously instead of sequentially.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Your Procurement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365760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Automated, governed, and traceable — from vendor qualification through contract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Parallel Evaluation Tracks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Pathway Routing (Buy/Build)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Timer-Enforced Contract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Vendor Qualification Documented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AAAAA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AAAAAA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Vendor Qualification &amp; 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Standardized intake with automated screening ensures only qualified vendors enter the evaluation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D2137"/>
                </a:solidFill>
                <a:latin typeface="Calibri"/>
              </a:defRPr>
            </a:pPr>
            <a:r>
              <a:t>Vendor Pool Tasks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Regulatory Controls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 Intake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Sanctions screening, conflict-of-interest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OCC, NIST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 Qualification Gate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Pass/fail against minimum criteria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OCC, DORA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 Proposal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Structured response to evaluation reqs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291840"/>
            <a:ext cx="5029200" cy="59436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45720" cy="5943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64992"/>
            <a:ext cx="4800600" cy="4480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Procurement: Vendor intake now includes automated sanctions screening, financial stability checks, and concentration risk analysis. Disqualified vendors exit 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D2137"/>
                </a:solidFill>
                <a:latin typeface="Calibri"/>
              </a:defRPr>
            </a:pPr>
            <a:r>
              <a:t>Product Management Tasks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73736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Regulatory Controls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Initial Triage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Feasibility, strategic alignment, duplicates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OCC, SOX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Assess Vendor Landscape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Market research, shortlisting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OCC, DORA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Pathway Routing (DMN)</a:t>
                      </a:r>
                    </a:p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Automated Buy vs. Build determination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0" y="3291840"/>
            <a:ext cx="5029200" cy="59436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291840"/>
            <a:ext cx="45720" cy="594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364992"/>
            <a:ext cx="4800600" cy="4480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Legal: Sole-source justification required when &lt; 3 vendors evaluated. OCC 2023-17 §35 mandates documented, objective selection criteria.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Parallel Evaluation — The Efficiency Multiplier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Four evaluation tracks run simultaneously, collapsing what was sequential into parallel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949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Technical Architecture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Scalability, integration compatibility, enterprise standards, DR architecture.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Regulations: NIST PR.PS, DORA Art. 9, OCC §50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71600"/>
            <a:ext cx="53949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371600"/>
            <a:ext cx="54864" cy="1554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81328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Security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Vulnerability posture, threat modeling, encryption, access control, incident response.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29968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Regulations: OCC §50-55, NIST CSF, ISO 27001, DORA Art. 9-11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53949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108960"/>
            <a:ext cx="54864" cy="1554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18688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Risk &amp; Compliance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GDPR/CCPA, SOX controls, OCC TPRM, DORA resilience, cross-border transfer.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67328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Regulations: OCC §35-40, GDPR Art. 28,35, SOX §302,404, DORA Art. 5-7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108960"/>
            <a:ext cx="53949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108960"/>
            <a:ext cx="54864" cy="15544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218688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Financial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66160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TCO (3yr/5yr), ROI, NPV, exit cost analysis, market pricing benchmarks.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67328"/>
            <a:ext cx="5120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Regulations: SOX §302,404, OCC §40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On the vendor side, 3 parallel tracks run simultaneously: Security Questionnaire, Compliance Documentation, and Technical Demo.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03520"/>
            <a:ext cx="3474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4406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DC2626"/>
                </a:solidFill>
                <a:latin typeface="Calibri"/>
              </a:defRPr>
            </a:pPr>
            <a:r>
              <a:t>4+3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5216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Parallel Tracks (PM + Vendor)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5303520"/>
            <a:ext cx="3474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54406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585216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Time Saved vs. Sequential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5303520"/>
            <a:ext cx="3474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54406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Weighted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85216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Evaluation Scoring Matrix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Contract Negotiation &amp;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Dual-track contract lifecycle between Product Management and Vendor with mandatory provisions enforcement.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D2137"/>
                </a:solidFill>
                <a:latin typeface="Calibri"/>
              </a:defRPr>
            </a:pPr>
            <a:r>
              <a:t>Internal (Product Management)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5029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Negotiate Contract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Draft terms; enforce mandatory provisions per OCC 2023-17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Finalize Contract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Incorporate signed agreement; verify signatory; archive per SEC 17a-4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27432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D2137"/>
                </a:solidFill>
                <a:latin typeface="Calibri"/>
              </a:defRPr>
            </a:pPr>
            <a:r>
              <a:t>OCC 2023-17 Mandatory Provisions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Performance benchmarks and remedies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Right to audit and examination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Subcontracting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Business continuity and DR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Data protection and confidentiality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Regulatory compliance obligations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Default and termination clauses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Dispute resolution mechanisms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Insurance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Indemnification provisions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D2137"/>
                </a:solidFill>
                <a:latin typeface="Calibri"/>
              </a:defRPr>
            </a:pPr>
            <a:r>
              <a:t>External (Vendor Pool)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0" y="1737360"/>
          <a:ext cx="50292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 Contract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 reviews draft; redlines; counter-proposals tracked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 Contract Sign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Authorized signatory executes; digital signature with timestamp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400800" y="2834640"/>
            <a:ext cx="5029200" cy="73152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834640"/>
            <a:ext cx="45720" cy="731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907792"/>
            <a:ext cx="4800600" cy="5852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Legal: Every contract negotiation task enforces a mandatory provisions checklist derived from OCC 2023-17 §60-75. Missing provisions trigger a compliance gate failure.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49039"/>
            <a:ext cx="5029200" cy="64008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749039"/>
            <a:ext cx="45720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822191"/>
            <a:ext cx="4800600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Procurement: SLA timer on contract negotiation prevents indefinite redline cycles. Vendor response deadlines enforced by BPMN boundary timer events.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Contract Execution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D2137"/>
                </a:solidFill>
                <a:latin typeface="Calibri"/>
              </a:defRPr>
            </a:pPr>
            <a:r>
              <a:t>Execution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Authorized Signatory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Digital signature validation against delegated authority matrix. Only pre-approved signatories can execute.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SOX §302, OCC §60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54864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SEC 17a-4 Records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 contract artifacts archived in tamper-evident, WORM-compliant storage with minimum 6-year retention.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5584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SEC 17a-4, SOX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4864" cy="10972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4164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DORA Art. 30 Registration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ICT third-party service provider registered per DORA. Critical/important functions flagged for enhanced oversight.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9028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DORA Art. 28-30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097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D2137"/>
                </a:solidFill>
                <a:latin typeface="Calibri"/>
              </a:defRPr>
            </a:pPr>
            <a:r>
              <a:t>DPA Execution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08760"/>
            <a:ext cx="109728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Draft DPA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1572768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1508760"/>
            <a:ext cx="109728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Vendor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572768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508760"/>
            <a:ext cx="1097280" cy="457200"/>
          </a:xfrm>
          <a:prstGeom prst="roundRect">
            <a:avLst/>
          </a:prstGeom>
          <a:solidFill>
            <a:srgbClr val="2563EB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Execute DPA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1572768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1508760"/>
            <a:ext cx="1097280" cy="457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Archive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945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D2137"/>
                </a:solidFill>
                <a:latin typeface="Calibri"/>
              </a:defRPr>
            </a:pPr>
            <a:r>
              <a:t>Post-Execution Compliance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400800" y="256032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Contract compliance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OCC 2023-17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Performance monitoring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SLA Framework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Continuous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DPA adequacy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GDPR Art. 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Exit plan validation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DORA Art. 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Records retention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SEC 17a-4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Semi-annual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Regulatory Compliance Built Into Every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457200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Not an afterthought. Not a separate workstream. Compliance woven into the fabric of every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Regulatory Frameworks Mapped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Tasks with Regulatory Annotations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Art. 28(3)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GDPR DPA Provisions Embedded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6yr+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SEC 17a-4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AAAAA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AAAAAA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Regulatory Framework Coverage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Every task in the onboarding model is mapped to its applicable regulatory controls.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Review Existing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Gather Docs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Initial Triage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Prelim Analysis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Vendor Landscpe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 Arch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Security Assess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 &amp; Compl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Financial Analysis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Vendor DD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Negotiate Contract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Finalize Contract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Final Approval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Onboard Software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OCC 2023-17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GDPR/CCPA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DORA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NIST CSF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ISO 27001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SEC 17a-4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□</a:t>
                      </a:r>
                    </a:p>
                  </a:txBody>
                  <a:tcPr>
                    <a:solidFill>
                      <a:srgbClr val="65A30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■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■ Primary     □ Secondary     — Not Applicable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40680"/>
            <a:ext cx="10515600" cy="45720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440680"/>
            <a:ext cx="457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513832"/>
            <a:ext cx="10287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Legal: This matrix provides exam-ready evidence mapping. When regulators ask which OCC 2023-17 sections are addressed, the answer is traceable to specific BPMN tasks with documented evidence artifacts.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DPA Lifecycle — GDPR Article 28(3)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End-to-end Data Processing Agreement journey embedded in the onboarding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554480" cy="5943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Identify Data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39" y="1371600"/>
            <a:ext cx="1554480" cy="5943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DPIA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19" y="146304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371600"/>
            <a:ext cx="1554480" cy="5943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Draft DPA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9" y="146304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371600"/>
            <a:ext cx="1554480" cy="5943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Cross-Border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59" y="146304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1554480" cy="5943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Vendor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463040"/>
            <a:ext cx="320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1371600"/>
            <a:ext cx="1554480" cy="5943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Execute &amp; Archive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19456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2137"/>
                </a:solidFill>
                <a:latin typeface="Calibri"/>
              </a:defRPr>
            </a:pPr>
            <a:r>
              <a:t>GDPR Art. 28(3) Mandatory Provisions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6032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Process data only on documented instructions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61488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Ensure confidentiality obligations for personnel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962656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Implement appropriate technical &amp; organizational measures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63824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Sub-processor authorization and notification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64992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Assist controller with data subject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Assist with security, breach notification, DPIA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67328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Delete or return data after processing 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45720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059669"/>
                </a:solidFill>
                <a:latin typeface="Calibri"/>
              </a:defRPr>
            </a:pPr>
            <a:r>
              <a:t>✓ Make available all info to demonstrate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9456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2137"/>
                </a:solidFill>
                <a:latin typeface="Calibri"/>
              </a:defRPr>
            </a:pPr>
            <a:r>
              <a:t>Where DPA Provisions Are Enforced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00800" y="2560320"/>
          <a:ext cx="5029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Provision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Enforced At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Processing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Gather Documentation (Requester)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DPIA screening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Risk &amp; Compliance Evaluation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Cross-border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Risk &amp; Compliance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Sub-processor mgmt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 Due Diligence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Technical measures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Security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Breach notification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Contract Negotiation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Data return/deletion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Contract Negotiation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Audit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Contract Negotiation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Audit Rights &amp; Evidence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Complete, tamper-evident audit trail from initial request through close-out.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2137"/>
                </a:solidFill>
                <a:latin typeface="Calibri"/>
              </a:defRPr>
            </a:pPr>
            <a:r>
              <a:t>Evidence Collection Points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 Artifacts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Retention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Intake form, portfolio analysis,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Triage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Triage scorecard, duplicate detection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yr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TCO model, DPIA screening, pathway rationale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Arch review, security scan, compliance gaps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yr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Due Diligence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DD report, financial stability, sanctions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 drafts, redlines, executed agreement, DPA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yr+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UAT results, approval decision,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Close-out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Lessons learned, performance baselines, KRIs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 yr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371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2137"/>
                </a:solidFill>
                <a:latin typeface="Calibri"/>
              </a:defRPr>
            </a:pPr>
            <a:r>
              <a:t>Audit Access Rights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737360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4708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OCC 2023-17 §65: Right to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Contracts must include provisions allowing the 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9572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and its regulators to access vendor's books and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83464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834640"/>
            <a:ext cx="54864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4436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DORA Art. 28(7): Regulatory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9184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Financial entities must ensure ICT contracts enable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9300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competent authorities to exercise audit rights.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3192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31920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04164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Evidence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8912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All artifacts timestamped, version-controlled, stored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9028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immutable audit log. SEC 17a-4 / SOX §802 compliant.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Risk-Tiered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DMN-driven risk classification determines due diligence depth, monitoring cadence, and governance oversight.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 Tier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DD Depth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Review Authority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Contract Provisions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Enhanced (all)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Continuous + 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Advisory Board + Regulators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Full mandatory + enhanced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Comprehensive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Monthly + quarterly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Governance Committee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Full mandatory provisions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Department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Standard provisions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Minimal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Streamlined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Semi-annual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Manager sign-off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Simplified provisions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383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2137"/>
                </a:solidFill>
                <a:latin typeface="Calibri"/>
              </a:defRPr>
            </a:pPr>
            <a:r>
              <a:t>DMN Risk Tier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Data sensitivity classification (PII, PHI, financial)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04488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Operational criticality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05656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Vendor concentration risk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06824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Geographic / jurisdictional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07992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Regulatory framework applicability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Fourth-party dependency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2137"/>
                </a:solidFill>
                <a:latin typeface="Calibri"/>
              </a:defRPr>
            </a:pPr>
            <a:r>
              <a:t>DMN Monitoring Cadence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03320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KRI monitoring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904488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Performance review 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05656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Compliance assessment schedule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06824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Financial stability review 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07992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Escalation thresholds by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09160"/>
            <a:ext cx="4846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• Board reporting requirements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0515600" cy="45720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45720" cy="4572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102870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Procurement + Legal: Risk tier drives the contract clause library. Critical-tier vendors require enhanced audit rights, sub-contractor approval requirements, and DORA-specific ICT resilience testing provisions.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From 90 Days to Under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3200400" cy="45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Automation, parallelization, and standardization eliminate the bottlenecks that define today’s vendor onboarding.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90 →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Day Cycle Reduction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Evidence Automation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Parallel Evaluation Tracks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3474720"/>
            <a:ext cx="2560320" cy="109728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6118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0690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Timer-Enforced at Every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AAAAA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AAAAAA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Bottleneck Elimination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Before/after comparison across procurement and legal touchpoints.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5156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029200"/>
            <a:ext cx="5029200" cy="50292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4572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102352"/>
            <a:ext cx="48006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Procurement: Vendor evidence collection drops from 15+ days to ~4 days through automated intake and parallel vendor-side tracks.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029200"/>
            <a:ext cx="5029200" cy="50292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5029200"/>
            <a:ext cx="4572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5102352"/>
            <a:ext cx="4800600" cy="356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Legal: Contract review cycle collapses from 20+ days to ~7 days with mandatory provisions templates and SLA-enforced deadlines.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Evidence Automation — Human Judgment vs. Automation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Automation Tier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Procurement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Legal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Sanctions Screening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Fully Auto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OFAC/sanctions list 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Concentration Risk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Fully Auto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Portfolio database query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Pathway Routing (DMN)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Fully Auto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DMN decision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Financial Stability Check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Partially Auto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Auto-pull financials, human review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Security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Partially Auto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Auto-scan + expert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Risk &amp; Compliance Eval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Partially Auto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Auto-map regs, human gap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Vendor Evaluation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Partially Auto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Weighted matrix, human 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Contract Negotiation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Human-Led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Strategic negotiation, legal judgment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DPA Drafting &amp;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Human-Led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GDPR Art. 28(3) requires legal judgment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Governance Committee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Human-Led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Strategic risk acceptance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Signatory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Human-Led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Delegated authority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5303520"/>
            <a:ext cx="3474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406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~35%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Fully Automatable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5303520"/>
            <a:ext cx="3474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54406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2563EB"/>
                </a:solidFill>
                <a:latin typeface="Calibri"/>
              </a:defRPr>
            </a:pPr>
            <a:r>
              <a:t>~30%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585216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Partially Automatable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5303520"/>
            <a:ext cx="347472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54406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D97706"/>
                </a:solidFill>
                <a:latin typeface="Calibri"/>
              </a:defRPr>
            </a:pPr>
            <a:r>
              <a:t>~35%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85216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Human Judgment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A3A6B"/>
                </a:solidFill>
                <a:latin typeface="Calibri"/>
              </a:defRPr>
            </a:pPr>
            <a:r>
              <a:t>Ongoing Monitoring &amp; Close-out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Post-onboarding governance ensures vendor performance is tracked, risks are monitored, and knowledge is captured.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2137"/>
                </a:solidFill>
                <a:latin typeface="Calibri"/>
              </a:defRPr>
            </a:pPr>
            <a:r>
              <a:t>Post-Onboarding Tasks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50292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200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Software 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Deploy to production, configure monitoring, establish baselines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Performance Baselines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Set KRI thresholds based on vendor risk tier and contract SLAs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Close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Archive all evidence, lessons learned, update vendor 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108960"/>
            <a:ext cx="5029200" cy="5486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4572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82112"/>
            <a:ext cx="48006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1E293B"/>
                </a:solidFill>
                <a:latin typeface="Calibri"/>
              </a:defRPr>
            </a:pPr>
            <a:r>
              <a:t>Procurement: Vendor performance baselines are set during onboarding — not 6 months later. KRIs calibrated to contract SLAs. Breaches trigger automated escalation.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D2137"/>
                </a:solidFill>
                <a:latin typeface="Calibri"/>
              </a:defRPr>
            </a:pPr>
            <a:r>
              <a:t>Knowledge Capture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4864" cy="914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4708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Lessons Learned Archive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Every onboarding contributes to the organizational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9572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base. Patterns, bottlenecks, and strategies captured.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83464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834640"/>
            <a:ext cx="54864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4436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Vendor Registry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9184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Vendor profile enriched with evaluation scores, risk tier,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9300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contract terms, SLA thresholds, and key contacts.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50292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931920"/>
            <a:ext cx="54864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041648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A3A6B"/>
                </a:solidFill>
                <a:latin typeface="Calibri"/>
              </a:defRPr>
            </a:pPr>
            <a:r>
              <a:t>Cumulative Knowledge Effect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8912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30–50% effort reduction on similar vendor assessments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9028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over time as the knowledge base accumulates.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64748B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474720" cy="274320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546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Validate BPMN model with stakeholders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Map existing processes to ideal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Identify gap remediation priorities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Define regulatory annotation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286000"/>
            <a:ext cx="3474720" cy="274320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242316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D97706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2743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Weeks 5–10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1546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Implement contract clause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3832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Deploy DMN pathway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6118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Configure SLA timers and escalations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8404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Build evidence automation pipelines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286000"/>
            <a:ext cx="3474720" cy="274320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42316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059669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4320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Weeks 11–16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546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Pilot with 3–5 vendor onboardings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3832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Measure cycle time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6118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Validate regulatory exam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840480"/>
            <a:ext cx="30175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• Scale to full production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03520"/>
            <a:ext cx="10515600" cy="731520"/>
          </a:xfrm>
          <a:prstGeom prst="roundRect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303520"/>
            <a:ext cx="45720" cy="7315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949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Immediate ask: Schedule 2-hour working session with Procurement and Legal leads to walk through the detailed BPMN model in Camunda Modeler and validate task-level regulatory annotations.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0">
                <a:solidFill>
                  <a:srgbClr val="AAAAAA"/>
                </a:solidFill>
                <a:latin typeface="Calibri"/>
              </a:defRPr>
            </a:pPr>
            <a: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1295" y="6492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0">
                <a:solidFill>
                  <a:srgbClr val="AAAAAA"/>
                </a:solidFill>
                <a:latin typeface="Calibri"/>
              </a:defRPr>
            </a:pPr>
            <a:r>
              <a:t>Vendor Onboarding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