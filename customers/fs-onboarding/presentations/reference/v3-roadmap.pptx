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8D"/>
            </a:gs>
            <a:gs pos="100000">
              <a:srgbClr val="005EB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Open Sans Condensed"/>
              </a:defRPr>
            </a:pPr>
            <a:r>
              <a:t>Software Onboarding</a:t>
            </a:r>
            <a:br/>
            <a:r>
              <a:t>Process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DDFF"/>
                </a:solidFill>
                <a:latin typeface="Open Sans"/>
              </a:defRPr>
            </a:pPr>
            <a:r>
              <a:t>v3 Discovery Deep Dive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EE"/>
                </a:solidFill>
                <a:latin typeface="Open Sans"/>
              </a:defRPr>
            </a:pPr>
            <a:r>
              <a:t>Based on 14 stakeholder interviews across Architecture, Product, Security, Risk Management, Vendor Management, Finance, Legal, and Compliance teams. 24 gaps identified across 11 governance domains with actionable 30/60/90/120-day implementation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14 Stakeholder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11 Governance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24 Gap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120-Day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8D"/>
                </a:solidFill>
                <a:latin typeface="Open Sans Condensed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Open Sans"/>
              </a:defRPr>
            </a:pPr>
            <a:r>
              <a:t>The software onboarding process spans 6 to 9 months end-to-end, driven by 18 sequential committees, 5+ disconnected intake channels, and critical resource bottlenecks in Security and Legal. The START initiative created centralized awareness but did not integrate underlying team processes.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6-9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CURRENT E2E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COMMITTEES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335/yr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ASSESSMENTS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  <a:latin typeface="Open Sans Condensed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GAPS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Highest-ROI Investment Areas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54864" cy="10058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Replace 18 sequential committees with 5 parallel evaluation streams. Bounded by slowest SLA, not sequential sum.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154680"/>
            <a:ext cx="54864" cy="10058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+ Deal-Killer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 5+ channels. Block non-starters at day 1. Route 3 request types differently.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154680"/>
            <a:ext cx="54864" cy="10058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 contract review for the 2-person team handling 30+ contracts/month.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"Somebody needs to be empowered at the firm to say I own this"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TPRM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End-to-End Workflow: Current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1031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SP1: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DDDD"/>
                </a:solidFill>
                <a:latin typeface="Open Sans"/>
              </a:defRPr>
            </a:pPr>
            <a:r>
              <a:t>3 request types</a:t>
            </a:r>
            <a:br/>
            <a:r>
              <a:t>not routed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097280"/>
            <a:ext cx="21031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115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SP2: Prioritize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DDDD"/>
                </a:solidFill>
                <a:latin typeface="Open Sans"/>
              </a:defRPr>
            </a:pPr>
            <a:r>
              <a:t>Whoever screams</a:t>
            </a:r>
            <a:br/>
            <a:r>
              <a:t>loudest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97280"/>
            <a:ext cx="21031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115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SP3: 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DDDD"/>
                </a:solidFill>
                <a:latin typeface="Open Sans"/>
              </a:defRPr>
            </a:pPr>
            <a:r>
              <a:t>Sequential DART</a:t>
            </a:r>
            <a:br/>
            <a:r>
              <a:t>3x AI vendor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031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115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SP4: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DDDD"/>
                </a:solidFill>
                <a:latin typeface="Open Sans"/>
              </a:defRPr>
            </a:pPr>
            <a:r>
              <a:t>2 ppl / 30+ contracts</a:t>
            </a:r>
            <a:br/>
            <a:r>
              <a:t>1.5yr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097280"/>
            <a:ext cx="21031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115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SP5: 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DDDD"/>
                </a:solidFill>
                <a:latin typeface="Open Sans"/>
              </a:defRPr>
            </a:pPr>
            <a:r>
              <a:t>No conditional</a:t>
            </a:r>
            <a:br/>
            <a:r>
              <a:t>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Critical Bottlenecks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2 people / 30+ contracts monthly. Up to 1.5 years for security exhibits.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65176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"Biggest bottleneck... reason our SLA takes 2 weeks." Cannot scale for AI.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0332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Sequential DART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 contacts 5-6 teams independently. No visibility into sequence.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0332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94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60+ items in queue. 3 committees. 3x vendor contact for AI reviews.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What Works Well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206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120640"/>
            <a:ext cx="54864" cy="8686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Architecture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32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Facilitator pre-screens artifacts, manages follow-ups. Best-practice model.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1206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79" y="5120640"/>
            <a:ext cx="54864" cy="8686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5212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Improvement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59" y="5532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Reduced DD from 144 to 75 days. 335 assessments/year with 8-person team.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19" y="5120640"/>
            <a:ext cx="35661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46719" y="5120640"/>
            <a:ext cx="54864" cy="8686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9" y="5212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Tool Adoption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9" y="5532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Cursor AI for diagrams, custom AI agent for pattern conformance scanning.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System Landscape and Integration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Open Sans"/>
              </a:defRPr>
            </a:pPr>
            <a:r>
              <a:t>"We have all these systems but none of them talk to each other" -- TPRM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46304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46304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Integration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ServiceNow (START)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745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Process intake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745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Entry point, no downstream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774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Ariba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3774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Registration, NDAs, contracts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3774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API to Oracle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803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OneTrust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8803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Risk assessments, tracking, control gaps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8803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Standalone, manual PDF exports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832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Oracle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3832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Accounts payable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3832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API from Ariba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86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Confluence + Catfox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886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Architecture approvals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886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Plugin-based, no workflow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89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JIRA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4389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Architecture ticket tracking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389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Per-team, no cross-functional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892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Camunda 8 (target)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892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E2E process 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4892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Not yet deployed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8D"/>
                </a:solidFill>
                <a:latin typeface="Open Sans Condensed"/>
              </a:defRPr>
            </a:pPr>
            <a:r>
              <a:t>By the Numbers: Quantified Pain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335/yr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ASSESSMENTS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28-29d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RAE ACTUAL</a:t>
            </a:r>
            <a:br/>
            <a:r>
              <a:t>(14D 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75d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DD INTERNAL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09728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2 ppl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30+ CONTRACTS/MO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1.5yr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SECURITY EXHIBIT</a:t>
            </a:r>
            <a:br/>
            <a:r>
              <a:t>NEGOTIATION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  <a:latin typeface="Open Sans Condensed"/>
              </a:defRPr>
            </a:pPr>
            <a:r>
              <a:t>2-3/10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BUSINESS COUNCIL</a:t>
            </a:r>
            <a:br/>
            <a:r>
              <a:t>QUORUM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1DA"/>
                </a:solidFill>
                <a:latin typeface="Open Sans Condensed"/>
              </a:defRPr>
            </a:pPr>
            <a:r>
              <a:t>60-90d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COMPETITOR</a:t>
            </a:r>
            <a:br/>
            <a:r>
              <a:t>BENCHMARK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5603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  <a:latin typeface="Open Sans Condensed"/>
              </a:defRPr>
            </a:pPr>
            <a: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COMMITTEES</a:t>
            </a:r>
            <a:br/>
            <a:r>
              <a:t>(TARGET: 5 STREAMS)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 team desperately needs automation... The firm needs them to be automated"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TPRM Lead (on Legal/Contracts)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Cross-Cutting Process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Concierge model, simultaneous engagement, and organizational design patterns that apply across all 11 governance domains.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Quarterback / Concierge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Architecture Today (Best Practice)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Pre-Screen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Remove incomplete items from ARB/SDRB agenda before meeting.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Manage Follow-Ups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Capture action items, track completion, run meetings efficiently.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39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63239"/>
            <a:ext cx="54864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JIRA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Ticket tracking and domain-based auto-assignment to 4 EA leaders.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Proposed E2E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54864" cy="7772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Single Point of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Eliminates 5-6 team self-navigation for requesters.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9456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54864" cy="7772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Automated DART 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Concierge triggers all review streams simultaneously.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63239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063239"/>
            <a:ext cx="54864" cy="7772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546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Quality Gates at Boundaries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Reject incomplete before wasting SME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54864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any artifact is not in good order, remove it from the agenda"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"Exactly like what we're talking about for the quarterback from a broader end-to-end"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Consulting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Simultaneous Engagement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Open Sans Condensed"/>
              </a:defRPr>
            </a:pPr>
            <a:r>
              <a:t>Current: Sequential (weeks to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TBC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Requester contacts Architecture... wait...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568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Requester contacts Security... wait...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Requester contacts Compliance... wait...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Requester contacts AI Gov... wait...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  Timeline: dependent on requester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6B"/>
                </a:solidFill>
                <a:latin typeface="Open Sans Condensed"/>
              </a:defRPr>
            </a:pPr>
            <a:r>
              <a:t>Proposed: Parallel (bounded by slowest SLA)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0292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HLD review, domain assignment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4864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0292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Tiered assessment by risk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50292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Regulatory review + OneTrust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91839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91839"/>
            <a:ext cx="54864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832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19"/>
            <a:ext cx="50292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Consolidated single-stream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5303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931920"/>
            <a:ext cx="54864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Legal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50292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Contract terms + NDA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 disagree with that because that makes us a bottleneck... there should be simultaneous engagement of all the major players that have a vote"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3 Request Types and Distributed Pod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3 Request Types (New in v3)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7772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Defined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Business owner knows requirements, vendor selected. Standard 5-phase path. Most common.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4864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Forced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Existing vendor, product changes (on-prem to SaaS, EOL, new AI). Re-evaluation at SP3.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53035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Speculative / Exploratory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Advisory support, no sponsorship. Idea funnel (pre-SP1), NOT standard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Distributed Pod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303520" cy="5760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4864" cy="5760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Cybersecurity Pod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83080"/>
            <a:ext cx="50292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Own prioritization, meeting frequency, review speed  |  Central team ensures consistency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39112"/>
            <a:ext cx="5303520" cy="5760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039112"/>
            <a:ext cx="54864" cy="5760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30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Architecture Pod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50592"/>
            <a:ext cx="50292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Technical review cadence, domain assignment  |  Central team ensures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706624"/>
            <a:ext cx="5303520" cy="5760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706624"/>
            <a:ext cx="54864" cy="5760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Legal/Contracts Pod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18104"/>
            <a:ext cx="50292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Template usage, negotiation approach  |  Central team ensures consistency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74136"/>
            <a:ext cx="5303520" cy="5760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374136"/>
            <a:ext cx="54864" cy="5760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Governance Pod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85616"/>
            <a:ext cx="50292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 risk posture, review depth  |  Central team ensures consistency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41648"/>
            <a:ext cx="5303520" cy="5760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041648"/>
            <a:ext cx="54864" cy="5760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Pod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53128"/>
            <a:ext cx="50292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Assessment methodology, vendor scoring  |  Central team ensures consistency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4632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"The process never solved the step of requester who's never been through onboarding"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57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Vendor Management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Implementation Roadmap: 30 / 60 / 90 / 120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1-30: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all intake fields, deduplicate</a:t>
            </a:r>
            <a:br/>
            <a:r>
              <a:t>  Define 3 request types + routing rules</a:t>
            </a:r>
            <a:br/>
            <a:r>
              <a:t>  NDA timing decision (Sec + Legal)</a:t>
            </a:r>
            <a:br/>
            <a:r>
              <a:t>  Map 18 committees to 5 streams</a:t>
            </a:r>
            <a:br/>
            <a:r>
              <a:t>  Draft concierge role description</a:t>
            </a:r>
            <a:br/>
            <a:r>
              <a:t>  Simultaneous engagement rules</a:t>
            </a:r>
            <a:br/>
            <a:r>
              <a:t>  Deal-killer no-go list</a:t>
            </a:r>
            <a:br/>
            <a:r>
              <a:t>  Prioritization scoring w/ capacity</a:t>
            </a:r>
            <a:br/>
            <a:r>
              <a:t>  Baseline RAE (28d) and DD (75d) metrics</a:t>
            </a:r>
            <a:br/>
            <a:r>
              <a:t>  Map OneTrust API integration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31-60: Quick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Unified intake form (3 request types)</a:t>
            </a:r>
            <a:br/>
            <a:r>
              <a:t>  Completeness quality gate at intake</a:t>
            </a:r>
            <a:br/>
            <a:r>
              <a:t>  Deal-killer pre-screen active</a:t>
            </a:r>
            <a:br/>
            <a:r>
              <a:t>  NDA gate between SP1 and SP3</a:t>
            </a:r>
            <a:br/>
            <a:r>
              <a:t>  Status notifications at boundaries</a:t>
            </a:r>
            <a:br/>
            <a:r>
              <a:t>  Async voting for Business Council</a:t>
            </a:r>
            <a:br/>
            <a:r>
              <a:t>  Single AI questionnaire deployed</a:t>
            </a:r>
            <a:br/>
            <a:r>
              <a:t>  OneTrust-Camunda integration design</a:t>
            </a:r>
            <a:br/>
            <a:r>
              <a:t>  Contract template standardization</a:t>
            </a:r>
            <a:br/>
            <a:r>
              <a:t>  Pilot simultaneous engagement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61-90: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3-pathway routing: Buy/Build/Enable</a:t>
            </a:r>
            <a:br/>
            <a:r>
              <a:t>  5 parallel evaluation streams live</a:t>
            </a:r>
            <a:br/>
            <a:r>
              <a:t>  Concierge orchestration active</a:t>
            </a:r>
            <a:br/>
            <a:r>
              <a:t>  Tiered security assessment in SP3</a:t>
            </a:r>
            <a:br/>
            <a:r>
              <a:t>  AI fast-track piloted (2-week target)</a:t>
            </a:r>
            <a:br/>
            <a:r>
              <a:t>  OneTrust assessment automation in SP3</a:t>
            </a:r>
            <a:br/>
            <a:r>
              <a:t>  Automated baseline security checks</a:t>
            </a:r>
            <a:br/>
            <a:r>
              <a:t>  AI-assisted pre-screening pilot</a:t>
            </a:r>
            <a:br/>
            <a:r>
              <a:t>  Finance rework loop in SP4</a:t>
            </a:r>
            <a:br/>
            <a:r>
              <a:t>  Capacity-aware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097280"/>
            <a:ext cx="2697480" cy="54864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91-120: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Exception routing (rapid RA)</a:t>
            </a:r>
            <a:br/>
            <a:r>
              <a:t>  Pre-onboarding idea funnel</a:t>
            </a:r>
            <a:br/>
            <a:r>
              <a:t>  Workload visibility dashboard</a:t>
            </a:r>
            <a:br/>
            <a:r>
              <a:t>  Contract review automation</a:t>
            </a:r>
            <a:br/>
            <a:r>
              <a:t>  Full deviation reporting</a:t>
            </a:r>
            <a:br/>
            <a:r>
              <a:t>  Distributed pod model pilot</a:t>
            </a:r>
            <a:br/>
            <a:r>
              <a:t>  Progressive forms + stage awareness</a:t>
            </a:r>
            <a:br/>
            <a:r>
              <a:t>  Annual ownership validation</a:t>
            </a:r>
            <a:br/>
            <a:r>
              <a:t>  Executive KPI reporting</a:t>
            </a:r>
            <a:br/>
            <a:r>
              <a:t>  Before/after metrics documented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60-70%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Cycle 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18 to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Sequential to Parallel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3 Pathways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Buy/Build/Enable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Day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Non-Starter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Initial request capture, portfolio review, and solution discovery.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SP1: Request and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SP1_RequestTriage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Request capture through unified intake gateway, existing solution review, bypass routing for leveraged software, initial triage with 2-day SLA timer, and DMN-driven pathway routing (OB-DMN-2). v3 adds 3 request type routing: Defined Need (standard), Forced Updates (re-evaluation at SP3), Speculative/Exploratory (idea funnel pre-SP1).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5+ Disconnected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ServiceNow, REA (~80Q), AI forms, Power Apps, email, feedback platform, advisor tool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Request Types Treated Identically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Defined Need, Forced Updates, Speculative all follow same heavyweight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Tool 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Financial form shows 2024, locked, password unknown, owner left org.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Pre-Screen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Obvious no-gos reach SME teams. No deal-killer check.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"You submit a formal intake request so they have trackability"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Product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Gateway (GAP-1)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entry absorbs all channels. Dynamic routing by request type.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Gate (GAP-17)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Mandatory NDA before detailed evaluation. Security+Legal aligned.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Deal-Killer Pre-Screen (GAP-16)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 no-go list. Reject known non-starters immediately.</a:t>
            </a:r>
            <a:br/>
            <a:r>
              <a:t>QUICK WIN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Request Type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OB-DMN-2 expanded with requestType. Speculative to idea funnel, Forced Updates skip intake.</a:t>
            </a:r>
            <a:br/>
            <a:r>
              <a:t>NEW in 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fields</a:t>
            </a:r>
            <a:br/>
            <a:r>
              <a:t>  NDA timing decision</a:t>
            </a:r>
            <a:br/>
            <a:r>
              <a:t>  3 request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Unified form</a:t>
            </a:r>
            <a:br/>
            <a:r>
              <a:t>  NDA gate</a:t>
            </a:r>
            <a:br/>
            <a:r>
              <a:t>  Completeness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Progressive forms</a:t>
            </a:r>
            <a:br/>
            <a:r>
              <a:t>  Informal channel redirect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Exception routing</a:t>
            </a:r>
            <a:br/>
            <a:r>
              <a:t>  Idea funnel</a:t>
            </a:r>
            <a:br/>
            <a:r>
              <a:t> 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Scoring, queue management, and governance decision cadence.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SP2: Planning and Routing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SP2_PlanningRouting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Preliminary assessment, backlog management, and DMN-driven pathway routing (OB-DMN-2). v3 adds capacity-aware scoring via OB-DMN-5 with business impact, strategic alignment, urgency, risk tier, and capacity impact inputs producing P1/P2/P3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Formal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'horse trade.' Each requestor views their request as most important.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Whoever Screams Loudest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EVP support pushes reviews down. No effective prioritization 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Business Council Quorum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Monthly meetings, 2-3 of 8-10 attend. Evolved to email voting.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 Disconnected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PI planning allocates capacity. Exception requests force pivots.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the general pace of onboarding is accelerated, then we could theoretically handle these one-off cases with more capacity"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Product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DMN-Driven Scoring (GAP-2)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OB-DMN-5: business impact, alignment, urgency, risk tier, capacity. P1/P2/P3 output.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Async Governance (GAP-24)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Replace monthly meetings with 48-hour async SLA. Email voting formalized.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3-Pathway Routing (GAP-11)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Buy, Build, Enable (Vendor Affinity). Right-sized governance per pathway.</a:t>
            </a:r>
            <a:br/>
            <a:r>
              <a:t>HIGH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Capacity-Aware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Score includes capacity impact. Route around constrained teams.</a:t>
            </a:r>
            <a:br/>
            <a:r>
              <a:t>NEW in 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Capacity impact scoring</a:t>
            </a:r>
            <a:br/>
            <a:r>
              <a:t>  Business Council quorum fix</a:t>
            </a:r>
            <a:br/>
            <a:r>
              <a:t>  Async decision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Async voting deployed</a:t>
            </a:r>
            <a:br/>
            <a:r>
              <a:t>  Queue position visible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Capacity-aware routing</a:t>
            </a:r>
            <a:br/>
            <a:r>
              <a:t>  Acceleration metrics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Queue wait time metrics</a:t>
            </a:r>
            <a:br/>
            <a:r>
              <a:t>  Capacity utilization</a:t>
            </a:r>
            <a:br/>
            <a:r>
              <a:t>  Decision cycle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Financial analysis, budget approval, and coding matrix workflows.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SP2/SP3: Financial Touchpoints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SP2_SP3_Finance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Financial analysis spans 4 phases: SP1 (estimate), SP2 (justification), SP3 (full TCO/ROI), SP4 (final approval). Progressive financial data collection reduces requester burden. v3 adds Enable pathway bypass for Vendor Affinity products that require no org funding.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Formal Denial Restarts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Minor corrections require full restart. Cannot reroute to FP&amp;A.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Vendor Affinity tools require no org funding but validation still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Outdated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Finance form locked, password unknown, completed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4-Phase Financial Touchpoints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Financial analysis in SP1, SP2, SP3, SP4. Progressive collection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Finance Rework Loop (GAP-4)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Minor corrections loop without denial. Pattern matches PDLC retry.</a:t>
            </a:r>
            <a:br/>
            <a:r>
              <a:t>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Vendor Affinity products skip funding validation entirely.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FP&amp;A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Direct routing for coding matrix issues. No external email.</a:t>
            </a:r>
            <a:br/>
            <a:r>
              <a:t>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Progressive Financial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SP1: estimate. SP2: justification. SP3: full TCO/ROI.</a:t>
            </a:r>
            <a:br/>
            <a:r>
              <a:t>LOW EFFORT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financial fields across phases</a:t>
            </a:r>
            <a:br/>
            <a:r>
              <a:t>  Enable bypass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Finance rework loop deployed</a:t>
            </a:r>
            <a:br/>
            <a:r>
              <a:t>  FP&amp;A direct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Enable pathway financial bypass active</a:t>
            </a:r>
            <a:br/>
            <a:r>
              <a:t>  Progressive 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Measure: rework rate</a:t>
            </a:r>
            <a:br/>
            <a:r>
              <a:t>  Enable pathway adoption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Sourcing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DART formation, committee coordination, and vendor due diligence.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Evaluation and Due Diligence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SP3_EvalDD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5 parallel evaluation streams: Technical Architecture, Security Assessment, Risk/Compliance/Legal, Financial Analysis, Vendor Landscape Assessment. Vendor due diligence questionnaire (830 questions with skip logic). v3 replaces sequential DART formation with simultaneous engagement triggered by concierge. 5-day SLA timer on vendor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Sequential DART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 independently contacts 5-6 teams. No visibility into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ARB + TBC + AI Gov 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Same case presented to multiple committees. Meetings weeks apart.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 as Primary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is our biggest bottleneck. 2-week SLA driver. Understaffed.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Facilitator Excellence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Architecture has dedicated facilitator: pre-screens, removes incomplete items, runs ARB/SDRB.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 disagree with that because that makes us a bottleneck... simultaneous engagement of all major players"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Simultaneous Engagement (GAP-19)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Parallel engagement of all review streams. Concierge triggers automatically.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Facilitator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Scale Architecture's pre-screening model to E2E. Reject incomplete artifacts.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 Auto-Assignment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4 EA leaders route by domain. Auto-assign by bandwidth via OB-DMN-2.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 Parallel Evaluation 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Technical, Security, AI, Compliance, Vendor Landscape simultaneously.</a:t>
            </a:r>
            <a:br/>
            <a:r>
              <a:t>HIGH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ARB/SDRB/TBC scope boundaries</a:t>
            </a:r>
            <a:br/>
            <a:r>
              <a:t>  Simultaneous engagement rules</a:t>
            </a:r>
            <a:br/>
            <a:r>
              <a:t>  Concierge 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Pilot simultaneous engagement</a:t>
            </a:r>
            <a:br/>
            <a:r>
              <a:t>  Catfox integration</a:t>
            </a:r>
            <a:br/>
            <a:r>
              <a:t>  Domain auto-assignment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5 streams operational</a:t>
            </a:r>
            <a:br/>
            <a:r>
              <a:t>  Artifact quality gate</a:t>
            </a:r>
            <a:br/>
            <a:r>
              <a:t>  Concierge orchestration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DART formation time (target: automated)</a:t>
            </a:r>
            <a:br/>
            <a:r>
              <a:t>  Evaluation cycle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Security assessment, tiered review, and AI review consolidation.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Security Assessment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Tiered security assessment driven by DMN risk-based categories: local install, platform, hybrid, pre-approved, updates, module additions. Baseline tier (automated checks), Elevated tier (auto + manual), Major tier (full assessment + penetration testing). v3 consolidates 3x AI vendor contact into single 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Biggest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is the reason SLA takes 2 weeks. Understaffed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Cannot Scale for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"I need three of me right now" -- specifically for AI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Zero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All routing manual. No workflow integration. Individual knowledge dependency.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3x Vendor Contact for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TPRM each contact vendors independently.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"Security is our biggest bottleneck... Enterprise architecture would get SLA way down without security constraints"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Security Assessment (GAP-12)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DMN-driven: Baseline (automated), Elevated (auto+manual), Major (full+pentest).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Risk-Based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6 types: local install, platform, hybrid, pre-approved, updates, module additions.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Review Consolidation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stream replaces 3x vendor contact. Eliminate redundancy.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Timing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Security+Legal align on early NDA. Executive decision at Day 30.</a:t>
            </a:r>
            <a:br/>
            <a:r>
              <a:t>NEW in 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6 risk-based assessment categories</a:t>
            </a:r>
            <a:br/>
            <a:r>
              <a:t>  NDA timing resolution</a:t>
            </a:r>
            <a:br/>
            <a:r>
              <a:t>  Map security capacity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baseline checks</a:t>
            </a:r>
            <a:br/>
            <a:r>
              <a:t>  Tiered assessment DMN</a:t>
            </a:r>
            <a:br/>
            <a:r>
              <a:t>  NDA gate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Security: Elevated/Major only</a:t>
            </a:r>
            <a:br/>
            <a:r>
              <a:t>  AI vendor contact consolidated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Security review cycle time by tier</a:t>
            </a:r>
            <a:br/>
            <a:r>
              <a:t>  Baseline automation rate</a:t>
            </a:r>
            <a:br/>
            <a:r>
              <a:t>  AI queue depth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Architecture review boards, artifact frameworks, and domain governance.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Architecture Review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Architecture review within SP3 parallel evaluation. ARB (2-week SLA for complex), SDRB (same-day for prepared teams). Artifact framework: HLD pre-contract (all), SD/SYDD post-contract (local), PSS post-contract (enterprise/AI). v3 adds AI-assisted pre-screening and preparation quality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ARB 2-Week SLA, SDRB Same-Day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Well-prepared teams get faster reviews. New capabilities are slower.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Artifact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HLD pre-contract (all). SD/SYDD post-contract (local). PSS post-contract (enterprise/AI).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Tools Already in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Cursor AI for diagrams, custom AI agent for pattern conformance scanning.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 Funding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Architects funded by domains. Under-funding = capacity bottleneck.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"We're trying to use AI to help expedite these reviews"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Scale Facilitator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Governance Facilitator becomes E2E concierge template. Pre-screen all artifacts.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AI-Assisted Pre-Screening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Leverage existing Cursor/custom agent for pattern conformance automation.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Preparation 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Reject incomplete artifacts before ARB. Reduce wasted committee time.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 Auto-Assignment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4 EA leaders route by domain. Auto-assign architect by bandwidth.</a:t>
            </a:r>
            <a:br/>
            <a: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Document ARB/SDRB SLAs</a:t>
            </a:r>
            <a:br/>
            <a:r>
              <a:t>  Assess AI tools</a:t>
            </a:r>
            <a:br/>
            <a:r>
              <a:t>  Domain assignment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pre-screening pilot</a:t>
            </a:r>
            <a:br/>
            <a:r>
              <a:t>  Domain auto-assignment in OB-DMN-2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ARB preparation quality gate</a:t>
            </a:r>
            <a:br/>
            <a:r>
              <a:t>  SDRB fast-track for pre-approved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ARB cycle time</a:t>
            </a:r>
            <a:br/>
            <a:r>
              <a:t>  Preparation rejection rate</a:t>
            </a:r>
            <a:br/>
            <a:r>
              <a:t>  AI pre-screening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Regulatory alignment, phase-boundary gates, and evidence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Compliance Review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Compliance review within SP3 parallel evaluation. Phase-boundary quality gates enforce compliance checks at every transition. OneTrust integration provides automated compliance audit trail. Regulatory annotations on every task: OCC 2023-17, SOX, GDPR, DORA, EU AI Act, NIST CSF 2.0.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End-of-Year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Compliance failures discovered late in year. Reactive not proactive.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Evidence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Assessment evidence captured in OneTrust. Control gaps documented.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Phase-Boundary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Compliance checks not enforced at transitions between phases.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OCC 2023-17, SOX, GDPR, DORA, EU AI Act all apply. No unified tracking.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Compliance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compliance review in SP3 parallel. Phase-boundary quality gates.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compliance audit trail. Evidence linked to process instances.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Every task tagged with applicable regulations via Camunda properties.</a:t>
            </a:r>
            <a:br/>
            <a:r>
              <a:t>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3-Tier Review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Fast path (single), Committee (quorum), Board (full). DMN-3 routes.</a:t>
            </a:r>
            <a:br/>
            <a: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compliance touchpoints</a:t>
            </a:r>
            <a:br/>
            <a:r>
              <a:t>  OneTrust evidence capabilities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 compliance evidence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compliance audit trail via OneTrust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Regulatory traceability dashboard</a:t>
            </a:r>
            <a:br/>
            <a:r>
              <a:t>  OneTrust data feed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AI risk classification, committee consolidation, and regulatory alignment.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AI Review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SP3_AIReview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AI governance review within SP3 parallel evaluation. Single consolidated stream replaces 3 separate committees. AI risk posture classification via DMN. Fast-track pathway for AI-only reviews targeting 2-week E2E. v3 merges 3+ AI questionnaires into single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60+ Items in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 governance backlog overwhelming. No clear prioritization.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Committee Redundancy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Working Committee + Decision Committee somewhat redundant with TBC.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Questionnaire Proliferation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3 additional AI forms "snuck up" beyond standard DD. Being merged.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3x Vendor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TPRM independently contact vendors for 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 have no idea why they're there... they just snuck up and I'm really annoyed"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TPRM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 3 Committees 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AI review stream. Eliminate redundant presentations.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Questionnaire Merger (GAP-23)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Merge 3+ forms into single dataset. TPRM Lead already in progress.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Single Vendor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 AI review stream. Eliminate 3x vendor contact redundancy.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Fast-Track (GAP-6)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 Governance + Security only. 2-week E2E target.</a:t>
            </a:r>
            <a:br/>
            <a:r>
              <a:t>HIGH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Merge 3 AI questionnaires</a:t>
            </a:r>
            <a:br/>
            <a:r>
              <a:t>  Map committee consolidation</a:t>
            </a:r>
            <a:br/>
            <a:r>
              <a:t>  Inventory vendor contacts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Single AI questionnaire deployed</a:t>
            </a:r>
            <a:br/>
            <a:r>
              <a:t>  Committee consolidation communicated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fast-track piloted</a:t>
            </a:r>
            <a:br/>
            <a:r>
              <a:t>  EU AI Act mapping to DMN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review cycle time (2wk target)</a:t>
            </a:r>
            <a:br/>
            <a:r>
              <a:t>  Vendor contact reduction (3x to 1x)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Data classification, privacy-by-design, and cross-border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SP1/SP3: Privacy Assessment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SP1_SP3_Privacy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Data classification at intake (SP1) drives privacy routing. Privacy review embedded in SP3 parallel evaluation. OneTrust privacy module available for automated assessments. Cross-border data flow triggers additional assessment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Embedded Across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Privacy review integrated into multiple team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Classification at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Classification questions appear early but not enforced.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Cross-Border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International data flows require additional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Privacy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Privacy capabilities available in existing OneTrust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Classification at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Mandatory data classification in SP1 form. Drives privacy routing.</a:t>
            </a:r>
            <a:br/>
            <a:r>
              <a:t>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Privacy-by-Design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Privacy controls embedded in architecture review checklist.</a:t>
            </a:r>
            <a:br/>
            <a:r>
              <a:t>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Privacy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Leverage existing privacy module for automated assessments.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Cross-Border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triggers for international data flow requirements.</a:t>
            </a:r>
            <a:br/>
            <a: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privacy touchpoints</a:t>
            </a:r>
            <a:br/>
            <a:r>
              <a:t>  Classification field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Data classification mandatory at intake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 privacy integration</a:t>
            </a:r>
            <a:br/>
            <a:r>
              <a:t>  Privacy-by-design checklist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Cross-border automation</a:t>
            </a:r>
            <a:br/>
            <a:r>
              <a:t>  Privacy compliance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Commercial Counsel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Contract lifecycle, negotiation bottleneck, and deviation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SP4: Contracting and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SP4_ContractBuild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Contract negotiation, vendor selection finalization, and build/buy execution. Buy path: refine solution, PoC, technical risk, negotiate, await contract, finalize. Build path: define build requirements, PDLC execution. v3 elevates contract automation to critical priority: 2 people handling 30+ contracts/month.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Dumpster Fire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2 people negotiating 30+ contracts monthly. 4 years unsustainable.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Deviation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reportable format for contract deviations. Unknown compliance for older contracts.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 Exhibits: 1.5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Contract negotiation for security terms can take up to 18 months.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Sourcing Doesn't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Sourcing dept manages contract lifecycle, not actual sourcing.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 team desperately needs automation... The firm needs them to be automated"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TPRM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Review Automation (GAP-20)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review for standard terms. Critical priority.</a:t>
            </a:r>
            <a:br/>
            <a:r>
              <a:t>HIGH IMPACT / NEW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Deviation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Control gaps documented, risk acceptance tracked in OneTrust.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Template 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Standard contract templates reduce negotiation cycles.</a:t>
            </a:r>
            <a:br/>
            <a:r>
              <a:t>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Legacy Compliance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Compliance status for older contracts retroactively assessed.</a:t>
            </a:r>
            <a:br/>
            <a:r>
              <a:t>NEW in 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Quantify contract backlog</a:t>
            </a:r>
            <a:br/>
            <a:r>
              <a:t>  Deviation tracking requirements</a:t>
            </a:r>
            <a:br/>
            <a:r>
              <a:t>  Automation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Contract template standardization</a:t>
            </a:r>
            <a:br/>
            <a:r>
              <a:t>  OneTrust deviation tracking pilot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contract review for standard terms</a:t>
            </a:r>
            <a:br/>
            <a:r>
              <a:t>  Deviation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Contract cycle time</a:t>
            </a:r>
            <a:br/>
            <a:r>
              <a:t>  Deviation tracking coverage</a:t>
            </a:r>
            <a:br/>
            <a:r>
              <a:t>  Manual review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TPRM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Third-party risk management, vendor due diligence, and OneTrust integration.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Process Model: SP3: Vendor Due Diligence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286000" cy="3657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SP3_VendorDD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830-question vendor questionnaire with skip logic. Vendor completion avg 30 days. Internal review 75 days (down from 144 in 2019). RAE: 80 questions, 28-29 day actual vs 14-day target, 335 assessments/year with 8-person team. v3 adds OneTrust integration for assessment automation and shift-left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TPRM: Current State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System Landscape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ServiceNow, Ariba, OneTrust, Oracle. Manual PDF transfers between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RAE 2x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80 questions, 28-29 day actual vs 14-day target. 335 assessments/year.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DD: 830 Questions, 75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Vendor completion 30 days. Internal review 75 days (down from 144).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Process Ownership Vacuum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Half a person assigned. No clear accountability or communication.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"Somebody needs to be empowered at the firm to say I own this"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TPRM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TPRM: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Empowered Process Owner (GAP-18)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owner with authority. 1 workflow manager + 2-3 PMs.</a:t>
            </a:r>
            <a:br/>
            <a:r>
              <a:t>HIGH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Shift-Left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Mini-RFP tools, standard questions upfront, self-service for business users.</a:t>
            </a:r>
            <a:br/>
            <a:r>
              <a:t>NEW in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Integration (GAP-21)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Zeebe service tasks for assessment automation. TPRM module for vendor DD.</a:t>
            </a:r>
            <a:br/>
            <a:r>
              <a:t>NEW in 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Competitor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Target 60-90 day E2E matching less-mature competitors.</a:t>
            </a:r>
            <a:br/>
            <a: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OneTrust API integration</a:t>
            </a:r>
            <a:br/>
            <a:r>
              <a:t>  Shift-left question inventory</a:t>
            </a:r>
            <a:br/>
            <a:r>
              <a:t>  Baseline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OneTrust-Camunda integration design</a:t>
            </a:r>
            <a:br/>
            <a:r>
              <a:t>  Shift-left mini-RFP pilot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 assessment automation in SP3</a:t>
            </a:r>
            <a:br/>
            <a:r>
              <a:t>  DD skip logic optimized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RAE cycle time (14d target)</a:t>
            </a:r>
            <a:br/>
            <a:r>
              <a:t>  DD cycle time</a:t>
            </a:r>
            <a:br/>
            <a:r>
              <a:t>  OneTrust automation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OneTrust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Integration Flow (Camunda 8 / Zeebe)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10058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1. Create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Zeebe Service Task triggers OneTrust Assessment Automation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54864" cy="10058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2. Assessor Completes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questionnaire (RAE) completed in OneTrust by assigned assessor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" cy="10058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3. Retrieve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Zeebe Service Task retrieves assessment output via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54864" cy="100584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4. DMN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Process variables (riskScore, riskTier, complianceFindings[]) feed DMN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Two Integration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1752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4864" cy="10058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SP3: Risk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OneTrust Assessment Automation manages questionnaires. Results pulled via API, feed DMN routing.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01752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3017520"/>
            <a:ext cx="54864" cy="10058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SP3: Vendor Due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429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OneTrust TPRM module. 830-question vendor questionnaire with skip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01752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3017520"/>
            <a:ext cx="54864" cy="10058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SP4: Contract Deviations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3429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OneTrust control gap documentation. Deviation tracking, risk acceptance.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Process Variable Mapping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63440"/>
            <a:ext cx="5394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663440"/>
            <a:ext cx="54864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riskScore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51206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Numeric risk score from OneTrust assessment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663440"/>
            <a:ext cx="5394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663440"/>
            <a:ext cx="54864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54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riskTier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74920"/>
            <a:ext cx="51206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High / Limited / Minimal -- drives DD depth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66359"/>
            <a:ext cx="5394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166359"/>
            <a:ext cx="54864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2577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complianceFindings[]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77839"/>
            <a:ext cx="51206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Array of regulatory gaps requiring remediation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166359"/>
            <a:ext cx="5394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166359"/>
            <a:ext cx="54864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2577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controlGapCount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577839"/>
            <a:ext cx="51206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Count of deviations for contract review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Open Sans"/>
              </a:defRPr>
            </a:pPr>
            <a:r>
              <a:t>Regulatory Alignment: OCC 2023-17 | NIST CSF 2.0 | DORA | SOX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Auth: OAuth2 (client_id/secret), tenant-specific hostname (https://{tenant}.my.onetrust.com)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Staffing and Resource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Open Sans"/>
              </a:defRPr>
            </a:pPr>
            <a:r>
              <a:t>"If we want this to really click... I can't have the architect review group being a critical portion with only two people" -- TPRM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6517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Current Staffing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26517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Workload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463040"/>
            <a:ext cx="26517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Risk/DD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8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7452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335 assessments/year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87452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At capacity -- doubled output while cutting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7744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Legal/Contracts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 people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37744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30+ contracts/month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37744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Critical -- "dumpster fire"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80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880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2-3 people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80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Recently reduced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880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926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Funding-constrained by domains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38328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Security Architecture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338328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429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~1 person for 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38328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429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"Need three of me"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338328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429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Cannot scale for AI review volume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8620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Vendor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388620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6 total, 2 at 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88620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Full process facilitation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388620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No formal allocation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38912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Technology Vendor Mgmt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438912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 person part-time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38912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Full START process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4389120"/>
            <a:ext cx="26517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Inadequate for scope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Measurement Dashboard: Baseline vs. Day 120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18872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Baseline (Current)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188720"/>
            <a:ext cx="3566160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Day 120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E2E cycle time (standard)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6-9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60020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60-90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E2E cycle time (Enable)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103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Same as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10312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06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E2E cycle time (AI fast-track)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606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Same as standard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6060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14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0896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RAE completion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10896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28-29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310896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14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61188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DD internal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61188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75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61188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Security review (Baseline tier)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11480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 weeks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11480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Same-day (automated)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6177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Form completion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6177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Unknown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46177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0" y="4663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90%+ first-pass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Contract cycle 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51206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Varies (up to 1.5yr)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512064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90 days standard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6235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669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Business Council decision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56235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5669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Monthly + email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562356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0" y="5669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48-hour async SLA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1264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172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Queue transparency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61264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6172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6126480"/>
            <a:ext cx="3566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6172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Open Sans"/>
              </a:defRPr>
            </a:pPr>
            <a:r>
              <a:t>Real-time dashboard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0876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28800"/>
          </a:xfrm>
          <a:prstGeom prst="roundRect">
            <a:avLst/>
          </a:prstGeom>
          <a:solidFill>
            <a:srgbClr val="00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54864" cy="18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Open Sans Condensed"/>
              </a:defRPr>
            </a:pPr>
            <a:r>
              <a:t>1. Executive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EE"/>
                </a:solidFill>
                <a:latin typeface="Open Sans"/>
              </a:defRPr>
            </a:pPr>
            <a:r>
              <a:t>Present discovery findings and v3 roadmap to executive sponsors. Resolve NDA timing, committee consolidation, and process ownership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4937760" cy="1828800"/>
          </a:xfrm>
          <a:prstGeom prst="roundRect">
            <a:avLst/>
          </a:prstGeom>
          <a:solidFill>
            <a:srgbClr val="00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" cy="18288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Open Sans Condensed"/>
              </a:defRPr>
            </a:pPr>
            <a:r>
              <a:t>2. Standards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EE"/>
                </a:solidFill>
                <a:latin typeface="Open Sans"/>
              </a:defRPr>
            </a:pPr>
            <a:r>
              <a:t>Finalize 3 request types, 6 security categories, prioritization scoring formula, and 3-pathway routing rules. Name owners for every Day 60 deliverable.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00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54864" cy="1828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Open Sans Condensed"/>
              </a:defRPr>
            </a:pPr>
            <a:r>
              <a:t>3. Quick Wins (Day 60)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EE"/>
                </a:solidFill>
                <a:latin typeface="Open Sans"/>
              </a:defRPr>
            </a:pPr>
            <a:r>
              <a:t>Deploy unified intake form, completeness gate, deal-killer pre-screen, NDA gate, and status notifications. Pilot simultaneous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4937760" cy="1828800"/>
          </a:xfrm>
          <a:prstGeom prst="roundRect">
            <a:avLst/>
          </a:prstGeom>
          <a:solidFill>
            <a:srgbClr val="00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4864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Open Sans Condensed"/>
              </a:defRPr>
            </a:pPr>
            <a:r>
              <a:t>4. Full Operation (Day 120)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EE"/>
                </a:solidFill>
                <a:latin typeface="Open Sans"/>
              </a:defRPr>
            </a:pPr>
            <a:r>
              <a:t>5 parallel streams, OneTrust integration, contract automation, distributed pod model, and executive KPI reporting with before/after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