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2137"/>
            </a:gs>
            <a:gs pos="100000">
              <a:srgbClr val="1A3A6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Software Onboarding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Topic Deep Dive &amp;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600"/>
              </a:spcAft>
              <a:defRPr sz="1300" b="0">
                <a:solidFill>
                  <a:srgbClr val="CCCCDD"/>
                </a:solidFill>
              </a:defRPr>
            </a:pPr>
            <a:r>
              <a:t>11 governance topics. Current state assessment, detailed recommendations, and 30/60/90/120-day roadmaps for each. Grounded in 9 stakeholder sessions, 30+ interviews, and 16 identified process gaps.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2286000" cy="1005840"/>
          </a:xfrm>
          <a:prstGeom prst="round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CA5A5"/>
                </a:solidFill>
              </a:rPr>
              <a:t>6-9 mo</a:t>
            </a:r>
          </a:p>
          <a:p>
            <a:pPr algn="ctr"/>
            <a:r>
              <a:rPr sz="1000">
                <a:solidFill>
                  <a:srgbClr val="AABBCC"/>
                </a:solidFill>
              </a:rPr>
              <a:t>Current 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3931920"/>
            <a:ext cx="2286000" cy="1005840"/>
          </a:xfrm>
          <a:prstGeom prst="round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6EE7B7"/>
                </a:solidFill>
              </a:rPr>
              <a:t>19 days</a:t>
            </a:r>
          </a:p>
          <a:p>
            <a:pPr algn="ctr"/>
            <a:r>
              <a:rPr sz="1000">
                <a:solidFill>
                  <a:srgbClr val="AABBCC"/>
                </a:solidFill>
              </a:rPr>
              <a:t>Target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3931920"/>
            <a:ext cx="2286000" cy="1005840"/>
          </a:xfrm>
          <a:prstGeom prst="round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11</a:t>
            </a:r>
          </a:p>
          <a:p>
            <a:pPr algn="ctr"/>
            <a:r>
              <a:rPr sz="1000">
                <a:solidFill>
                  <a:srgbClr val="AABBCC"/>
                </a:solidFill>
              </a:rPr>
              <a:t>Topic Areas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931920"/>
            <a:ext cx="2286000" cy="1005840"/>
          </a:xfrm>
          <a:prstGeom prst="round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16</a:t>
            </a:r>
          </a:p>
          <a:p>
            <a:pPr algn="ctr"/>
            <a:r>
              <a:rPr sz="1000">
                <a:solidFill>
                  <a:srgbClr val="AABBCC"/>
                </a:solidFill>
              </a:rPr>
              <a:t>Gaps Identified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t>Nine discovery sessions with 30+ stakeholders revealed an end-to-end process taking 6-9 months, routing through 18 sequential committees, and accepting requests from 5+ disconnected channels.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383280" cy="118872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Intake Consolidation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59669"/>
                </a:solidFill>
              </a:defRPr>
            </a:pPr>
            <a:r>
              <a:t>70% faster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Single gateway replaces 5+ channels. Completeness gate eliminates 40%+ rework.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63040"/>
            <a:ext cx="3383280" cy="118872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572768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Parallel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1051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59669"/>
                </a:solidFill>
              </a:defRPr>
            </a:pPr>
            <a:r>
              <a:t>18 -&gt;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488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Sequential committees replaced with 5 concurrent streams.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463040"/>
            <a:ext cx="3383280" cy="118872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572768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3-Pathway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181051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59669"/>
                </a:solidFill>
              </a:defRPr>
            </a:pPr>
            <a:r>
              <a:t>~30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21488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Vendor Affinity pathway for low-risk advisor tools.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16459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DC2626"/>
                </a:solidFill>
              </a:rPr>
              <a:t>6-9 mo</a:t>
            </a:r>
          </a:p>
          <a:p>
            <a:pPr algn="ctr"/>
            <a:r>
              <a:rPr sz="900">
                <a:solidFill>
                  <a:srgbClr val="64748B"/>
                </a:solidFill>
              </a:rPr>
              <a:t>End-to-End Duration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926080"/>
            <a:ext cx="16459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DC2626"/>
                </a:solidFill>
              </a:rPr>
              <a:t>18</a:t>
            </a:r>
          </a:p>
          <a:p>
            <a:pPr algn="ctr"/>
            <a:r>
              <a:rPr sz="900">
                <a:solidFill>
                  <a:srgbClr val="64748B"/>
                </a:solidFill>
              </a:rPr>
              <a:t>Sequential Committees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2926080"/>
            <a:ext cx="16459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DC2626"/>
                </a:solidFill>
              </a:rPr>
              <a:t>5+</a:t>
            </a:r>
          </a:p>
          <a:p>
            <a:pPr algn="ctr"/>
            <a:r>
              <a:rPr sz="900">
                <a:solidFill>
                  <a:srgbClr val="64748B"/>
                </a:solidFill>
              </a:rPr>
              <a:t>Intake Channels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199" y="2926080"/>
            <a:ext cx="16459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DC2626"/>
                </a:solidFill>
              </a:rPr>
              <a:t>60+</a:t>
            </a:r>
          </a:p>
          <a:p>
            <a:pPr algn="ctr"/>
            <a:r>
              <a:rPr sz="900">
                <a:solidFill>
                  <a:srgbClr val="64748B"/>
                </a:solidFill>
              </a:rPr>
              <a:t>AI Queue Items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2926080"/>
            <a:ext cx="16459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DC2626"/>
                </a:solidFill>
              </a:rPr>
              <a:t>2</a:t>
            </a:r>
          </a:p>
          <a:p>
            <a:pPr algn="ctr"/>
            <a:r>
              <a:rPr sz="900">
                <a:solidFill>
                  <a:srgbClr val="64748B"/>
                </a:solidFill>
              </a:rPr>
              <a:t>Legal Partners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2926080"/>
            <a:ext cx="16459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DC2626"/>
                </a:solidFill>
              </a:rPr>
              <a:t>~80</a:t>
            </a:r>
          </a:p>
          <a:p>
            <a:pPr algn="ctr"/>
            <a:r>
              <a:rPr sz="900">
                <a:solidFill>
                  <a:srgbClr val="64748B"/>
                </a:solidFill>
              </a:rPr>
              <a:t>REA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End-to-End Workflow -- Pain Point Overlay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t>The 5-phase lifecycle with red callouts marking the biggest pain points at each stage, validated by stakeholder interviews.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0972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op-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426" y="1280160"/>
            <a:ext cx="6231226" cy="2926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389120"/>
            <a:ext cx="2103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434840"/>
            <a:ext cx="54864" cy="118871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98848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SP1: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00600"/>
            <a:ext cx="1783079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5+ channels, ~80 Q form, no pre-screen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4389120"/>
            <a:ext cx="2103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4434840"/>
            <a:ext cx="54864" cy="118871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4498848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SP2: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800600"/>
            <a:ext cx="1783079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No prioritization, binary Buy/Build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389120"/>
            <a:ext cx="2103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4434840"/>
            <a:ext cx="54864" cy="118871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4498848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SP3: Eval &amp; 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800600"/>
            <a:ext cx="1783079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18 sequential committees, no security 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4389120"/>
            <a:ext cx="2103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9480" y="4434840"/>
            <a:ext cx="54864" cy="118871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4498848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SP4: Contracting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4800600"/>
            <a:ext cx="1783079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2-3 mo contracting, 2 legal partners, no rework loop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4389120"/>
            <a:ext cx="2103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9760" y="4434840"/>
            <a:ext cx="54864" cy="118871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4498848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SP5: Go-Live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800600"/>
            <a:ext cx="1783079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No conditional approval, no ownership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Implementation Roadmap -- 30/60/90/120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t>Phased approach: planning and consolidation first, then progressive automation aligned to stakeholder urgency and gap priorities.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97480" cy="484632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Days 1-30: Plan &amp; Consolidate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423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Zero automation -- define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24231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Map and deduplicate intake fields across 5+ channels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Define prioritization scoring formula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Define security baseline controls (3-tier)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Map 18 committees to 5 parallel streams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Define Vendor Affinity pathway rules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Establish deal-killer no-go list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Executive alignment and sign-off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280160"/>
            <a:ext cx="2697480" cy="484632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371600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891B2"/>
                </a:solidFill>
              </a:defRPr>
            </a:pPr>
            <a:r>
              <a:t>Days 31-60: Quick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600200"/>
            <a:ext cx="2423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First measurable cycle time 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783080"/>
            <a:ext cx="24231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Deploy unified intake form (GAP-1)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Implement completeness quality gate (GAP-9)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Deploy deal-killer pre-screen (GAP-16)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Add status notifications at phase boundaries (GAP-7)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Implement prioritization scoring (GAP-2)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Add mandatory ownership assignment (GAP-14)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2697480" cy="484632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371600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Days 61-90: Structural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600200"/>
            <a:ext cx="2423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Pathway routing and parallel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83080"/>
            <a:ext cx="24231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Deploy 3-pathway routing (GAP-11)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Implement progressive forms (GAP-3)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Deploy tiered security assessment (GAP-12)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Restructure SP3: 5 parallel streams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Add finance rework loop (GAP-4)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Implement conditional approval (GAP-13)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280160"/>
            <a:ext cx="2697480" cy="484632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371600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Days 91-120: Optimize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600200"/>
            <a:ext cx="2423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Advanced automation and measurement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783080"/>
            <a:ext cx="24231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Deploy workload visibility dashboard (GAP-10)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Implement AI fast-track pathway (GAP-6)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Deploy exception routing (GAP-8)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Implement pre-onboarding idea funnel (GAP-15)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Measure before/after metrics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Executive reporting on cycle time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Day 30 -- Process Improvements &amp; Consolidations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t>The first 30 days focus entirely on planning artifacts. No automation deployed -- but these decisions unlock everything that follows.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5204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" cy="201167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Intake Field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0040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Map every question across ServiceNow, REA (~80 Q), AI forms, Power Apps, email. Deduplicate. Define minimum viable fields for unified intake.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59" y="1371600"/>
            <a:ext cx="35204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59" y="1417320"/>
            <a:ext cx="54864" cy="201167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81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Prioritization 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83080"/>
            <a:ext cx="320040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Define quantitative scoring: business impact, strategic alignment, urgency, risk tier, capacity. Draft OB-DMN-5 decision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371600"/>
            <a:ext cx="35204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417320"/>
            <a:ext cx="54864" cy="201167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481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Security Baseline 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1783080"/>
            <a:ext cx="320040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Define 3-tier control hierarchy: Baseline (automated), Elevated (automated + manual), Major (full assessment + pen test).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35204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54864" cy="201167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Committee Consolidation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69080"/>
            <a:ext cx="320040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Map all 18 committees to 5 parallel evaluation streams. Identify which reviews can run simultaneously. Draft communication plan.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59" y="3657600"/>
            <a:ext cx="35204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59" y="3703320"/>
            <a:ext cx="54864" cy="201167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767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Vendor Affinity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069080"/>
            <a:ext cx="320040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Define 3rd pathway criteria: no org cost, advisor-direct purchase, vendor partnership program. Update OB-DMN-2 routing table.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3657600"/>
            <a:ext cx="35204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3703320"/>
            <a:ext cx="54864" cy="201167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59" y="3767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Executive Alignment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4069080"/>
            <a:ext cx="320040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Present discovery findings and roadmap to executive sponsors. Confirm committee consolidation. Assign owners to every Day 60 deliverable.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2137"/>
            </a:gs>
            <a:gs pos="100000">
              <a:srgbClr val="1A3A6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SP1: Request &amp;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1. Intake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 b="0">
                <a:solidFill>
                  <a:srgbClr val="CCCCDD"/>
                </a:solidFill>
              </a:defRPr>
            </a:pPr>
            <a:r>
              <a:t>Initial request capture, portfolio review, and solution discovery. The front door to the entire onboarding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Intake --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22960"/>
            <a:ext cx="10972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1-request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410" y="822960"/>
            <a:ext cx="5265259" cy="2286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291840"/>
          <a:ext cx="530352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System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TBC Intake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ServiceNow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Inconsistent compliance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REA Form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~80 questions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Frequently completed incorrectly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AI 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Separate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 forms at different stages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Rapid Risk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Power Apps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Used as onboarding workaround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Email/Chat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Unstructured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 tracking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217920" y="3291840"/>
            <a:ext cx="457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3291840"/>
            <a:ext cx="507492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3310128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Critical: </a:t>
            </a:r>
            <a:r>
              <a:rPr sz="900">
                <a:solidFill>
                  <a:srgbClr val="1E293B"/>
                </a:solidFill>
              </a:rPr>
              <a:t>Business partners submit same information to multiple teams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703320"/>
            <a:ext cx="457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3703320"/>
            <a:ext cx="507492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721607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Critical: </a:t>
            </a:r>
            <a:r>
              <a:rPr sz="900">
                <a:solidFill>
                  <a:srgbClr val="1E293B"/>
                </a:solidFill>
              </a:rPr>
              <a:t>Multiple groups run independent programs, seeking fastest path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11480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4114800"/>
            <a:ext cx="507492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133087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REA form frequently filled out incorrectly -- even experienced users struggle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663440"/>
            <a:ext cx="457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4663440"/>
            <a:ext cx="50749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001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334155"/>
                </a:solidFill>
              </a:defRPr>
            </a:pPr>
            <a:r>
              <a:t>"Multiple business cases submitted on a single form."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965192"/>
            <a:ext cx="4800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-- Legal Director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Intake --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53949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" cy="118871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Unified Intake Gateway (GAP-1)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7492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Single entry point absorbs all 5+ channels. Dynamic routing by request type: Standard, AI, Exception, Vendor Partnership. Eliminates duplicate submissions.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914400"/>
            <a:ext cx="53949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960120"/>
            <a:ext cx="54864" cy="118871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2412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Completeness Quality Gate (GAP-9)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507492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Automated screening before human review. AI-assisted pre-screening validates minimum viable fields, problem statement quality, and risk flags.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31720"/>
            <a:ext cx="53949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77439"/>
            <a:ext cx="54864" cy="118871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4144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Deal-Killer Pre-Screen (GAP-16)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507492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DMN-driven check against managed no-go list. Certain AI models are complete no-gos -- reject immediately with explanation rather than consuming weeks.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331720"/>
            <a:ext cx="53949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377439"/>
            <a:ext cx="54864" cy="11887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44144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Existing Portfolio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43200"/>
            <a:ext cx="507492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Before formal intake, check if existing solution satisfies the need. Route to 'Leverage Existing' -- avoid the entire onboarding process for duplicates.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40480"/>
            <a:ext cx="2651760" cy="24688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31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Day 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0624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Map all intake fields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Deduplicate questions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Define minimum viable fields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Draft deal-killer no-go list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3840480"/>
            <a:ext cx="2651760" cy="246888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3931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891B2"/>
                </a:solidFill>
              </a:defRPr>
            </a:pPr>
            <a:r>
              <a:t>Day 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20624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Deploy unified intake form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Activate completeness gate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Deploy deal-killer pre-screen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Redirect all channels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840480"/>
            <a:ext cx="2651760" cy="246888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931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Day 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20624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Progressive form strategy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AI-assisted pre-screening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Form analytics: completion rates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3840480"/>
            <a:ext cx="2651760" cy="24688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3931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Day 120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20624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Exception routing live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Pre-onboarding idea funnel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Measure: form completion %, rejection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2137"/>
            </a:gs>
            <a:gs pos="100000">
              <a:srgbClr val="1A3A6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SP2: Planning &amp;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2.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 b="0">
                <a:solidFill>
                  <a:srgbClr val="CCCCDD"/>
                </a:solidFill>
              </a:defRPr>
            </a:pPr>
            <a:r>
              <a:t>Backlog ranking, pathway selection, and resource allocation. The missing link between intake and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Prioritization --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22960"/>
            <a:ext cx="109728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2-planning-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351" y="822960"/>
            <a:ext cx="9039377" cy="1645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2651760"/>
            <a:ext cx="457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651760"/>
            <a:ext cx="525780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7004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Critical: </a:t>
            </a:r>
            <a:r>
              <a:rPr sz="900">
                <a:solidFill>
                  <a:srgbClr val="1E293B"/>
                </a:solidFill>
              </a:rPr>
              <a:t>No formal prioritization standard or formula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63240"/>
            <a:ext cx="457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3063240"/>
            <a:ext cx="525780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08152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Critical: </a:t>
            </a:r>
            <a:r>
              <a:rPr sz="900">
                <a:solidFill>
                  <a:srgbClr val="1E293B"/>
                </a:solidFill>
              </a:rPr>
              <a:t>No force-ranking mechanism across the enterprise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7472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347472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9300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Each requestor views their request as most important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8620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88620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04487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Auto-approval for low-risk items not supported -- all follow same heavyweight process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651760"/>
            <a:ext cx="457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2651760"/>
            <a:ext cx="50749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68833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334155"/>
                </a:solidFill>
              </a:defRPr>
            </a:pPr>
            <a:r>
              <a:t>"Teams horse trade internally before involving Legal."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53512"/>
            <a:ext cx="4800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-- Process Manager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291840"/>
            <a:ext cx="457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3291840"/>
            <a:ext cx="50749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32841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334155"/>
                </a:solidFill>
              </a:defRPr>
            </a:pPr>
            <a:r>
              <a:t>"Competing initiatives across the organization with no arbitration."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593592"/>
            <a:ext cx="4800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-- Procurement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931920"/>
            <a:ext cx="457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3640" y="3931920"/>
            <a:ext cx="50749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96849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334155"/>
                </a:solidFill>
              </a:defRPr>
            </a:pPr>
            <a:r>
              <a:t>"Prioritization can be partially driven by scoring intake form responses."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33672"/>
            <a:ext cx="4800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-- Governance Specialist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Prioritization --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DMN-Driven Scoring (GAP-2)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New OB-DMN-5: inputs = business impact, strategic alignment, urgency, risk tier, capacity. Output: P1/P2/P3 priority score. Replaces 'horse trading' with objective ranking.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91440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960120"/>
            <a:ext cx="54864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2412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3-Pathway Routing (GAP-11)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Replace binary Buy/Build gateway with tri-state routing: Buy, Build, Vendor Affinity. OB-DMN-2 expanded. Right-sized governance per pathway.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79"/>
            <a:ext cx="54864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328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Low-Complexity Bypass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SP2 gateway: requests that don't need full evaluation skip directly to pathway routing. Auto-approval for low-risk, low-complexity items.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42316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468879"/>
            <a:ext cx="54864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5328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Transparent Queue 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3464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Requestors see their position in the ranked backlog. Status notifications at every transition. Data-driven capacity decisions.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2651760" cy="22860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Day 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Define scoring formula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Draft OB-DMN-5 table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Get governance sign-off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Define VA criteria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023360"/>
            <a:ext cx="2651760" cy="228600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891B2"/>
                </a:solidFill>
              </a:defRPr>
            </a:pPr>
            <a:r>
              <a:t>Day 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Deploy scoring in SP2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Publish queue position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Status notifications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023360"/>
            <a:ext cx="2651760" cy="228600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Day 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3-pathway routing live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OB-DMN-2 updated with VA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Low-complexity bypass active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4023360"/>
            <a:ext cx="2651760" cy="22860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Day 120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Measure: queue wait time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Refine scoring weights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Executive reporting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2137"/>
            </a:gs>
            <a:gs pos="100000">
              <a:srgbClr val="1A3A6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SP3-SP4: Evaluation &amp; Contracting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3. Funding /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 b="0">
                <a:solidFill>
                  <a:srgbClr val="CCCCDD"/>
                </a:solidFill>
              </a:defRPr>
            </a:pPr>
            <a:r>
              <a:t>Financial analysis, budget authorization, and TCO/ROI assessment. Establishes fiscal justification before commitments.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Funding / Finance -- Current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457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914400"/>
            <a:ext cx="525780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Critical: </a:t>
            </a:r>
            <a:r>
              <a:rPr sz="900">
                <a:solidFill>
                  <a:srgbClr val="1E293B"/>
                </a:solidFill>
              </a:rPr>
              <a:t>Formal denial sends request back to beginning -- even for minor corrections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4416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Cannot reroute coding matrix issues to FP&amp;A -- must email outside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Cannot make minor cosmetic corrections independently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4572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148840"/>
            <a:ext cx="5257800" cy="320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6712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563EB"/>
                </a:solidFill>
              </a:rPr>
              <a:t>Medium: </a:t>
            </a:r>
            <a:r>
              <a:rPr sz="900">
                <a:solidFill>
                  <a:srgbClr val="1E293B"/>
                </a:solidFill>
              </a:rPr>
              <a:t>Vendor partnership products require no funding but validation still required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51760"/>
            <a:ext cx="457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2651760"/>
            <a:ext cx="5257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88336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334155"/>
                </a:solidFill>
              </a:defRPr>
            </a:pPr>
            <a:r>
              <a:t>"Formal denial sends request back to beginning of process."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953512"/>
            <a:ext cx="4983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-- Finance Representative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17920" y="914400"/>
          <a:ext cx="50292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RACI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R/A -- performs TCO, ROI, NPV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Business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 -- provides business case and financial inputs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 -- authorizes budget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Procurement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 -- procurement routing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Oversight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 -- informed of financial decisions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Funding / Finance --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Finance Rework Loop (GAP-4)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Add correction loop in SP4: minor issues loop back to correction task without formal denial. Only substantive issues restart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91440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960120"/>
            <a:ext cx="54864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2412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Vendor Affinity Bypass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VA products (no org cost) skip funding validation entirely. OB-DMN-2 VA output bypasses Task_FinancialAnalysis in SP3 and negotiation in SP4.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79"/>
            <a:ext cx="54864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328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FP&amp;A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Direct routing to FP&amp;A for coding matrix issues within the process -- no external email required. Automated routing based on correction type.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42316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468879"/>
            <a:ext cx="54864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5328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Progressive Financial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3464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SP1: budget estimate only. SP2: strategic alignment. SP3: full TCO/ROI model. No financial question appears in more than one form.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2651760" cy="22860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Day 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Map financial questions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Define correction vs. denial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Identify FP&amp;A routing rules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023360"/>
            <a:ext cx="2651760" cy="228600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891B2"/>
                </a:solidFill>
              </a:defRPr>
            </a:pPr>
            <a:r>
              <a:t>Day 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Progressive fields in form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FP&amp;A routing path defined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023360"/>
            <a:ext cx="2651760" cy="228600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Day 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Finance rework loop deployed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VA bypass active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Automated FP&amp;A routing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4023360"/>
            <a:ext cx="2651760" cy="22860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Day 120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Measure: restart rate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Average correction cycle time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VA bypass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2137"/>
            </a:gs>
            <a:gs pos="100000">
              <a:srgbClr val="1A3A6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SP3: Evaluation &amp;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4. Sourcing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 b="0">
                <a:solidFill>
                  <a:srgbClr val="CCCCDD"/>
                </a:solidFill>
              </a:defRPr>
            </a:pPr>
            <a:r>
              <a:t>Vendor landscape assessment, vendor selection, and risk evaluation. Includes procurement execution and due diligence.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Sourcing --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22960"/>
            <a:ext cx="109728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3-evaluation-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312" y="822960"/>
            <a:ext cx="4433454" cy="2743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3749039"/>
            <a:ext cx="457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3749039"/>
            <a:ext cx="525780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767327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Critical: </a:t>
            </a:r>
            <a:r>
              <a:rPr sz="900">
                <a:solidFill>
                  <a:srgbClr val="1E293B"/>
                </a:solidFill>
              </a:rPr>
              <a:t>Business partners bypass sourcing, arriving with pre-selected vendors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6052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416052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178807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Sourcing team makes quasi-legal decisions due to legal bottleneck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57200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457200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59028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Solutions underutilized -- multi-million dollar tools used for 1/3 of capabilities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83480"/>
            <a:ext cx="457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983480"/>
            <a:ext cx="525780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00176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Critical: </a:t>
            </a:r>
            <a:r>
              <a:rPr sz="900">
                <a:solidFill>
                  <a:srgbClr val="1E293B"/>
                </a:solidFill>
              </a:rPr>
              <a:t>18 sequential committee reviews -- meetings 5+ weeks apart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749039"/>
            <a:ext cx="457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3749039"/>
            <a:ext cx="50749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785615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334155"/>
                </a:solidFill>
              </a:defRPr>
            </a:pPr>
            <a:r>
              <a:t>"Same use case presented to multiple committees sequentially."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50791"/>
            <a:ext cx="4800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-- Business Representative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389120"/>
            <a:ext cx="457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4389120"/>
            <a:ext cx="50749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42569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334155"/>
                </a:solidFill>
              </a:defRPr>
            </a:pPr>
            <a:r>
              <a:t>"Architecture teams assessing financials. Financial teams assessing architecture."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90872"/>
            <a:ext cx="4800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-- Technical Lead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Sourcing --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5 Parallel Evaluation 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Replace 18 sequential committees with 5 concurrent streams: Tech Architecture, Security, Risk/Compliance/Legal, Financial/TCO, Vendor Landscape.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91440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960120"/>
            <a:ext cx="54864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2412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Vendor Affinity Reduced Scope (GAP-11)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VA pathway: skip financial analysis and vendor landscape assessment. Compliance review and security assessment only -- right-sized due diligence.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79"/>
            <a:ext cx="54864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328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Vendor DD via Message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Structured cross-pool communication: DD request sent to vendor pool, vendor responds with evidence. 5-day SLA timer on response.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42316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468879"/>
            <a:ext cx="54864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5328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Post-Purchase Utilization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3464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Post-onboarding includes utilization review tasks. Prevents multi-million dollar tools being used for 1/3 of capabilities. Annual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2651760" cy="22860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Day 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Map 18 committees to 5 streams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Define concurrent review rules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Get committee chair buy-in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023360"/>
            <a:ext cx="2651760" cy="228600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891B2"/>
                </a:solidFill>
              </a:defRPr>
            </a:pPr>
            <a:r>
              <a:t>Day 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Pilot parallel evaluation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Vendor DD template standardized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023360"/>
            <a:ext cx="2651760" cy="228600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Day 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5 parallel streams operational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VA reduced scope deployed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5-day SLA timers active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4023360"/>
            <a:ext cx="2651760" cy="22860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Day 120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Measure: eval cycle time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Post-purchase utilization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Vendor response SLA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2137"/>
            </a:gs>
            <a:gs pos="100000">
              <a:srgbClr val="1A3A6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SP3: Evaluation &amp;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5.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 b="0">
                <a:solidFill>
                  <a:srgbClr val="CCCCDD"/>
                </a:solidFill>
              </a:defRPr>
            </a:pPr>
            <a:r>
              <a:t>Security assessment, vulnerability management, and security architecture review. The "secure by design" gap.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Cybersecurity -- Current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457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914400"/>
            <a:ext cx="525780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Critical: </a:t>
            </a:r>
            <a:r>
              <a:rPr sz="900">
                <a:solidFill>
                  <a:srgbClr val="1E293B"/>
                </a:solidFill>
              </a:rPr>
              <a:t>No defined "secure by design" standard at the organization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525780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4416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Critical: </a:t>
            </a:r>
            <a:r>
              <a:rPr sz="900">
                <a:solidFill>
                  <a:srgbClr val="1E293B"/>
                </a:solidFill>
              </a:rPr>
              <a:t>Teams don't know minimum security controls; enforcement 'fairly loose'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Only a fraction of systems covered by identity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14884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6712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End-of-year compliance failures common; PII in uncontrolled systems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6032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256032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7860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Security tools also contain AI -- circular dependency for approvals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914400"/>
            <a:ext cx="457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914400"/>
            <a:ext cx="50749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95097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334155"/>
                </a:solidFill>
              </a:defRPr>
            </a:pPr>
            <a:r>
              <a:t>"AI technologies still in formation; no public standards for securing new tech."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216152"/>
            <a:ext cx="4800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-- AI Security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554480"/>
            <a:ext cx="457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1554480"/>
            <a:ext cx="50749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59105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334155"/>
                </a:solidFill>
              </a:defRPr>
            </a:pPr>
            <a:r>
              <a:t>"MCP technology didn't exist 18 months ago -- new tech requires new baselines."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856231"/>
            <a:ext cx="4800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-- AI Security Lead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Cybersecurity --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35204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" cy="246887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Tiered Security Baseline (GAP-12)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200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DMN-driven assessment level based on risk tier + data classification + AI component:</a:t>
            </a:r>
            <a:br/>
            <a:br/>
            <a:r>
              <a:t>Baseline: Automated checks only</a:t>
            </a:r>
            <a:br/>
            <a:r>
              <a:t>Elevated: Automated + manual review</a:t>
            </a:r>
            <a:br/>
            <a:r>
              <a:t>Major: Full assessment + pen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914400"/>
            <a:ext cx="35204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960120"/>
            <a:ext cx="54864" cy="246887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0241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Time-Bound Risk Acceptance (GAP-13)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325880"/>
            <a:ext cx="3200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"Company wants product by Q2 but security controls not ready until Q3." Conditional approval with monitoring timer. Auto-escalation if conditions not met by expiry.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914400"/>
            <a:ext cx="35204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960120"/>
            <a:ext cx="54864" cy="246887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0241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Automated Baseline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325880"/>
            <a:ext cx="3200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Baseline tier runs as service task in Automation lane -- no human review needed. Only Elevated/Major route to manual review. Reduces security team workload.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2651760" cy="24688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Day 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0624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Define 3-tier control hierarchy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Map requirements per tier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Security Lead sign-off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840480"/>
            <a:ext cx="2651760" cy="246888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3931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891B2"/>
                </a:solidFill>
              </a:defRPr>
            </a:pPr>
            <a:r>
              <a:t>Day 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20624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Document baseline checklist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Draft DMN table for routing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40480"/>
            <a:ext cx="2651760" cy="246888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931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Day 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0624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Tiered assessment deployed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Automated baseline active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Conditional approval in SP5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3840480"/>
            <a:ext cx="2651760" cy="24688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3931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Day 120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20624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Measure: review cycle time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Baseline automation rate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Conditional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2137"/>
            </a:gs>
            <a:gs pos="100000">
              <a:srgbClr val="1A3A6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SP3-SP4: Evaluation &amp;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6. Enterprise Architecture (Buy Only)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 b="0">
                <a:solidFill>
                  <a:srgbClr val="CCCCDD"/>
                </a:solidFill>
              </a:defRPr>
            </a:pPr>
            <a:r>
              <a:t>Architecture review, integration planning, and technology standards compliance. Ensures software fits the enterprise landscape.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Enterprise Architecture --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22960"/>
            <a:ext cx="10972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4-contracting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552" y="822960"/>
            <a:ext cx="8112975" cy="1828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283464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83464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Architecture review group recently reduced in staffing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4612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324612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26440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Architecture teams assessing financials (outside their expertise)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365760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75887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Integration costs beyond initial purchase not captured in Buy/Build binary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06240"/>
            <a:ext cx="457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4206240"/>
            <a:ext cx="5257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42816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334155"/>
                </a:solidFill>
              </a:defRPr>
            </a:pPr>
            <a:r>
              <a:t>"Some 'buy' scenarios also require 'build' -- AI tool generating emails needs compliance capture integration."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07992"/>
            <a:ext cx="4983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-- Product Director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217920" y="2834640"/>
          <a:ext cx="50292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Sub-Process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Technical Architecture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SP3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Perform Proof of Concept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SP4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Technical Risk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SP4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Vendor Technical Demo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Vendor Pool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Vendor Deployment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Vendor Pool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Enterprise Architecture --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Integration Governance for Buy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When Buy pathway identifies integration work, trigger SP4 Task_DefineBuildReqs. Hybrid buy+build pattern captured explicitly.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91440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960120"/>
            <a:ext cx="54864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2412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PDLC for Build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Build pathway enters nested PDLC: Architecture Review, Development, Testing &amp; QA, Integration Testing. Retry loop on test failures.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423160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d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940" y="2423160"/>
            <a:ext cx="5392039" cy="914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8640" y="242316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468879"/>
            <a:ext cx="54864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328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Focused Review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83464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Architecture teams review architecture only -- no financial assessment. Financial analysis runs in parallel, not through architecture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474720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520439"/>
            <a:ext cx="54864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58444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Standards Compliance Checklist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886200"/>
            <a:ext cx="50749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Automated technology standards check before PoC. DMN-driven: integration patterns, data flow, security architecture fit.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23360"/>
            <a:ext cx="2651760" cy="22860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Day 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Define Buy path checklist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Document integration triggers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Clarify review scope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4023360"/>
            <a:ext cx="2651760" cy="228600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891B2"/>
                </a:solidFill>
              </a:defRPr>
            </a:pPr>
            <a:r>
              <a:t>Day 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Architecture decoupled from financial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Standards checklist documented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023360"/>
            <a:ext cx="2651760" cy="228600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Day 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Integration governance active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PDLC for Build path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Parallel review enforced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4023360"/>
            <a:ext cx="2651760" cy="22860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Day 120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Measure: review cycle time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Integration cost capture rate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PoC success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2137"/>
            </a:gs>
            <a:gs pos="100000">
              <a:srgbClr val="1A3A6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Cross-Cutting: SP1-SP5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7.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 b="0">
                <a:solidFill>
                  <a:srgbClr val="CCCCDD"/>
                </a:solidFill>
              </a:defRPr>
            </a:pPr>
            <a:r>
              <a:t>Regulatory compliance review, legal assessment, and data protection obligations across the full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Compliance -- Current State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5029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Regulation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OCC 2023-17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Third-party risk management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GDPR / CCPA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Data processing and privacy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SOX 302/404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Internal controls, financial reporting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DORA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Digital operational resilience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EU AI 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AI system risk classification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NIST CSF 2.0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Cybersecurity framework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600"/>
              </a:spcAft>
              <a:defRPr sz="1000" b="0">
                <a:solidFill>
                  <a:srgbClr val="1E293B"/>
                </a:solidFill>
              </a:defRPr>
            </a:pPr>
            <a:r>
              <a:t>Compliance review appears in all 5 phases plus the Vendor Pool -- highest breadth of any governance topic.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914400"/>
            <a:ext cx="457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3640" y="914400"/>
            <a:ext cx="507492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932688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Critical: </a:t>
            </a:r>
            <a:r>
              <a:rPr sz="900">
                <a:solidFill>
                  <a:srgbClr val="1E293B"/>
                </a:solidFill>
              </a:rPr>
              <a:t>No consistent standard for what requires escalation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07492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44168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End-of-year compliance failures common; PII in uncontrolled systems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737360"/>
            <a:ext cx="507492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55648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Different teams have varying risk acceptance thresholds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457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2286000"/>
            <a:ext cx="50749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32257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334155"/>
                </a:solidFill>
              </a:defRPr>
            </a:pPr>
            <a:r>
              <a:t>"Information trickles through various processes instead of arriving complete upfront."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87752"/>
            <a:ext cx="4800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-- Legal Director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Compliance --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35204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" cy="246887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Phase-Boundary Quality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200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Every phase transition validates compliance prerequisites before allowing the request to advance. Prevents incomplete information from cascading.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914400"/>
            <a:ext cx="35204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960120"/>
            <a:ext cx="54864" cy="246887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0241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DMN-Driven Escalation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325880"/>
            <a:ext cx="3200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Risk tier determines escalation: Minimal = single approver, Limited = committee quorum, High = full advisory board. OB-DMN-3 routes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914400"/>
            <a:ext cx="35204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960120"/>
            <a:ext cx="54864" cy="246887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0241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Regulatory Traceability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325880"/>
            <a:ext cx="3200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Every task carries regulatory annotations via Camunda properties. Audit trail links decisions to OCC, GDPR, SOX, DORA requirements.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2651760" cy="24688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Day 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0624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Map regulations to phases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Define escalation criteria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Document quality gates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840480"/>
            <a:ext cx="2651760" cy="246888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3931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891B2"/>
                </a:solidFill>
              </a:defRPr>
            </a:pPr>
            <a:r>
              <a:t>Day 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20624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Phase-boundary gates active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Compliance notification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40480"/>
            <a:ext cx="2651760" cy="246888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931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Day 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0624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OB-DMN-3 routing deployed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3-tier review operational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Regulatory annotations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3840480"/>
            <a:ext cx="2651760" cy="24688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3931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Day 120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20624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Compliance audit trail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Measure: failure rate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Traceability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2137"/>
            </a:gs>
            <a:gs pos="100000">
              <a:srgbClr val="1A3A6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SP3: Evaluation &amp;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8. AI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 b="0">
                <a:solidFill>
                  <a:srgbClr val="CCCCDD"/>
                </a:solidFill>
              </a:defRPr>
            </a:pPr>
            <a:r>
              <a:t>AI and ML risk classification, model validation, and bias assessment. The highest-urgency domain with 60+ items in queue.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AI Governance -- Current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457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914400"/>
            <a:ext cx="525780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Critical: </a:t>
            </a:r>
            <a:r>
              <a:rPr sz="900">
                <a:solidFill>
                  <a:srgbClr val="1E293B"/>
                </a:solidFill>
              </a:rPr>
              <a:t>Overly restrictive AI addendum causes extended vendor negotiations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525780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4416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Critical: </a:t>
            </a:r>
            <a:r>
              <a:rPr sz="900">
                <a:solidFill>
                  <a:srgbClr val="1E293B"/>
                </a:solidFill>
              </a:rPr>
              <a:t>AI tools perceived as taking too long -- stakeholders want AI-first solutions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60+ items in AI governance queue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14884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6712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AI process involves 3 separate committees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6032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256032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7860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Multiple tools submitted for same function -- no AI strategy alignment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914400"/>
            <a:ext cx="457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914400"/>
            <a:ext cx="50749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95097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334155"/>
                </a:solidFill>
              </a:defRPr>
            </a:pPr>
            <a:r>
              <a:t>"AI should be treated as the first use case with planned expansion afterward."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216152"/>
            <a:ext cx="4800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-- Product Director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554480"/>
            <a:ext cx="457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1554480"/>
            <a:ext cx="50749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59105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334155"/>
                </a:solidFill>
              </a:defRPr>
            </a:pPr>
            <a:r>
              <a:t>"'Crawl, walk, run' messaging rejected -- clear target state needed."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856231"/>
            <a:ext cx="4800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-- Product Director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194560"/>
            <a:ext cx="457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2194560"/>
            <a:ext cx="50749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23113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334155"/>
                </a:solidFill>
              </a:defRPr>
            </a:pPr>
            <a:r>
              <a:t>"Need to communicate non-starter models/vendors early to prevent wasted effort."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96312"/>
            <a:ext cx="4800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-- Business Representative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AI Governance --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AI Fast-Track Pathway (GAP-6)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AI tools run AI Gov Review + Security Assessment only. Pre-defined AI risk posture reduces decision latency. Target: 2-week end-to-end vs. 6-9 months.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91440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960120"/>
            <a:ext cx="54864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2412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Deal-Killer Pre-Screen for AI (GAP-16)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Known no-go AI models/vendors rejected at intake. Enterprise Risk Management red/green light decision matrix in SP1. Prevents wasted review cycles.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79"/>
            <a:ext cx="54864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328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Streamlined AI Addendum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Working with outside firm to redefine AI stipulations. Predefined scenarios get streamlined approval; complex cases get full review. Reduces vendor pushback.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42316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468879"/>
            <a:ext cx="54864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5328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3-Committee Consolidation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3464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AI Risk Working Group, AI Cyber Review, AI Risk Review, AI Governance Committee consolidated into single AI Governance Review task in SP3.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2651760" cy="22860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Day 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Define AI risk posture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Build AI no-go list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Define fast-track criteria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Map 4 AI committees to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023360"/>
            <a:ext cx="2651760" cy="228600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891B2"/>
                </a:solidFill>
              </a:defRPr>
            </a:pPr>
            <a:r>
              <a:t>Day 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AI deal-killer active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Committee consolidation communicated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023360"/>
            <a:ext cx="2651760" cy="228600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Day 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AI fast-track piloted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Streamlined addendum drafted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4023360"/>
            <a:ext cx="2651760" cy="22860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Day 120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AI fast-track operational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Measure: queue depth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Target: 2 weeks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2137"/>
            </a:gs>
            <a:gs pos="100000">
              <a:srgbClr val="1A3A6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Cross-Cutting: SP1-SP4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9. Privacy (Legal)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 b="0">
                <a:solidFill>
                  <a:srgbClr val="CCCCDD"/>
                </a:solidFill>
              </a:defRPr>
            </a:pPr>
            <a:r>
              <a:t>Data protection impact assessment, data classification, and cross-border transfer compliance. GDPR/CCPA obligations throughout the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Privacy -- Current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91440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Different teams have varying risk acceptance thresholds for data handling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4416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PII found in uncontrolled systems -- end-of-year compliance failures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AI, offshoring, and subcontracting requirements create rework when discovered late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4572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148840"/>
            <a:ext cx="5257800" cy="320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6712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563EB"/>
                </a:solidFill>
              </a:rPr>
              <a:t>Medium: </a:t>
            </a:r>
            <a:r>
              <a:rPr sz="900">
                <a:solidFill>
                  <a:srgbClr val="1E293B"/>
                </a:solidFill>
              </a:rPr>
              <a:t>AI-related requests add complexity with evolving privacy guidance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17920" y="914400"/>
          <a:ext cx="50292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Privacy Relevance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Gather Requirements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Data classification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Preliminary Analysis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SP2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Data flow identification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Risk, Compliance &amp; Legal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DPIA, cross-border review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Refine Requirements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SP4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DPA drafting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Perform PoC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Data handling validation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Privacy --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35204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" cy="246887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Early Data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200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SP1 intake captures data classification at submission: PII, PHI, financial data, public. Classification drives automated routing of privacy review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914400"/>
            <a:ext cx="35204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960120"/>
            <a:ext cx="54864" cy="246887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0241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Progressive Privacy Disclosure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325880"/>
            <a:ext cx="3200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SP1: basic data type. SP2: data flow direction. SP3: full DPIA when warranted. SP4: DPA terms. No privacy question repeated across phases.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914400"/>
            <a:ext cx="35204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960120"/>
            <a:ext cx="54864" cy="246887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0241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AI Privacy Triggers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325880"/>
            <a:ext cx="3200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When AI component detected: automatic cross-border data assessment, training data provenance check, and model card review. Integrated into AI Gov branch.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2651760" cy="24688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Day 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0624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Define data classification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Map privacy questions per phase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Document DPIA triggers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840480"/>
            <a:ext cx="2651760" cy="246888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3931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891B2"/>
                </a:solidFill>
              </a:defRPr>
            </a:pPr>
            <a:r>
              <a:t>Day 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20624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Data classification in intake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Automated privacy routing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40480"/>
            <a:ext cx="2651760" cy="246888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931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Day 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0624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Progressive privacy fields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AI privacy triggers active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DPIA automation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3840480"/>
            <a:ext cx="2651760" cy="24688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3931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Day 120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20624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Measure: rework rate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DPIA completion time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Cross-border 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2137"/>
            </a:gs>
            <a:gs pos="100000">
              <a:srgbClr val="1A3A6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SP4: Contracting &amp;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10. Commercial Counsel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 b="0">
                <a:solidFill>
                  <a:srgbClr val="CCCCDD"/>
                </a:solidFill>
              </a:defRPr>
            </a:pPr>
            <a:r>
              <a:t>Contract negotiation, SOW/MSA drafting, redlining, and execution. The 2-3 month bottleneck with only 2 legal partners.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Commercial Counsel --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22960"/>
            <a:ext cx="10972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4-contracting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552" y="822960"/>
            <a:ext cx="8112975" cy="1828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2834640"/>
            <a:ext cx="457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834640"/>
            <a:ext cx="525780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Critical: </a:t>
            </a:r>
            <a:r>
              <a:rPr sz="900">
                <a:solidFill>
                  <a:srgbClr val="1E293B"/>
                </a:solidFill>
              </a:rPr>
              <a:t>Contracting alone takes 2-3 months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46120"/>
            <a:ext cx="457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3246120"/>
            <a:ext cx="525780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26440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Critical: </a:t>
            </a:r>
            <a:r>
              <a:rPr sz="900">
                <a:solidFill>
                  <a:srgbClr val="1E293B"/>
                </a:solidFill>
              </a:rPr>
              <a:t>Only 2 legal partners handling all vendor contracts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457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3657600"/>
            <a:ext cx="525780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75887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Critical: </a:t>
            </a:r>
            <a:r>
              <a:rPr sz="900">
                <a:solidFill>
                  <a:srgbClr val="1E293B"/>
                </a:solidFill>
              </a:rPr>
              <a:t>CLM system requested for 5-6 years without funding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6908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908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8736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Sourcing team makes quasi-legal decisions due to legal bottleneck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217920" y="2834640"/>
          <a:ext cx="5029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Negotiate Contract Terms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Contracting Lane (R/A)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Finalize and Execute Contract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Contracting Lane (R/A)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Vendor Contract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Vendor Pool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Vendor Contract Execution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Vendor Pool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217920" y="4480560"/>
            <a:ext cx="457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4480560"/>
            <a:ext cx="4983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517136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334155"/>
                </a:solidFill>
              </a:defRPr>
            </a:pPr>
            <a:r>
              <a:t>"Contract lifecycle management system requested for 5-6 years without funding."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82312"/>
            <a:ext cx="4709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-- Vendor Risk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Commercial Counsel --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Finance Rework Loop (GAP-4)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Minor corrections loop back without formal denial. Only substantive contractual issues require process restart. Saves weeks per correction 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91440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960120"/>
            <a:ext cx="54864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2412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Vendor Affinity Streamlined Contracting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VA pathway: compliance review + contract execution only. Skip negotiation (pre-approved terms). 5-day contracting SLA vs. 2-3 months.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79"/>
            <a:ext cx="54864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328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Contract Execution via Message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Structured cross-pool communication: draft to vendor, vendor redlines, signed contract returned. 5-day SLA timer with escalation.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42316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468879"/>
            <a:ext cx="54864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5328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Template-Based Contracting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3464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Pre-approved MSA/SLA templates for common vendor types. Standard terms for VA products. Custom negotiation reserved for High risk only.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2651760" cy="22860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Day 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Document contract templates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Define correction criteria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Define VA contracting scope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023360"/>
            <a:ext cx="2651760" cy="228600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891B2"/>
                </a:solidFill>
              </a:defRPr>
            </a:pPr>
            <a:r>
              <a:t>Day 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Template library established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Vendor message flow standardized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023360"/>
            <a:ext cx="2651760" cy="228600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Day 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Rework loop active in SP4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VA contracting deployed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5-day SLA timers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4023360"/>
            <a:ext cx="2651760" cy="22860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4114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Day 120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389120"/>
            <a:ext cx="23774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Measure: contracting cycle time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Redlining iterations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Template usage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2137"/>
            </a:gs>
            <a:gs pos="100000">
              <a:srgbClr val="1A3A6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Cross-Cutting: Full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11. Third-Party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 b="0">
                <a:solidFill>
                  <a:srgbClr val="CCCCDD"/>
                </a:solidFill>
              </a:defRPr>
            </a:pPr>
            <a:r>
              <a:t>Vendor lifecycle management, ongoing monitoring, and concentration risk. The thread that runs through every phase -- highest task count of any governance topic.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TPRM -- Current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457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914400"/>
            <a:ext cx="525780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Critical: </a:t>
            </a:r>
            <a:r>
              <a:rPr sz="900">
                <a:solidFill>
                  <a:srgbClr val="1E293B"/>
                </a:solidFill>
              </a:rPr>
              <a:t>No authoritative source for app/technology ownership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525780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4416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Critical: </a:t>
            </a:r>
            <a:r>
              <a:rPr sz="900">
                <a:solidFill>
                  <a:srgbClr val="1E293B"/>
                </a:solidFill>
              </a:rPr>
              <a:t>Incomplete CMDB -- unclear who owns support, requirements, lifecycle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Tech owner identification less rigorous than business owner identification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14884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6712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Single vendor spanning 10+ business units, each requiring separate assessment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60320"/>
            <a:ext cx="457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2560320"/>
            <a:ext cx="5257800" cy="3200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7860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</a:rPr>
              <a:t>High: </a:t>
            </a:r>
            <a:r>
              <a:rPr sz="900">
                <a:solidFill>
                  <a:srgbClr val="1E293B"/>
                </a:solidFill>
              </a:rPr>
              <a:t>1,200+ institutions requiring documentation and compliance tracking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217920" y="914400"/>
          <a:ext cx="5029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Business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Reasonably well-identified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Vendor Owner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Identified by risk team (team of 6)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Product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Weakly tracked; often differs from requester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2179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600"/>
              </a:spcAft>
              <a:defRPr sz="1000" b="0">
                <a:solidFill>
                  <a:srgbClr val="1E293B"/>
                </a:solidFill>
              </a:defRPr>
            </a:pPr>
            <a:r>
              <a:t>TPRM touches 13 tasks across all 5 phases + Vendor Pool -- highest task count of any governance topic. Governance lane is R/A.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6B"/>
                </a:solidFill>
              </a:defRPr>
            </a:pPr>
            <a:r>
              <a:t>TPRM --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Mandatory Ownership Assignment (GAP-14)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SP5 Task_AssignOwnership: required Business, Technical, Support Owner fields before close. Feeds CMDB. Annual ownership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91440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960120"/>
            <a:ext cx="54864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2412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Vendor-Level Aggregation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When vendor spans 10+ BUs, aggregate vendor-level compliance artifacts. Separate request-level evaluation from vendor-level due diligence.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79"/>
            <a:ext cx="54864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328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Risk Tier Drives Monitoring Cadence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OB-DMN-1 risk tier determines post-onboarding monitoring: High = quarterly, Limited = semi-annual, Minimal = annual. Automated SLA timers.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42316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468879"/>
            <a:ext cx="54864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5328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6B"/>
                </a:solidFill>
              </a:defRPr>
            </a:pPr>
            <a:r>
              <a:t>Status Visibility for All Stakeholders (GAP-7)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3464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64748B"/>
                </a:solidFill>
              </a:defRPr>
            </a:pPr>
            <a:r>
              <a:t>Real-time status at every phase transition. Requestors, risk team, and oversight all see current position. Portfolio 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31920"/>
            <a:ext cx="10972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p5-uat-go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257" y="3931920"/>
            <a:ext cx="9541565" cy="914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48640" y="5029200"/>
            <a:ext cx="2651760" cy="146304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206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Day 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94960"/>
            <a:ext cx="23774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Define ownership fields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Document aggregation rules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Map monitoring to risk tier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5029200"/>
            <a:ext cx="2651760" cy="146304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51206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891B2"/>
                </a:solidFill>
              </a:defRPr>
            </a:pPr>
            <a:r>
              <a:t>Day 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5394960"/>
            <a:ext cx="23774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Ownership assignment in SP5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Status notifications deployed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5029200"/>
            <a:ext cx="2651760" cy="146304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51206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Day 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394960"/>
            <a:ext cx="23774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Vendor aggregation deployed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Risk-based monitoring cadence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5029200"/>
            <a:ext cx="2651760" cy="146304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51206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Day 120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5394960"/>
            <a:ext cx="23774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Workload dashboard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Measure: ownership completeness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</a:defRPr>
            </a:pPr>
            <a:r>
              <a:t>  Vendor DD reuse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2137"/>
            </a:gs>
            <a:gs pos="100000">
              <a:srgbClr val="1A3A6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600"/>
              </a:spcAft>
              <a:defRPr sz="1300" b="0">
                <a:solidFill>
                  <a:srgbClr val="CCCCDD"/>
                </a:solidFill>
              </a:defRPr>
            </a:pPr>
            <a:r>
              <a:t>Discovery complete. 11 topic areas assessed. 16 gaps identified and prioritized. The 30/60/90/120-day roadmap begins with planning and consolidation -- zero automation in the first 30 days.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0515600" cy="914400"/>
          </a:xfrm>
          <a:prstGeom prst="round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79"/>
            <a:ext cx="54864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1. Executive Alignment (Week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BCCDD"/>
                </a:solidFill>
              </a:defRPr>
            </a:pPr>
            <a:r>
              <a:t>Review discovery findings with executive sponsors. Confirm committee consolidation approach. Assign owners to each Day 30 deliverable.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515600" cy="914400"/>
          </a:xfrm>
          <a:prstGeom prst="round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291839"/>
            <a:ext cx="54864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2. Standards Definition (Weeks 2-3)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BCCDD"/>
                </a:solidFill>
              </a:defRPr>
            </a:pPr>
            <a:r>
              <a:t>Intake field inventory, prioritization scoring formula, security baseline controls, Vendor Affinity pathway rules, deal-killer no-go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79"/>
            <a:ext cx="10515600" cy="914400"/>
          </a:xfrm>
          <a:prstGeom prst="round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343399"/>
            <a:ext cx="54864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19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3. Quick Wins Target (Day 60)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59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BCCDD"/>
                </a:solidFill>
              </a:defRPr>
            </a:pPr>
            <a:r>
              <a:t>Unified intake, completeness gate, deal-killer pre-screen, status notifications, prioritization scoring, ownership assignment.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49240"/>
            <a:ext cx="10515600" cy="914400"/>
          </a:xfrm>
          <a:prstGeom prst="round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394959"/>
            <a:ext cx="54864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79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4. Full Operation (Day 120)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60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BCCDD"/>
                </a:solidFill>
              </a:defRPr>
            </a:pPr>
            <a:r>
              <a:t>3-pathway routing, 5 parallel evaluation streams, AI fast-track, workload dashboard, before/after metrics. Target: 90%+ improvement.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Software Onboarding Transformation -- 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