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00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017520"/>
            <a:ext cx="109728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Open Sans Condensed"/>
              </a:rPr>
              <a:t>Vendor Onboarding
Process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4A843"/>
                </a:solidFill>
                <a:latin typeface="Open Sans"/>
              </a:rPr>
              <a:t>Current State Analysis and 30-Day Improvement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Open Sans"/>
              </a:rPr>
              <a:t>March 2026
Prepared for [Client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Open Sans Condensed"/>
              </a:rPr>
              <a:t>SLA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  <a:latin typeface="Open Sans"/>
              </a:rPr>
              <a:t>Let insights reveal new opportunity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D0DBE8"/>
                </a:solidFill>
                <a:latin typeface="Open Sans Condensed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38D"/>
                </a:solidFill>
                <a:latin typeface="Open Sans Condensed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Open Sans"/>
              </a:rPr>
              <a:t>Assessment highlights and strategic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Open Sans"/>
              </a:rPr>
              <a:t>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10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0C4DE"/>
                </a:solidFill>
                <a:latin typeface="Open Sans"/>
              </a:rPr>
              <a:t>Let insights reveal new opportunity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0292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54864" cy="201168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1D48"/>
                </a:solidFill>
                <a:latin typeface="Open Sans"/>
              </a:rPr>
              <a:t>Key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4754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Vendor onboarding currently averages 6+ months end-to-end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18 sequential review committees create bottlenecks at every stage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No single point of accountability tracks elapsed time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All requests receive identical scrutiny regardless of risk profile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Contract negotiation cycles prolonged by unclear templates and ownership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737360"/>
            <a:ext cx="5029200" cy="64008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874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Open Sans"/>
              </a:rPr>
              <a:t>Recommendation: Implement a risk-tiered onboarding model with parallel reviews, simplified governance, and a dedicated Quarterback role.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0" y="2560320"/>
          <a:ext cx="50292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4747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30-Day Target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Avg Cycle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6+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3-4 months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Decision Latency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2-4 weeks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&lt;5 days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Low-Value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~30% unfiltered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Filtered at intake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Requests in Limbo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Unknown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100% visible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Reviewer Bottleneck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Hidden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Identified by name/team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D0DBE8"/>
                </a:solidFill>
                <a:latin typeface="Open Sans Condense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38D"/>
                </a:solidFill>
                <a:latin typeface="Open Sans Condensed"/>
              </a:rPr>
              <a:t>Engagement Scope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Open Sans"/>
              </a:rPr>
              <a:t>Defining the boundaries and goals of this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Open Sans"/>
              </a:rPr>
              <a:t>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10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0C4DE"/>
                </a:solidFill>
                <a:latin typeface="Open Sans"/>
              </a:rPr>
              <a:t>Let insights reveal new opportunity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10728655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37360"/>
            <a:ext cx="54864" cy="7315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4543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1D48"/>
                </a:solidFill>
                <a:latin typeface="Open Sans"/>
              </a:rPr>
              <a:t>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104543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Assess the current vendor onboarding process and design a future state model to accelerate onboarding while maintaining risk oversight.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1D48"/>
                </a:solidFill>
                <a:latin typeface="Open Sans Condensed"/>
              </a:rPr>
              <a:t>Areas Evaluated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1645920" cy="347472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FFFFFF"/>
                </a:solidFill>
                <a:latin typeface="Open Sans"/>
              </a:rPr>
              <a:t>TPRM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108960"/>
            <a:ext cx="1645920" cy="347472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FFFFFF"/>
                </a:solidFill>
                <a:latin typeface="Open Sans"/>
              </a:rPr>
              <a:t>Sourcing / Procurement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108960"/>
            <a:ext cx="1645920" cy="347472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FFFFFF"/>
                </a:solidFill>
                <a:latin typeface="Open Sans"/>
              </a:rPr>
              <a:t>Cybersecurity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799" y="3108960"/>
            <a:ext cx="1645920" cy="347472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FFFFFF"/>
                </a:solidFill>
                <a:latin typeface="Open Sans"/>
              </a:rPr>
              <a:t>Architecture Review 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11880"/>
            <a:ext cx="1645920" cy="347472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FFFFFF"/>
                </a:solidFill>
                <a:latin typeface="Open Sans"/>
              </a:rPr>
              <a:t>Risk Evaluation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611880"/>
            <a:ext cx="1645920" cy="347472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FFFFFF"/>
                </a:solidFill>
                <a:latin typeface="Open Sans"/>
              </a:rPr>
              <a:t>Legal / Compliance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3611880"/>
            <a:ext cx="1645920" cy="347472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FFFFFF"/>
                </a:solidFill>
                <a:latin typeface="Open Sans"/>
              </a:rPr>
              <a:t>Finance Approval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799" y="3611880"/>
            <a:ext cx="1645920" cy="347472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sz="900" b="1">
                <a:solidFill>
                  <a:srgbClr val="FFFFFF"/>
                </a:solidFill>
                <a:latin typeface="Open Sans"/>
              </a:rPr>
              <a:t>AI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D0DBE8"/>
                </a:solidFill>
                <a:latin typeface="Open Sans Condensed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38D"/>
                </a:solidFill>
                <a:latin typeface="Open Sans Condensed"/>
              </a:rPr>
              <a:t>Assessment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Open Sans"/>
              </a:rPr>
              <a:t>Structured approach to current state analysis and future state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Open Sans"/>
              </a:rPr>
              <a:t>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10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0C4DE"/>
                </a:solidFill>
                <a:latin typeface="Open Sans"/>
              </a:rPr>
              <a:t>Let insights reveal new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D48"/>
                </a:solidFill>
                <a:latin typeface="Open Sans Condensed"/>
              </a:rP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•  Stakeholder interviews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•  Policy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•  Process walkthroughs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79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•  Vendor onboarding 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00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•  Benchmarking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D48"/>
                </a:solidFill>
                <a:latin typeface="Open Sans Condensed"/>
              </a:rPr>
              <a:t>Stakeholders Interviewed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31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•  Procurement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931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•  Vendor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879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•  Cybersecurity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1879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•  Legal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4398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• 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44398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•  Architecture Review 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70001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•  Finance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70001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•  AI 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D48"/>
                </a:solidFill>
                <a:latin typeface="Open Sans Condensed"/>
              </a:rPr>
              <a:t>Methodology Flow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2286000"/>
            <a:ext cx="411480" cy="411480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350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Open Sans"/>
              </a:rPr>
              <a:t>Document 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697480"/>
            <a:ext cx="27432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0" y="3063240"/>
            <a:ext cx="411480" cy="411480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1272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Open Sans"/>
              </a:rPr>
              <a:t>Stakeholder Interviews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3474720"/>
            <a:ext cx="27432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83680" y="3840480"/>
            <a:ext cx="411480" cy="411480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9044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Open Sans"/>
              </a:rPr>
              <a:t>Current State Process Mapping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4251960"/>
            <a:ext cx="27432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83680" y="4617720"/>
            <a:ext cx="411480" cy="411480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681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Open Sans"/>
              </a:rPr>
              <a:t>Pain Point Identification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5029200"/>
            <a:ext cx="27432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83680" y="5394960"/>
            <a:ext cx="411480" cy="411480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4589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Open Sans"/>
              </a:rPr>
              <a:t>Future State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D0DBE8"/>
                </a:solidFill>
                <a:latin typeface="Open Sans Condensed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38D"/>
                </a:solidFill>
                <a:latin typeface="Open Sans Condensed"/>
              </a:rPr>
              <a:t>End-to-End Vendor Onboarding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Open Sans"/>
              </a:rPr>
              <a:t>Current state value chain from request to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Open Sans"/>
              </a:rPr>
              <a:t>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10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0C4DE"/>
                </a:solidFill>
                <a:latin typeface="Open Sans"/>
              </a:rPr>
              <a:t>Let insights reveal new opportunity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737360"/>
            <a:ext cx="347472" cy="347472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1719072"/>
            <a:ext cx="4754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75564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Vendor sourcing: Requestor submits via Jira SRR / ARCHER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377440"/>
            <a:ext cx="347472" cy="347472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2359152"/>
            <a:ext cx="4754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39572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Vendor intake: TGC / START team triage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17520"/>
            <a:ext cx="347472" cy="347472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2999232"/>
            <a:ext cx="4754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03580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DART creation: Decision and Risk Tracking record established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657599"/>
            <a:ext cx="347472" cy="347472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3639311"/>
            <a:ext cx="4754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3675887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Review Council Milestone 1: Request Review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297680"/>
            <a:ext cx="347472" cy="347472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4279392"/>
            <a:ext cx="4754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431596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Discovery and Exploration Phase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1737360"/>
            <a:ext cx="347472" cy="347472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1719072"/>
            <a:ext cx="4754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75564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Review Council Milestone 2: Solution Evaluation Review</a:t>
            </a:r>
          </a:p>
        </p:txBody>
      </p:sp>
      <p:sp>
        <p:nvSpPr>
          <p:cNvPr id="27" name="Oval 26"/>
          <p:cNvSpPr/>
          <p:nvPr/>
        </p:nvSpPr>
        <p:spPr>
          <a:xfrm>
            <a:off x="6217920" y="2377440"/>
            <a:ext cx="347472" cy="347472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2359152"/>
            <a:ext cx="4754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39572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Acquire Phase (Buy) or Design and Build</a:t>
            </a:r>
          </a:p>
        </p:txBody>
      </p:sp>
      <p:sp>
        <p:nvSpPr>
          <p:cNvPr id="30" name="Oval 29"/>
          <p:cNvSpPr/>
          <p:nvPr/>
        </p:nvSpPr>
        <p:spPr>
          <a:xfrm>
            <a:off x="6217920" y="3017520"/>
            <a:ext cx="347472" cy="347472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2999232"/>
            <a:ext cx="4754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303580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Review Council Milestone 3: Approval to Buy/Build</a:t>
            </a:r>
          </a:p>
        </p:txBody>
      </p:sp>
      <p:sp>
        <p:nvSpPr>
          <p:cNvPr id="33" name="Oval 32"/>
          <p:cNvSpPr/>
          <p:nvPr/>
        </p:nvSpPr>
        <p:spPr>
          <a:xfrm>
            <a:off x="6217920" y="3657599"/>
            <a:ext cx="347472" cy="347472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3639311"/>
            <a:ext cx="4754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3675887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Architectural Review Board (ARB)</a:t>
            </a:r>
          </a:p>
        </p:txBody>
      </p:sp>
      <p:sp>
        <p:nvSpPr>
          <p:cNvPr id="36" name="Oval 35"/>
          <p:cNvSpPr/>
          <p:nvPr/>
        </p:nvSpPr>
        <p:spPr>
          <a:xfrm>
            <a:off x="6217920" y="4297680"/>
            <a:ext cx="347472" cy="347472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4279392"/>
            <a:ext cx="4754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431596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Architectural Runway to Production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120640"/>
            <a:ext cx="10728655" cy="50292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5120640"/>
            <a:ext cx="45720" cy="5029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193792"/>
            <a:ext cx="104543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A "Fast Path" bypass exists for low-risk items, but criteria for qualification are inconsistently applied across teams.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D0DBE8"/>
                </a:solidFill>
                <a:latin typeface="Open Sans Condensed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38D"/>
                </a:solidFill>
                <a:latin typeface="Open Sans Condensed"/>
              </a:rPr>
              <a:t>Current State Timeline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Open Sans"/>
              </a:rPr>
              <a:t>Average duration by stage, totaling approximately 24 weeks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Open Sans"/>
              </a:rPr>
              <a:t>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10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0C4DE"/>
                </a:solidFill>
                <a:latin typeface="Open Sans"/>
              </a:rPr>
              <a:t>Let insights reveal new opportunity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737360"/>
          <a:ext cx="50292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4747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Avg Duration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Vendor sourcing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3 weeks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TPRM review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6 weeks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Cybersecurity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4 weeks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Architecture review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2 weeks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Legal contracting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6 weeks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Risk approvals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2 weeks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Finance approvals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1 week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D48"/>
                </a:solidFill>
                <a:latin typeface="Open Sans Condensed"/>
              </a:rPr>
              <a:t>Duration Breakdown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33333"/>
                </a:solidFill>
                <a:latin typeface="Open Sans"/>
              </a:rPr>
              <a:t>Vendor sourcing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313432"/>
            <a:ext cx="4114800" cy="27432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2313432"/>
            <a:ext cx="514350" cy="2743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313432"/>
            <a:ext cx="4229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Open Sans"/>
              </a:rPr>
              <a:t>3 wk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88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33333"/>
                </a:solidFill>
                <a:latin typeface="Open Sans"/>
              </a:rPr>
              <a:t>TPRM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816352"/>
            <a:ext cx="4114800" cy="27432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816352"/>
            <a:ext cx="1028700" cy="2743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816352"/>
            <a:ext cx="9372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Open Sans"/>
              </a:rPr>
              <a:t>6 wk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91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33333"/>
                </a:solidFill>
                <a:latin typeface="Open Sans"/>
              </a:rPr>
              <a:t>Cybersecurity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319272"/>
            <a:ext cx="4114800" cy="27432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3319272"/>
            <a:ext cx="685800" cy="2743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31927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Open Sans"/>
              </a:rPr>
              <a:t>4 wk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94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33333"/>
                </a:solidFill>
                <a:latin typeface="Open Sans"/>
              </a:rPr>
              <a:t>Architecture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822192"/>
            <a:ext cx="4114800" cy="27432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3822192"/>
            <a:ext cx="342900" cy="2743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822192"/>
            <a:ext cx="2514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Open Sans"/>
              </a:rPr>
              <a:t>2 wk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97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33333"/>
                </a:solidFill>
                <a:latin typeface="Open Sans"/>
              </a:rPr>
              <a:t>Legal contracting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325112"/>
            <a:ext cx="4114800" cy="27432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4325112"/>
            <a:ext cx="1028700" cy="2743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325112"/>
            <a:ext cx="9372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Open Sans"/>
              </a:rPr>
              <a:t>6 wk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800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33333"/>
                </a:solidFill>
                <a:latin typeface="Open Sans"/>
              </a:rPr>
              <a:t>Risk approvals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828032"/>
            <a:ext cx="4114800" cy="27432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4828032"/>
            <a:ext cx="342900" cy="2743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4828032"/>
            <a:ext cx="2514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Open Sans"/>
              </a:rPr>
              <a:t>2 wk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33333"/>
                </a:solidFill>
                <a:latin typeface="Open Sans"/>
              </a:rPr>
              <a:t>Finance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5330952"/>
            <a:ext cx="4114800" cy="27432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5330952"/>
            <a:ext cx="171450" cy="2743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5330952"/>
            <a:ext cx="800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Open Sans"/>
              </a:rPr>
              <a:t>1 wk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669280"/>
            <a:ext cx="10728655" cy="50292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" y="5669280"/>
            <a:ext cx="45720" cy="5029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742432"/>
            <a:ext cx="104543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Total: ~24 weeks. TPRM review and legal contracting are the two largest bottlenecks, each consuming 6 weeks on average.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D0DBE8"/>
                </a:solidFill>
                <a:latin typeface="Open Sans Condensed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38D"/>
                </a:solidFill>
                <a:latin typeface="Open Sans Condensed"/>
              </a:rPr>
              <a:t>Stakeholder Roles Across the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Open Sans"/>
              </a:rPr>
              <a:t>Functional responsibilities in the current onboarding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Open Sans"/>
              </a:rPr>
              <a:t>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10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0C4DE"/>
                </a:solidFill>
                <a:latin typeface="Open Sans"/>
              </a:rPr>
              <a:t>Let insights reveal new opportunity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737360"/>
          <a:ext cx="10728655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8"/>
              </a:tblGrid>
              <a:tr h="34747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Vendor sourcing, RFP management, purchase order creation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TPRM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Vendor risk assessment, due diligence coordination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Cybersecurity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Security review, vulnerability assessment, penetration testing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ARB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Technology standards approval, architecture compliance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Legal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Contract negotiation, terms and conditions, NDA management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Finance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Budget approval, cost allocation, invoice setup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AI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AI risk oversight, model risk classification, EU AI Act compliance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31520" y="4754880"/>
            <a:ext cx="10728655" cy="50292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754880"/>
            <a:ext cx="45720" cy="5029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28032"/>
            <a:ext cx="104543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Observation: Ownership and accountability are fragmented across functions. No single point of coordination exists. Each team operates on its own timeline with limited visibility into other reviews.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D0DBE8"/>
                </a:solidFill>
                <a:latin typeface="Open Sans Condensed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38D"/>
                </a:solidFill>
                <a:latin typeface="Open Sans Condensed"/>
              </a:rPr>
              <a:t>Key Pain Points Identified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Open Sans"/>
              </a:rPr>
              <a:t>Eight recurring issues surfaced through stakeholder interviews and process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Open Sans"/>
              </a:rPr>
              <a:t>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10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0C4DE"/>
                </a:solidFill>
                <a:latin typeface="Open Sans"/>
              </a:rPr>
              <a:t>Let insights reveal new opportunity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737360"/>
            <a:ext cx="347472" cy="347472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1719072"/>
            <a:ext cx="475488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75564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Sequential review workflows force each function to wait for the previous one to complete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606040"/>
            <a:ext cx="347472" cy="347472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2587752"/>
            <a:ext cx="475488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62432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Duplicate risk assessments across TPRM, cybersecurity, and compliance teams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347472" cy="347472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3456432"/>
            <a:ext cx="475488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49300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Lack of vendor risk tiering: all vendors receive the same level of scrutiny regardless of risk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343399"/>
            <a:ext cx="347472" cy="347472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4325111"/>
            <a:ext cx="475488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361687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Excessive approval layers with unclear escalation criteria and decision authority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1737360"/>
            <a:ext cx="347472" cy="347472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1719072"/>
            <a:ext cx="475488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75564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Contract negotiation delays due to non-standardized templates and manual redlining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606040"/>
            <a:ext cx="347472" cy="347472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2587752"/>
            <a:ext cx="475488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262432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Vendor documentation issues: incomplete submissions cause rework and re-requests</a:t>
            </a:r>
          </a:p>
        </p:txBody>
      </p:sp>
      <p:sp>
        <p:nvSpPr>
          <p:cNvPr id="26" name="Oval 25"/>
          <p:cNvSpPr/>
          <p:nvPr/>
        </p:nvSpPr>
        <p:spPr>
          <a:xfrm>
            <a:off x="6217920" y="3474720"/>
            <a:ext cx="347472" cy="347472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456432"/>
            <a:ext cx="475488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349300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Unclear ownership between teams during handoffs, causing requests to stall</a:t>
            </a:r>
          </a:p>
        </p:txBody>
      </p:sp>
      <p:sp>
        <p:nvSpPr>
          <p:cNvPr id="29" name="Oval 28"/>
          <p:cNvSpPr/>
          <p:nvPr/>
        </p:nvSpPr>
        <p:spPr>
          <a:xfrm>
            <a:off x="6217920" y="4343399"/>
            <a:ext cx="347472" cy="347472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4325111"/>
            <a:ext cx="475488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4361687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Rework due to incomplete intake: missing information at the start cascades through every downstream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D0DBE8"/>
                </a:solidFill>
                <a:latin typeface="Open Sans Condensed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38D"/>
                </a:solidFill>
                <a:latin typeface="Open Sans Condensed"/>
              </a:rPr>
              <a:t>Root Cause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Open Sans"/>
              </a:rPr>
              <a:t>Underlying drivers of process inefficiency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Open Sans"/>
              </a:rPr>
              <a:t>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10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0C4DE"/>
                </a:solidFill>
                <a:latin typeface="Open Sans"/>
              </a:rPr>
              <a:t>Let insights reveal new opportunity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737360"/>
          <a:ext cx="10728655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8"/>
              </a:tblGrid>
              <a:tr h="34747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Process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Sequential review structure forces each function to wait. No parallel execution paths exist for independent reviews.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Governance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Unclear decision authority across 12+ review stages. Escalation criteria are informal, and approvals are duplicated across committees.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Risk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Overly conservative reviews applied uniformly regardless of vendor risk profile. Low-risk renewals receive the same scrutiny as critical infrastructure vendors.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Documentation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Inconsistent vendor requirements across intake forms. Each function maintains its own templates, creating confusion for both internal teams and vendors.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D0DBE8"/>
                </a:solidFill>
                <a:latin typeface="Open Sans Condensed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38D"/>
                </a:solidFill>
                <a:latin typeface="Open Sans Condensed"/>
              </a:rPr>
              <a:t>Industry Benchmark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Open Sans"/>
              </a:rPr>
              <a:t>Current performance measured against financial services peers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Open Sans"/>
              </a:rPr>
              <a:t>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10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0C4DE"/>
                </a:solidFill>
                <a:latin typeface="Open Sans"/>
              </a:rPr>
              <a:t>Let insights reveal new opportunity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737360"/>
          <a:ext cx="73152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747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Industry Benchmark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Onboarding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24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4-8 weeks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Review Steps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12+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6-7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Parallel Reviews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Vendor Tiering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Standard practice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3840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D48"/>
                </a:solidFill>
                <a:latin typeface="Open Sans Condensed"/>
              </a:rPr>
              <a:t>Benchmark Practices Observed at Peer Institutions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97680"/>
            <a:ext cx="2377440" cy="365760"/>
          </a:xfrm>
          <a:prstGeom prst="rect">
            <a:avLst/>
          </a:prstGeom>
          <a:solidFill>
            <a:srgbClr val="EFF3FA"/>
          </a:solidFill>
          <a:ln w="12700">
            <a:solidFill>
              <a:srgbClr val="D0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38D"/>
                </a:solidFill>
                <a:latin typeface="Open Sans"/>
              </a:rPr>
              <a:t>Risk-based onboarding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4297680"/>
            <a:ext cx="2377440" cy="365760"/>
          </a:xfrm>
          <a:prstGeom prst="rect">
            <a:avLst/>
          </a:prstGeom>
          <a:solidFill>
            <a:srgbClr val="EFF3FA"/>
          </a:solidFill>
          <a:ln w="12700">
            <a:solidFill>
              <a:srgbClr val="D0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4343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38D"/>
                </a:solidFill>
                <a:latin typeface="Open Sans"/>
              </a:rPr>
              <a:t>Parallel risk reviews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4297680"/>
            <a:ext cx="2377440" cy="365760"/>
          </a:xfrm>
          <a:prstGeom prst="rect">
            <a:avLst/>
          </a:prstGeom>
          <a:solidFill>
            <a:srgbClr val="EFF3FA"/>
          </a:solidFill>
          <a:ln w="12700">
            <a:solidFill>
              <a:srgbClr val="D0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4343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38D"/>
                </a:solidFill>
                <a:latin typeface="Open Sans"/>
              </a:rPr>
              <a:t>Pre-approved vendor frameworks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799" y="4297680"/>
            <a:ext cx="2377440" cy="365760"/>
          </a:xfrm>
          <a:prstGeom prst="rect">
            <a:avLst/>
          </a:prstGeom>
          <a:solidFill>
            <a:srgbClr val="EFF3FA"/>
          </a:solidFill>
          <a:ln w="12700">
            <a:solidFill>
              <a:srgbClr val="D0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59" y="4343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38D"/>
                </a:solidFill>
                <a:latin typeface="Open Sans"/>
              </a:rPr>
              <a:t>Standardized contracting templates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D0DBE8"/>
                </a:solidFill>
                <a:latin typeface="Open Sans Condensed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38D"/>
                </a:solidFill>
                <a:latin typeface="Open Sans Condensed"/>
              </a:rPr>
              <a:t>Future State 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Open Sans"/>
              </a:rPr>
              <a:t>Five guiding principles for the redesigned onboarding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Open Sans"/>
              </a:rPr>
              <a:t>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10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0C4DE"/>
                </a:solidFill>
                <a:latin typeface="Open Sans"/>
              </a:rPr>
              <a:t>Let insights reveal new opportunity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3383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338328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0DBE8"/>
                </a:solidFill>
                <a:latin typeface="Open Sans Condense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1D48"/>
                </a:solidFill>
                <a:latin typeface="Open Sans"/>
              </a:rPr>
              <a:t>Risk-Based Onboarding Tiers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060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ns"/>
              </a:rPr>
              <a:t>Classify vendors by risk profile and apply proportional review depth.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3383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828800"/>
            <a:ext cx="338328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0DBE8"/>
                </a:solidFill>
                <a:latin typeface="Open Sans Condense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286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1D48"/>
                </a:solidFill>
                <a:latin typeface="Open Sans"/>
              </a:rPr>
              <a:t>Parallel Review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6060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ns"/>
              </a:rPr>
              <a:t>Execute independent reviews simultaneously instead of sequentially.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828800"/>
            <a:ext cx="3383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828800"/>
            <a:ext cx="338328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0DBE8"/>
                </a:solidFill>
                <a:latin typeface="Open Sans Condense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286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1D48"/>
                </a:solidFill>
                <a:latin typeface="Open Sans"/>
              </a:rPr>
              <a:t>Simplified 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6060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ns"/>
              </a:rPr>
              <a:t>Consolidate approval layers and define clear decision authority at each stage.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840480"/>
            <a:ext cx="3383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840480"/>
            <a:ext cx="338328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0DBE8"/>
                </a:solidFill>
                <a:latin typeface="Open Sans Condense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297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1D48"/>
                </a:solidFill>
                <a:latin typeface="Open Sans"/>
              </a:rPr>
              <a:t>Standardized Vendor Intake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6177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ns"/>
              </a:rPr>
              <a:t>Unified intake form that collects all required information upfront.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3840480"/>
            <a:ext cx="3383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3840480"/>
            <a:ext cx="338328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0DBE8"/>
                </a:solidFill>
                <a:latin typeface="Open Sans Condensed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297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1D48"/>
                </a:solidFill>
                <a:latin typeface="Open Sans"/>
              </a:rPr>
              <a:t>Quarterback Role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6177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Open Sans"/>
              </a:rPr>
              <a:t>Single point of accountability who shepherds each request through the lifecycle.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D0DBE8"/>
                </a:solidFill>
                <a:latin typeface="Open Sans Condensed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38D"/>
                </a:solidFill>
                <a:latin typeface="Open Sans Condensed"/>
              </a:rPr>
              <a:t>Future State Vendor Onboarding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Open Sans"/>
              </a:rPr>
              <a:t>Streamlined workflow with parallel reviews and risk-based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Open Sans"/>
              </a:rPr>
              <a:t>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10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0C4DE"/>
                </a:solidFill>
                <a:latin typeface="Open Sans"/>
              </a:rPr>
              <a:t>Let insights reveal new opportunity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463040" cy="64008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Open Sans"/>
              </a:rPr>
              <a:t>Vendor
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5EB8"/>
                </a:solidFill>
                <a:latin typeface="Open Sans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1828800"/>
            <a:ext cx="1463040" cy="64008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Open Sans"/>
              </a:rPr>
              <a:t>Risk Tier
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1965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5EB8"/>
                </a:solidFill>
                <a:latin typeface="Open Sans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28800"/>
            <a:ext cx="1463040" cy="640080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Open Sans"/>
              </a:rPr>
              <a:t>Parallel Reviews
(Cyber+Risk+Arch)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965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5EB8"/>
                </a:solidFill>
                <a:latin typeface="Open Sans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828800"/>
            <a:ext cx="1463040" cy="64008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Open Sans"/>
              </a:rPr>
              <a:t>Procurement
Contracting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1965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5EB8"/>
                </a:solidFill>
                <a:latin typeface="Open Sans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828800"/>
            <a:ext cx="1463040" cy="64008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Open Sans"/>
              </a:rPr>
              <a:t>Legal
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965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5EB8"/>
                </a:solidFill>
                <a:latin typeface="Open Sans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1828800"/>
            <a:ext cx="1463040" cy="64008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Open Sans"/>
              </a:rPr>
              <a:t>Approval &amp;
Activation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926080"/>
            <a:ext cx="502920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2926080"/>
            <a:ext cx="54864" cy="2286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017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1D48"/>
                </a:solidFill>
                <a:latin typeface="Open Sans"/>
              </a:rPr>
              <a:t>What Changed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3375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Sequential reviews replaced with parallel execution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Risk tier classification drives review depth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Single quarterback coordinates across functions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Standardized templates reduce negotiation cycles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926080"/>
            <a:ext cx="502920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926080"/>
            <a:ext cx="54864" cy="2286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017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1D48"/>
                </a:solidFill>
                <a:latin typeface="Open Sans"/>
              </a:rPr>
              <a:t>What Stays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3375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All required risk reviews are preserved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Regulatory compliance gates remain in place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Governance sign-off at appropriate checkpoints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Full audit trail maintained throughout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D0DBE8"/>
                </a:solidFill>
                <a:latin typeface="Open Sans Condensed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38D"/>
                </a:solidFill>
                <a:latin typeface="Open Sans Condensed"/>
              </a:rPr>
              <a:t>Risk-Tiered Vendor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Open Sans"/>
              </a:rPr>
              <a:t>Proportional review depth based on vendor risk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Open Sans"/>
              </a:rPr>
              <a:t>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10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0C4DE"/>
                </a:solidFill>
                <a:latin typeface="Open Sans"/>
              </a:rPr>
              <a:t>Let insights reveal new opportunity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737360"/>
          <a:ext cx="10728655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34747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Vendor Tier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Review Level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Fast-Track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6-8 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Low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Quarterback + 1 reviewer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5 days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9-13 pts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Moderate Risk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4 reviewers in parallel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15 days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Enhanced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14-18 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High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All reviewers + exec briefing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25 days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32004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D48"/>
                </a:solidFill>
                <a:latin typeface="Open Sans Condensed"/>
              </a:rPr>
              <a:t>Risk Scoring Dimensions (1-3 points each)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•  Data Sensitivity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•  Vendor Criticality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•  Financial Exposure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•  Integration Complexity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•  AI/ML Usage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•  Regulatory Exposure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0728655" cy="50292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754880"/>
            <a:ext cx="45720" cy="5029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28032"/>
            <a:ext cx="104543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pen Sans"/>
              </a:rPr>
              <a:t>40-50% of requests are expected to qualify for Fast-Track, with appropriate oversight maintained for higher-risk engagements.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D0DBE8"/>
                </a:solidFill>
                <a:latin typeface="Open Sans Condensed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38D"/>
                </a:solidFill>
                <a:latin typeface="Open Sans Condensed"/>
              </a:rPr>
              <a:t>Current vs Future Process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Open Sans"/>
              </a:rPr>
              <a:t>Side-by-side view of operational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Open Sans"/>
              </a:rPr>
              <a:t>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10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0C4DE"/>
                </a:solidFill>
                <a:latin typeface="Open Sans"/>
              </a:rPr>
              <a:t>Let insights reveal new opportunity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737360"/>
          <a:ext cx="10728655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34747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Current State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Future State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Process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Sequential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Parallel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Vendor Classification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Risk-tiered (3 levels)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Fragmented across 12+ stages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Defined ownership with clear authority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Cycle Time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6+ months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3-4 months (30-day target)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Accountability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Unclear, shared across teams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Quarterback role per request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Decision Latency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2-4 weeks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&lt;5 days via weekly committee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Low-Risk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20-30% filtered at intake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D0DBE8"/>
                </a:solidFill>
                <a:latin typeface="Open Sans Condensed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38D"/>
                </a:solidFill>
                <a:latin typeface="Open Sans Condensed"/>
              </a:rPr>
              <a:t>30-Day 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Open Sans"/>
              </a:rPr>
              <a:t>Three-phase rollout with immediate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Open Sans"/>
              </a:rPr>
              <a:t>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10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0C4DE"/>
                </a:solidFill>
                <a:latin typeface="Open Sans"/>
              </a:rPr>
              <a:t>Let insights reveal new opportunity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468880"/>
            <a:ext cx="914400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03120" y="2240280"/>
            <a:ext cx="548640" cy="548640"/>
          </a:xfrm>
          <a:prstGeom prst="ellipse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Open Sans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338D"/>
                </a:solidFill>
                <a:latin typeface="Open Sans Condensed"/>
              </a:rPr>
              <a:t>Stop the Bleeding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66666"/>
                </a:solidFill>
                <a:latin typeface="Open Sans"/>
              </a:rPr>
              <a:t>Week 1-2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Open Sans"/>
              </a:rPr>
              <a:t>•  Appoint 2-3 Onboarding Quarterbacks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136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Open Sans"/>
              </a:rPr>
              <a:t>•  Transition from sequential to parallel reviews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611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Open Sans"/>
              </a:rPr>
              <a:t>•  Deploy Mini RFP paper pre-screen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085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Open Sans"/>
              </a:rPr>
              <a:t>•  Inventory all active requests</a:t>
            </a:r>
          </a:p>
        </p:txBody>
      </p:sp>
      <p:sp>
        <p:nvSpPr>
          <p:cNvPr id="17" name="Oval 16"/>
          <p:cNvSpPr/>
          <p:nvPr/>
        </p:nvSpPr>
        <p:spPr>
          <a:xfrm>
            <a:off x="5760720" y="2240280"/>
            <a:ext cx="548640" cy="548640"/>
          </a:xfrm>
          <a:prstGeom prst="ellipse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Open Sans"/>
              </a:rPr>
              <a:t>P2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926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5EB8"/>
                </a:solidFill>
                <a:latin typeface="Open Sans Condensed"/>
              </a:rPr>
              <a:t>Create Rhythm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2004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66666"/>
                </a:solidFill>
                <a:latin typeface="Open Sans"/>
              </a:rPr>
              <a:t>Week 2-3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566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Open Sans"/>
              </a:rPr>
              <a:t>•  Implement 3-tier risk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9136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Open Sans"/>
              </a:rPr>
              <a:t>•  Launch Weekly Prioritization Committee (30 min)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2611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Open Sans"/>
              </a:rPr>
              <a:t>•  Classify entire backlog by risk tier</a:t>
            </a:r>
          </a:p>
        </p:txBody>
      </p:sp>
      <p:sp>
        <p:nvSpPr>
          <p:cNvPr id="23" name="Oval 22"/>
          <p:cNvSpPr/>
          <p:nvPr/>
        </p:nvSpPr>
        <p:spPr>
          <a:xfrm>
            <a:off x="9418320" y="2240280"/>
            <a:ext cx="548640" cy="548640"/>
          </a:xfrm>
          <a:prstGeom prst="ellipse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Open Sans"/>
              </a:rPr>
              <a:t>P3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926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91DA"/>
                </a:solidFill>
                <a:latin typeface="Open Sans Condensed"/>
              </a:rPr>
              <a:t>Measure and Adjust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2004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66666"/>
                </a:solidFill>
                <a:latin typeface="Open Sans"/>
              </a:rPr>
              <a:t>Week 3-4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566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Open Sans"/>
              </a:rPr>
              <a:t>•  Publish visible Kanban tracking 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9136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Open Sans"/>
              </a:rPr>
              <a:t>•  Implement SLA deadlines with escalation ladder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611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Open Sans"/>
              </a:rPr>
              <a:t>•  Measure baseline cycle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6085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Open Sans"/>
              </a:rPr>
              <a:t>•  Document wins for executive sponsor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D0DBE8"/>
                </a:solidFill>
                <a:latin typeface="Open Sans Condensed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38D"/>
                </a:solidFill>
                <a:latin typeface="Open Sans Condensed"/>
              </a:rP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Open Sans"/>
              </a:rPr>
              <a:t>Quantified benefits of the future state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Open Sans"/>
              </a:rPr>
              <a:t>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10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0C4DE"/>
                </a:solidFill>
                <a:latin typeface="Open Sans"/>
              </a:rPr>
              <a:t>Let insights reveal new opportunity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0292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45720" cy="6400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Open Sans"/>
              </a:rPr>
              <a:t>Cycle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38D"/>
                </a:solidFill>
                <a:latin typeface="Open Sans"/>
              </a:rPr>
              <a:t>6+ months reduced to 3-4 months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50292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45720" cy="6400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Open Sans"/>
              </a:rPr>
              <a:t>Decision 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38D"/>
                </a:solidFill>
                <a:latin typeface="Open Sans"/>
              </a:rPr>
              <a:t>2-4 weeks reduced to &lt;5 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606040"/>
            <a:ext cx="50292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606040"/>
            <a:ext cx="45720" cy="6400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6517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Open Sans"/>
              </a:rPr>
              <a:t>Intake Filtering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880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38D"/>
                </a:solidFill>
                <a:latin typeface="Open Sans"/>
              </a:rPr>
              <a:t>20-30% of low-value requests filtered upfront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606040"/>
            <a:ext cx="50292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606040"/>
            <a:ext cx="45720" cy="6400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6517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Open Sans"/>
              </a:rPr>
              <a:t>Visibility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80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38D"/>
                </a:solidFill>
                <a:latin typeface="Open Sans"/>
              </a:rPr>
              <a:t>100% of active requests tracked with SLA 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474720"/>
            <a:ext cx="502920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474720"/>
            <a:ext cx="45720" cy="6400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5204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Open Sans"/>
              </a:rPr>
              <a:t>Operational Efficiency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749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38D"/>
                </a:solidFill>
                <a:latin typeface="Open Sans"/>
              </a:rPr>
              <a:t>40-50% of requests move to Fast-Track tier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343400"/>
            <a:ext cx="1072865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343400"/>
            <a:ext cx="45720" cy="6400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389120"/>
            <a:ext cx="104543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Open Sans"/>
              </a:rPr>
              <a:t>Risk Coverage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617720"/>
            <a:ext cx="104543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38D"/>
                </a:solidFill>
                <a:latin typeface="Open Sans"/>
              </a:rPr>
              <a:t>Appropriate oversight matched to actual risk level: more scrutiny where it matters, less where it does not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D0DBE8"/>
                </a:solidFill>
                <a:latin typeface="Open Sans Condensed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38D"/>
                </a:solidFill>
                <a:latin typeface="Open Sans Condensed"/>
              </a:rPr>
              <a:t>Risks and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Open Sans"/>
              </a:rPr>
              <a:t>Anticipated challenges and planned responses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Open Sans"/>
              </a:rPr>
              <a:t>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10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0C4DE"/>
                </a:solidFill>
                <a:latin typeface="Open Sans"/>
              </a:rPr>
              <a:t>Let insights reveal new opportunity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737360"/>
          <a:ext cx="10728655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8"/>
              </a:tblGrid>
              <a:tr h="34747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Stakeholder resistance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Training programs and governance alignment workshops. Executive sponsor visible in communications.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Adoption delays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Phased rollout with pilot group. Parallel run of old and new process during transition.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Inconsistent risk scoring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Standardized 6-dimension scoring matrix. Quarterback training on classification criteria.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Vendor compliance gaps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Standard vendor documentation package distributed before onboarding begins.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SLA enforcement pushback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Graduated escalation ladder (50% warning before formal escalation). Executive sponsorship.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D0DBE8"/>
                </a:solidFill>
                <a:latin typeface="Open Sans Condensed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38D"/>
                </a:solidFill>
                <a:latin typeface="Open Sans Condensed"/>
              </a:rPr>
              <a:t>Key Decisions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Open Sans"/>
              </a:rPr>
              <a:t>Actions required to proceed with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Open Sans"/>
              </a:rPr>
              <a:t>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10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B0C4DE"/>
                </a:solidFill>
                <a:latin typeface="Open Sans"/>
              </a:rPr>
              <a:t>Let insights reveal new opportunity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02920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54864" cy="25603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1D48"/>
                </a:solidFill>
                <a:latin typeface="Open Sans"/>
              </a:rPr>
              <a:t>Decisions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Approve risk-tiered onboarding model and scoring criteria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Identify and empower 2-3 Quarterback candidates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Approve parallel review model for next intake cohort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Approve Weekly Prioritization Committee charter and attendees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Confirm SLA targets and escalation authority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737360"/>
            <a:ext cx="502920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54864" cy="25603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28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1D48"/>
                </a:solidFill>
                <a:latin typeface="Open Sans"/>
              </a:rPr>
              <a:t>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488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Identify Quarterback candidates (This Week)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Schedule first Weekly Prioritization Committee (This Week)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Distribute pre-screen forms to intake team (This Week)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Inventory all active requests and classify by risk tier (This Month)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Run parallel reviews on next 3 incoming requests (This Month)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Open Sans"/>
              </a:rPr>
              <a:t>•  Pilot Camunda 8 automation on Fast-Track tier (This Quarter)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54880"/>
            <a:ext cx="10728655" cy="64008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92040"/>
            <a:ext cx="102714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Open Sans"/>
              </a:rPr>
              <a:t>The process improvement comes first. The technology enforces it later. These 7 changes require zero budget, zero technology, and zero reorganization.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