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38D"/>
                </a:solidFill>
                <a:latin typeface="Calibri"/>
              </a:rPr>
              <a:t>User Task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333333"/>
                </a:solidFill>
                <a:latin typeface="Calibri"/>
              </a:rPr>
              <a:t>Software Onboarding Process v17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66666"/>
                </a:solidFill>
                <a:latin typeface="Calibri"/>
              </a:rPr>
              <a:t>51 user tasks across 8 phases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End-to-End Process Overview</a:t>
            </a:r>
          </a:p>
        </p:txBody>
      </p:sp>
      <p:pic>
        <p:nvPicPr>
          <p:cNvPr id="4" name="Picture 3" descr="v17-orchest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640080"/>
            <a:ext cx="11274552" cy="17991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Process Model: SP0: Mini RFP Pre-Screening</a:t>
            </a:r>
          </a:p>
        </p:txBody>
      </p:sp>
      <p:pic>
        <p:nvPicPr>
          <p:cNvPr id="4" name="Picture 3" descr="v17-sp0-mini-rf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640080"/>
            <a:ext cx="11274552" cy="14955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8D"/>
                </a:solidFill>
                <a:latin typeface="Calibri"/>
              </a:rPr>
              <a:t>SP0: Mini RFP Pre-Screening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Nested within SP1 — Self-service vendor pre-screening before formal intake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15975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Process Step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Responsible Party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Understand the Need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Requester describes business problem, urgency, and what capability they need. Collects problem statement, desired outcomes, and timeline.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Understand Vendor Context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Requester provides vendor/solution context — whether they have a vendor in mind, market awareness, and selection criteria.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Classification Check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Governance validates the auto-classification from intake data. Reviews risk tier, solution category, and confirms or overrides the system recommendation.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Deal-Killer Results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Displays OB-DMN-7 deal-killer pre-screen results (green/red flags). Requester reviews disqualifying criteria and decides whether to proceed or abandon.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Question Preview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Previews the dynamically selected RFP questions (from OB-DMN-8) before sending to vendor. Requester can review and confirm the question set.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Send to Vendor(s)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Requester confirms vendor contact details and triggers RFP transmission. Captures delivery method and vendor acknowledgment.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Identify Additional Solutions Vendors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When deal-killer flags are raised, requester identifies alternative vendors or solutions to consider instead.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7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Process Model: SP0: Vendor Response</a:t>
            </a:r>
          </a:p>
        </p:txBody>
      </p:sp>
      <p:pic>
        <p:nvPicPr>
          <p:cNvPr id="4" name="Picture 3" descr="v17-sp0-mini-rf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640080"/>
            <a:ext cx="11274552" cy="14955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8D"/>
                </a:solidFill>
                <a:latin typeface="Calibri"/>
              </a:rPr>
              <a:t>SP0: Vendor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Vendor Pool — External vendor engagement tasks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15975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Process Step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Responsible Party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Receive from Vendor(s)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Vendor (External)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Vendor submits their RFP response, pricing, and supporting documentation.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Initial Evaluation of Redlines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Contracting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Legal/Contracting performs initial review of vendor contract redlines and terms that deviate from standard.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Flagged for Early Legal Review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Legal (Unassigned)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Escalation task when vendor response contains significant legal concerns requiring early counsel review.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3 tasks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Process Model: SP1: Request &amp; Triage</a:t>
            </a:r>
          </a:p>
        </p:txBody>
      </p:sp>
      <p:pic>
        <p:nvPicPr>
          <p:cNvPr id="4" name="Picture 3" descr="v17-sp1-request-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640080"/>
            <a:ext cx="11274552" cy="19839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Process Model: SP1: Request &amp; Triage</a:t>
            </a:r>
          </a:p>
        </p:txBody>
      </p:sp>
      <p:pic>
        <p:nvPicPr>
          <p:cNvPr id="4" name="Picture 3" descr="v17-sp1-execute-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640080"/>
            <a:ext cx="11274552" cy="35050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8D"/>
                </a:solidFill>
                <a:latin typeface="Calibri"/>
              </a:rPr>
              <a:t>SP1: Request &amp;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Phase 1 — Intake, screening, and initial routing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15975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Process Step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Responsible Party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Review Problem and Existing Solutions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Requester reviews whether existing enterprise software already addresses the need. System shows current solution inventory; requester assesses fit (FullMatch/Partial/NeedsGuidance/NoMatch).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Quarterback Assistance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Facilitator provides coaching when requester is unsure about existing solutions. Advisory guidance to help navigate the portfolio — followed by a “Pursue it?” decision gateway.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Pursue Exception with 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When a partial match exists, the Quarterback helps the requester build a case for why a new solution is still needed despite existing options.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Leverage Existing Software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Requester documents decision to use an existing solution. Captures which solution, implementation plan, and expected timeline. Process ends here (“Software Leveraged”).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Gather Documentation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Requester assembles supporting documents — business case, requirements, vendor materials, budget justification, data classification details.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Submit Software Request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Formal submission of the software request. Collects business problem, urgency level, pathway preference, business criticality, estimated budget, data types involved, AI involvement flag, and submitter certification.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Initial Triage and Evaluation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Quarterback/Facilitator evaluates the request. Assesses strategic alignment, checks for duplicates, reviews concentration risk, resource availability, and preliminary risk indicators. Produces triage decision and priority assignment.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Classify Request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Governance classifies the request type (Defined Need / Forced Update / Speculative) with rationale. Determines which downstream pathway and evaluation depth is required.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Completeness Gate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Automation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Automated quality gate verifying all required intake fields are populated and documentation is sufficient before advancing to planning.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9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Process Model: SP2: Planning &amp; Risk Scoping</a:t>
            </a:r>
          </a:p>
        </p:txBody>
      </p:sp>
      <p:pic>
        <p:nvPicPr>
          <p:cNvPr id="4" name="Picture 3" descr="v17-sp2-planning-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640080"/>
            <a:ext cx="11274552" cy="24022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8D"/>
                </a:solidFill>
                <a:latin typeface="Calibri"/>
              </a:rPr>
              <a:t>SP2: Planning &amp; Risk Scoping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Phase 2 — Business case, risk appetite, and pathway routing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15975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Process Step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Responsible Party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Preliminary Analysis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Business case and privacy screening. Collects market research summary, strategic alignment assessment, risk appetite alignment (Within/Borderline/Exceeds), preliminary cost/ROI estimates, budget source, DPIA requirement, capacity impact score, and whether full evaluation is needed.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Backlog Prioritization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Reviews request against the governance backlog. Assesses capacity, competing priorities, and assigns queue position. Determines if the request can proceed immediately or must wait.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Buy vs Build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Governance Team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Decision-support task where the governance team reviews pathway routing results and confirms whether the request follows a Buy, Build, or Hybrid pathway.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3 tasks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Process Model: SP3: Evaluation &amp; Due Diligence</a:t>
            </a:r>
          </a:p>
        </p:txBody>
      </p:sp>
      <p:pic>
        <p:nvPicPr>
          <p:cNvPr id="4" name="Picture 3" descr="v17-sp3-risk-sme-assess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649" y="640080"/>
            <a:ext cx="829239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Process Model: SP3: Evaluation &amp; Due Diligence</a:t>
            </a:r>
          </a:p>
        </p:txBody>
      </p:sp>
      <p:pic>
        <p:nvPicPr>
          <p:cNvPr id="4" name="Picture 3" descr="v17-sp3-vendor-sour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640080"/>
            <a:ext cx="11274552" cy="57719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8D"/>
                </a:solidFill>
                <a:latin typeface="Calibri"/>
              </a:rPr>
              <a:t>SP3: Evaluation &amp;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Phase 3 — Parallel swarm evaluation across 9 domains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15975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Process Step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Responsible Party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Enterprise Architecture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Technical Assessment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[Parallel] Reviews technology stack compatibility, integration architecture, scalability, data flow patterns, and alignment with enterprise reference architecture. Runs concurrently with Security, AI Governance, TPRM, Compliance, Privacy, and Strategic Sourcing assessments.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Security Assessment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Technical Assessment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[Parallel] Cybersecurity posture evaluation. Collects security tier (1-6), encryption status, key management, MFA, privileged access, pen test dates, MTTP metrics, incident response plan, SOC 2/ISO 27001/PCI/FedRAMP certifications. Produces security risk rating and approval. Runs concurrently with other SME assessments.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AI Governance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AI Review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[Parallel] AI model risk classification review. Evaluates AI involvement, bias/fairness controls, model transparency, explainability, and alignment with SR 11-7 and EU AI Act requirements. Runs concurrently with other SME assessments.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TPRM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[Parallel] Third-Party Risk Management assessment. Identifies risks, scores probability/impact, defines mitigation strategies, and produces overall vendor risk rating. Runs concurrently with other SME assessments.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[Parallel] Maps applicable regulations to the solution. Reviews regulatory gaps, compliance status, and determines remediation requirements. Runs concurrently with other SME assessments.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Legal - Privacy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[Parallel] Data Protection Impact Assessment (DPIA) and privacy review. Evaluates data handling, consent mechanisms, cross-border transfers, and retention policies. Runs concurrently with other SME assessments.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Strategic Sourcing and Procurement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AI Review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[Parallel] Market analysis and vendor competitive landscape assessment. Reviews vendor options, market maturity, switching costs, and procurement strategy. Runs concurrently with other SME assessments.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Vendor Due Diligence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Contracting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Comprehensive vendor assessment — financial health, references, customer satisfaction, operational resilience, sub-contractor dependencies, and contractual track record. Runs sequentially after parallel assessments complete.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Evaluate Vendor Response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Contracting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Scores and analyzes vendor RFP/proposal response. Gap analysis against requirements, pricing evaluation, and comparative vendor ranking. Runs sequentially after parallel assessments complete.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9 tasks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Process Model: SP4: Governance Review &amp; Contracting — Buy Pathway</a:t>
            </a:r>
          </a:p>
        </p:txBody>
      </p:sp>
      <p:pic>
        <p:nvPicPr>
          <p:cNvPr id="4" name="Picture 3" descr="v17-sp4-contrac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640080"/>
            <a:ext cx="11274552" cy="18806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8D"/>
                </a:solidFill>
                <a:latin typeface="Calibri"/>
              </a:rPr>
              <a:t>SP4: Governance Review &amp; Contracting — Buy 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Phase 4 (Buy) — Requirements refinement, POC, negotiation, and contract execution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15975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Process Step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Responsible Party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Refine Requirements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Detailed requirements refinement based on due diligence findings. Updates acceptance criteria, integration requirements, and performance expectations.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Perform Proof of Concept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Technical Assessment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POC execution and evaluation. Documents scope, test scenarios, results, and produces a go/no-go recommendation for full procurement.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Technology and Risk Evaluation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Technical Assessment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Technical risk assessment — evaluates tech debt, scalability risks, complexity, vendor lock-in, and architectural fitness.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Negotiate Contract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Contracting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Contract negotiation. Captures contract type (MSA/SOW/SaaS/License), term, total value, payment terms, SLA commitments, audit rights, data protection clauses, termination rights, liability caps, and regulatory provisions.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Finalize Contract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Contracting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Final contract review and signature preparation. Legal sign-off on all terms, execution readiness confirmation.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Execute Contract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Contracting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Formal contract execution — captures signatures, effective dates, and archives executed agreement.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Contract Deviation Check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Contracting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Documents and reviews any deviations from standard contract terms or organizational policy. Requires risk acceptance documentation.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Compliance Review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Compliance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Validates that governance controls and monitoring requirements are defined and implementable for the procured solution.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Coding Matrix Correction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Corrects financial coding and categorization for the procurement (GL codes, cost centers, asset classification).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9 tasks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Process Model: SP4: Build Pathway &amp; PDLC</a:t>
            </a:r>
          </a:p>
        </p:txBody>
      </p:sp>
      <p:pic>
        <p:nvPicPr>
          <p:cNvPr id="4" name="Picture 3" descr="v17-pdl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640080"/>
            <a:ext cx="11274552" cy="34726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8D"/>
                </a:solidFill>
                <a:latin typeface="Calibri"/>
              </a:rPr>
              <a:t>SP4: Build Pathway &amp; PDLC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Phase 4 (Build) — Custom development lifecycle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15975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Process Step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Responsible Party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Define Build Requirements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Defines build-specific requirements — architecture decisions, technology stack, timeline, resource needs, and security requirements for custom development.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Architecture Review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Technical Assessment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Design review of proposed architecture. Evaluates patterns, security posture, performance characteristics, and alignment with enterprise standards.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Development and Build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Technical Assessment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Tracks development progress. Collects sprint number, features completed, code review status, static analysis results, unit test coverage, SAST/secrets/dependency scan status.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Testing and Quality Assurance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Technical Assessment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QA gate — test coverage, defect tracking, regression testing, and quality metric thresholds.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Integration and Deployment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Technical Assessment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System integration testing, API validation, end-to-end testing, and deployment readiness assessment.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5 tasks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Calibri"/>
              </a:rPr>
              <a:t>Process Model: SP5: UAT &amp; Go-Live</a:t>
            </a:r>
          </a:p>
        </p:txBody>
      </p:sp>
      <p:pic>
        <p:nvPicPr>
          <p:cNvPr id="4" name="Picture 3" descr="v17-sp5-uat-go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" y="640080"/>
            <a:ext cx="11274552" cy="2157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338D"/>
                </a:solidFill>
                <a:latin typeface="Calibri"/>
              </a:rPr>
              <a:t>SP5: UAT &amp; Go-Live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666666"/>
                </a:solidFill>
                <a:latin typeface="Calibri"/>
              </a:rPr>
              <a:t>Phase 5 — Acceptance testing, audit, onboarding, and closure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7455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715975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Process Step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Responsible Party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 marT="36576" marB="36576">
                    <a:solidFill>
                      <a:srgbClr val="00338D"/>
                    </a:solidFill>
                    <a:lnL w="6350" cap="flat" cmpd="sng">
                      <a:solidFill>
                        <a:srgbClr val="00338D"/>
                      </a:solidFill>
                    </a:lnL>
                    <a:lnR w="6350" cap="flat" cmpd="sng">
                      <a:solidFill>
                        <a:srgbClr val="00338D"/>
                      </a:solidFill>
                    </a:lnR>
                    <a:lnT w="6350" cap="flat" cmpd="sng">
                      <a:solidFill>
                        <a:srgbClr val="00338D"/>
                      </a:solidFill>
                    </a:lnT>
                    <a:lnB w="6350" cap="flat" cmpd="sng">
                      <a:solidFill>
                        <a:srgbClr val="00338D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Verify Conditions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Reviews and verifies that all governance conditions from prior approvals (conditional approvals, remediation items) have been satisfactorily addressed.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Perform Pilot / UAT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Quarterback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User acceptance testing execution. Collects test scenario counts (total/passed/failed), critical defects, pilot user count, pilot duration, user satisfaction score, training completion rate, and UAT sign-off from business owner.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3rd Line Audit Review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Oversight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Independent audit review by Internal Audit (3rd Line of Defense). Validates that governance controls are operating effectively and regulatory requirements are met. Approval gate.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Onboard Software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Automation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Technical onboarding — installation, configuration, data migration, access provisioning, and production readiness verification.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Assign Ownership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Assigns long-term operational ownership — names the operational owner, support team, escalation contacts, and ongoing monitoring responsibilities.</a:t>
                      </a:r>
                    </a:p>
                  </a:txBody>
                  <a:tcPr anchor="ctr" marL="73152" marR="73152" marT="36576" marB="36576">
                    <a:noFill/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333333"/>
                          </a:solidFill>
                          <a:latin typeface="Calibri"/>
                        </a:rPr>
                        <a:t>Close Request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Calibri"/>
                        </a:rPr>
                        <a:t>Formal closure of the governance request. Captures lessons learned, archives documentation, and triggers operational handoff.</a:t>
                      </a:r>
                    </a:p>
                  </a:txBody>
                  <a:tcPr anchor="ctr" marL="73152" marR="73152" marT="36576" marB="36576">
                    <a:solidFill>
                      <a:srgbClr val="E8EDF4"/>
                    </a:solidFill>
                    <a:lnL w="6350" cap="flat" cmpd="sng">
                      <a:solidFill>
                        <a:srgbClr val="BBBBBB"/>
                      </a:solidFill>
                    </a:lnL>
                    <a:lnR w="6350" cap="flat" cmpd="sng">
                      <a:solidFill>
                        <a:srgbClr val="BBBBBB"/>
                      </a:solidFill>
                    </a:lnR>
                    <a:lnT w="6350" cap="flat" cmpd="sng">
                      <a:solidFill>
                        <a:srgbClr val="BBBBBB"/>
                      </a:solidFill>
                    </a:lnT>
                    <a:lnB w="6350" cap="flat" cmpd="sng">
                      <a:solidFill>
                        <a:srgbClr val="BBBBB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99999"/>
                </a:solidFill>
                <a:latin typeface="Calibri"/>
              </a:rPr>
              <a:t>6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