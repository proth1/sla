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apqc.org/resources/benchmarking/open-standards-benchmarking/measures/average-cycle-time-days-set-supplier" TargetMode="External"/><Relationship Id="rId3" Type="http://schemas.openxmlformats.org/officeDocument/2006/relationships/hyperlink" Target="https://visotrust.com/resources/vendor-onboarding/" TargetMode="External"/><Relationship Id="rId4" Type="http://schemas.openxmlformats.org/officeDocument/2006/relationships/hyperlink" Target="https://www.whistic.com/resources/blog/tprm-impact-report-midyear-update" TargetMode="External"/><Relationship Id="rId5" Type="http://schemas.openxmlformats.org/officeDocument/2006/relationships/hyperlink" Target="https://www.riskrecon.com/ponemon-report-data-risk-in-the-third-party-ecosystem-study" TargetMode="External"/><Relationship Id="rId6" Type="http://schemas.openxmlformats.org/officeDocument/2006/relationships/hyperlink" Target="https://www.sirion.ai/library/contract-insights/contract-management-roi-benchmarks/" TargetMode="External"/><Relationship Id="rId7" Type="http://schemas.openxmlformats.org/officeDocument/2006/relationships/hyperlink" Target="https://www.venminder.com/blog/highlights-state-of-third-party-risk-management-2025-surve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8010" cy="54864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8000" y="0"/>
            <a:ext cx="3048010" cy="54864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0" y="0"/>
            <a:ext cx="304801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338D"/>
                </a:solidFill>
                <a:latin typeface="Open Sans"/>
              </a:rPr>
              <a:t>Software Onboarding: Comparative Industry Benchmarks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Open Sans"/>
              </a:rPr>
              <a:t>End-to-end cycle times across financial services, TPRM, and enterprise procurement — current state vs. industry vs. optimized target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60120"/>
            <a:ext cx="2651760" cy="141732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03327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C62828"/>
                </a:solidFill>
                <a:latin typeface="Open Sans"/>
              </a:rPr>
              <a:t>CURRENT STATE (CLIENT-MEASURED)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C62828"/>
                </a:solidFill>
                <a:latin typeface="Open Sans"/>
              </a:rPr>
              <a:t>6–9</a:t>
            </a:r>
            <a:r>
              <a:rPr sz="1000" b="0">
                <a:solidFill>
                  <a:srgbClr val="666666"/>
                </a:solidFill>
                <a:latin typeface="Open Sans"/>
              </a:rPr>
              <a:t>  months end-to-end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73352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00" b="1">
                <a:solidFill>
                  <a:srgbClr val="333333"/>
                </a:solidFill>
                <a:latin typeface="Open Sans"/>
              </a:rPr>
              <a:t>18 </a:t>
            </a:r>
            <a:r>
              <a:rPr sz="700" b="0">
                <a:solidFill>
                  <a:srgbClr val="333333"/>
                </a:solidFill>
                <a:latin typeface="Open Sans"/>
              </a:rPr>
              <a:t>sequential committees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00" b="1">
                <a:solidFill>
                  <a:srgbClr val="333333"/>
                </a:solidFill>
                <a:latin typeface="Open Sans"/>
              </a:rPr>
              <a:t>5+ </a:t>
            </a:r>
            <a:r>
              <a:rPr sz="700" b="0">
                <a:solidFill>
                  <a:srgbClr val="333333"/>
                </a:solidFill>
                <a:latin typeface="Open Sans"/>
              </a:rPr>
              <a:t>intake channels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00" b="1">
                <a:solidFill>
                  <a:srgbClr val="333333"/>
                </a:solidFill>
                <a:latin typeface="Open Sans"/>
              </a:rPr>
              <a:t>75d </a:t>
            </a:r>
            <a:r>
              <a:rPr sz="700" b="0">
                <a:solidFill>
                  <a:srgbClr val="333333"/>
                </a:solidFill>
                <a:latin typeface="Open Sans"/>
              </a:rPr>
              <a:t>DD internal review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00" b="1">
                <a:solidFill>
                  <a:srgbClr val="333333"/>
                </a:solidFill>
                <a:latin typeface="Open Sans"/>
              </a:rPr>
              <a:t>2–3mo </a:t>
            </a:r>
            <a:r>
              <a:rPr sz="700" b="0">
                <a:solidFill>
                  <a:srgbClr val="333333"/>
                </a:solidFill>
                <a:latin typeface="Open Sans"/>
              </a:rPr>
              <a:t>contracting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00" b="1">
                <a:solidFill>
                  <a:srgbClr val="333333"/>
                </a:solidFill>
                <a:latin typeface="Open Sans"/>
              </a:rPr>
              <a:t>60+ </a:t>
            </a:r>
            <a:r>
              <a:rPr sz="700" b="0">
                <a:solidFill>
                  <a:srgbClr val="333333"/>
                </a:solidFill>
                <a:latin typeface="Open Sans"/>
              </a:rPr>
              <a:t>AI queue items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00" b="1">
                <a:solidFill>
                  <a:srgbClr val="333333"/>
                </a:solidFill>
                <a:latin typeface="Open Sans"/>
              </a:rPr>
              <a:t>2 </a:t>
            </a:r>
            <a:r>
              <a:rPr sz="700" b="0">
                <a:solidFill>
                  <a:srgbClr val="333333"/>
                </a:solidFill>
                <a:latin typeface="Open Sans"/>
              </a:rPr>
              <a:t>people / 30+ contracts/mo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50592"/>
            <a:ext cx="2651760" cy="502920"/>
          </a:xfrm>
          <a:prstGeom prst="roundRect">
            <a:avLst>
              <a:gd name="adj" fmla="val 5000"/>
            </a:avLst>
          </a:prstGeom>
          <a:solidFill>
            <a:srgbClr val="003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68880"/>
            <a:ext cx="23774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Open Sans"/>
              </a:rPr>
              <a:t>↓  </a:t>
            </a:r>
            <a:r>
              <a:rPr sz="1600" b="1">
                <a:solidFill>
                  <a:srgbClr val="D4A843"/>
                </a:solidFill>
                <a:latin typeface="Open Sans"/>
              </a:rPr>
              <a:t>68–75% Reduction</a:t>
            </a:r>
          </a:p>
          <a:p>
            <a:r>
              <a:rPr sz="700" b="0">
                <a:solidFill>
                  <a:srgbClr val="FFFFFF"/>
                </a:solidFill>
                <a:latin typeface="Open Sans"/>
              </a:rPr>
              <a:t>Through parallel evaluation, workflow automation, front-loaded knowledge capture, and policy-as-code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26664"/>
            <a:ext cx="2651760" cy="141732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09981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A86B"/>
                </a:solidFill>
                <a:latin typeface="Open Sans"/>
              </a:rPr>
              <a:t>OPTIMIZED TARGET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30098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A86B"/>
                </a:solidFill>
                <a:latin typeface="Open Sans"/>
              </a:rPr>
              <a:t>29–45</a:t>
            </a:r>
            <a:r>
              <a:rPr sz="1000" b="0">
                <a:solidFill>
                  <a:srgbClr val="666666"/>
                </a:solidFill>
                <a:latin typeface="Open Sans"/>
              </a:rPr>
              <a:t>  days (standard risk)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739896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00" b="1">
                <a:solidFill>
                  <a:srgbClr val="333333"/>
                </a:solidFill>
                <a:latin typeface="Open Sans"/>
              </a:rPr>
              <a:t>5 </a:t>
            </a:r>
            <a:r>
              <a:rPr sz="700" b="0">
                <a:solidFill>
                  <a:srgbClr val="333333"/>
                </a:solidFill>
                <a:latin typeface="Open Sans"/>
              </a:rPr>
              <a:t>parallel streams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00" b="1">
                <a:solidFill>
                  <a:srgbClr val="333333"/>
                </a:solidFill>
                <a:latin typeface="Open Sans"/>
              </a:rPr>
              <a:t>60% </a:t>
            </a:r>
            <a:r>
              <a:rPr sz="700" b="0">
                <a:solidFill>
                  <a:srgbClr val="333333"/>
                </a:solidFill>
                <a:latin typeface="Open Sans"/>
              </a:rPr>
              <a:t>automation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00" b="1">
                <a:solidFill>
                  <a:srgbClr val="333333"/>
                </a:solidFill>
                <a:latin typeface="Open Sans"/>
              </a:rPr>
              <a:t>20d </a:t>
            </a:r>
            <a:r>
              <a:rPr sz="700" b="0">
                <a:solidFill>
                  <a:srgbClr val="333333"/>
                </a:solidFill>
                <a:latin typeface="Open Sans"/>
              </a:rPr>
              <a:t>phase SLA total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00" b="1">
                <a:solidFill>
                  <a:srgbClr val="333333"/>
                </a:solidFill>
                <a:latin typeface="Open Sans"/>
              </a:rPr>
              <a:t>30%+ </a:t>
            </a:r>
            <a:r>
              <a:rPr sz="700" b="0">
                <a:solidFill>
                  <a:srgbClr val="333333"/>
                </a:solidFill>
                <a:latin typeface="Open Sans"/>
              </a:rPr>
              <a:t>reuse/redirect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00" b="1">
                <a:solidFill>
                  <a:srgbClr val="333333"/>
                </a:solidFill>
                <a:latin typeface="Open Sans"/>
              </a:rPr>
              <a:t>2wk </a:t>
            </a:r>
            <a:r>
              <a:rPr sz="700" b="0">
                <a:solidFill>
                  <a:srgbClr val="333333"/>
                </a:solidFill>
                <a:latin typeface="Open Sans"/>
              </a:rPr>
              <a:t>AI fast-track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700" b="1">
                <a:solidFill>
                  <a:srgbClr val="333333"/>
                </a:solidFill>
                <a:latin typeface="Open Sans"/>
              </a:rPr>
              <a:t>13.5d </a:t>
            </a:r>
            <a:r>
              <a:rPr sz="700" b="0">
                <a:solidFill>
                  <a:srgbClr val="333333"/>
                </a:solidFill>
                <a:latin typeface="Open Sans"/>
              </a:rPr>
              <a:t>minimal risk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337560" y="960120"/>
          <a:ext cx="5577840" cy="2624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192024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Open Sans"/>
                        </a:rPr>
                        <a:t>Benchmark Metric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Open Sans"/>
                        </a:rPr>
                        <a:t>Industry / Peer Data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Open Sans"/>
                        </a:rPr>
                        <a:t>Comparison</a:t>
                      </a:r>
                    </a:p>
                  </a:txBody>
                  <a:tcPr anchor="ctr">
                    <a:solidFill>
                      <a:srgbClr val="00338D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333333"/>
                          </a:solidFill>
                          <a:latin typeface="Open Sans"/>
                        </a:rPr>
                        <a:t>End-to-End Onboarding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600" u="sng">
                          <a:solidFill>
                            <a:srgbClr val="0091DA"/>
                          </a:solidFill>
                          <a:latin typeface="Open Sans"/>
                          <a:hlinkClick r:id="rId2"/>
                        </a:rPr>
                        <a:t>APQC</a:t>
                      </a:r>
                      <a:r>
                        <a:rPr sz="600" b="0">
                          <a:solidFill>
                            <a:srgbClr val="666666"/>
                          </a:solidFill>
                          <a:latin typeface="Open Sans"/>
                        </a:rPr>
                        <a:t>; </a:t>
                      </a:r>
                      <a:r>
                        <a:rPr sz="600" u="sng">
                          <a:solidFill>
                            <a:srgbClr val="0091DA"/>
                          </a:solidFill>
                          <a:latin typeface="Open Sans"/>
                          <a:hlinkClick r:id="rId3"/>
                        </a:rPr>
                        <a:t>VISO TRUST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700" b="1">
                          <a:solidFill>
                            <a:srgbClr val="333333"/>
                          </a:solidFill>
                          <a:latin typeface="Open Sans"/>
                        </a:rPr>
                        <a:t>90–120 days </a:t>
                      </a:r>
                      <a:r>
                        <a:rPr sz="700" b="0">
                          <a:solidFill>
                            <a:srgbClr val="333333"/>
                          </a:solidFill>
                          <a:latin typeface="Open Sans"/>
                        </a:rPr>
                        <a:t>industry avg (standard risk)</a:t>
                      </a:r>
                    </a:p>
                    <a:p>
                      <a:pPr>
                        <a:spcBef>
                          <a:spcPts val="100"/>
                        </a:spcBef>
                      </a:pPr>
                      <a:r>
                        <a:rPr sz="700" b="1">
                          <a:solidFill>
                            <a:srgbClr val="333333"/>
                          </a:solidFill>
                          <a:latin typeface="Open Sans"/>
                        </a:rPr>
                        <a:t>60–90 days </a:t>
                      </a:r>
                      <a:r>
                        <a:rPr sz="700" b="0">
                          <a:solidFill>
                            <a:srgbClr val="333333"/>
                          </a:solidFill>
                          <a:latin typeface="Open Sans"/>
                        </a:rPr>
                        <a:t>competitor benchmark</a:t>
                      </a:r>
                    </a:p>
                    <a:p>
                      <a:pPr>
                        <a:spcBef>
                          <a:spcPts val="100"/>
                        </a:spcBef>
                      </a:pPr>
                      <a:r>
                        <a:rPr sz="700" b="1">
                          <a:solidFill>
                            <a:srgbClr val="333333"/>
                          </a:solidFill>
                          <a:latin typeface="Open Sans"/>
                        </a:rPr>
                        <a:t>4–6 weeks </a:t>
                      </a:r>
                      <a:r>
                        <a:rPr sz="700" b="0">
                          <a:solidFill>
                            <a:srgbClr val="333333"/>
                          </a:solidFill>
                          <a:latin typeface="Open Sans"/>
                        </a:rPr>
                        <a:t>medium-complexity vendor (APQC)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700" b="0">
                          <a:solidFill>
                            <a:srgbClr val="C62828"/>
                          </a:solidFill>
                          <a:latin typeface="Open Sans"/>
                        </a:rPr>
                        <a:t>█████████████ </a:t>
                      </a:r>
                      <a:r>
                        <a:rPr sz="600" b="1">
                          <a:solidFill>
                            <a:srgbClr val="333333"/>
                          </a:solidFill>
                          <a:latin typeface="Open Sans"/>
                        </a:rPr>
                        <a:t>180-270d (ours)</a:t>
                      </a:r>
                    </a:p>
                    <a:p>
                      <a:pPr>
                        <a:spcBef>
                          <a:spcPts val="100"/>
                        </a:spcBef>
                      </a:pPr>
                      <a:r>
                        <a:rPr sz="700" b="0">
                          <a:solidFill>
                            <a:srgbClr val="E67E22"/>
                          </a:solidFill>
                          <a:latin typeface="Open Sans"/>
                        </a:rPr>
                        <a:t>███████ </a:t>
                      </a:r>
                      <a:r>
                        <a:rPr sz="600" b="1">
                          <a:solidFill>
                            <a:srgbClr val="333333"/>
                          </a:solidFill>
                          <a:latin typeface="Open Sans"/>
                        </a:rPr>
                        <a:t>90-120d (industry)</a:t>
                      </a:r>
                    </a:p>
                    <a:p>
                      <a:pPr>
                        <a:spcBef>
                          <a:spcPts val="100"/>
                        </a:spcBef>
                      </a:pPr>
                      <a:r>
                        <a:rPr sz="700" b="0">
                          <a:solidFill>
                            <a:srgbClr val="00A86B"/>
                          </a:solidFill>
                          <a:latin typeface="Open Sans"/>
                        </a:rPr>
                        <a:t>███ </a:t>
                      </a:r>
                      <a:r>
                        <a:rPr sz="600" b="1">
                          <a:solidFill>
                            <a:srgbClr val="333333"/>
                          </a:solidFill>
                          <a:latin typeface="Open Sans"/>
                        </a:rPr>
                        <a:t>29-45d (target)</a:t>
                      </a:r>
                    </a:p>
                  </a:txBody>
                  <a:tcPr anchor="t"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333333"/>
                          </a:solidFill>
                          <a:latin typeface="Open Sans"/>
                        </a:rPr>
                        <a:t>Due Diligence Review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600" u="sng">
                          <a:solidFill>
                            <a:srgbClr val="0091DA"/>
                          </a:solidFill>
                          <a:latin typeface="Open Sans"/>
                          <a:hlinkClick r:id="rId4"/>
                        </a:rPr>
                        <a:t>Whistic 2025</a:t>
                      </a:r>
                    </a:p>
                  </a:txBody>
                  <a:tcPr anchor="t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700" b="1">
                          <a:solidFill>
                            <a:srgbClr val="333333"/>
                          </a:solidFill>
                          <a:latin typeface="Open Sans"/>
                        </a:rPr>
                        <a:t>75 days </a:t>
                      </a:r>
                      <a:r>
                        <a:rPr sz="700" b="0">
                          <a:solidFill>
                            <a:srgbClr val="333333"/>
                          </a:solidFill>
                          <a:latin typeface="Open Sans"/>
                        </a:rPr>
                        <a:t>internal review (down from 144d)</a:t>
                      </a:r>
                    </a:p>
                    <a:p>
                      <a:pPr>
                        <a:spcBef>
                          <a:spcPts val="100"/>
                        </a:spcBef>
                      </a:pPr>
                      <a:r>
                        <a:rPr sz="700" b="1">
                          <a:solidFill>
                            <a:srgbClr val="333333"/>
                          </a:solidFill>
                          <a:latin typeface="Open Sans"/>
                        </a:rPr>
                        <a:t>37.3 assessments/mo </a:t>
                      </a:r>
                      <a:r>
                        <a:rPr sz="700" b="0">
                          <a:solidFill>
                            <a:srgbClr val="333333"/>
                          </a:solidFill>
                          <a:latin typeface="Open Sans"/>
                        </a:rPr>
                        <a:t>avg vendor load</a:t>
                      </a:r>
                    </a:p>
                    <a:p>
                      <a:pPr>
                        <a:spcBef>
                          <a:spcPts val="100"/>
                        </a:spcBef>
                      </a:pPr>
                      <a:r>
                        <a:rPr sz="700" b="1">
                          <a:solidFill>
                            <a:srgbClr val="333333"/>
                          </a:solidFill>
                          <a:latin typeface="Open Sans"/>
                        </a:rPr>
                        <a:t>335/yr completed </a:t>
                      </a:r>
                      <a:r>
                        <a:rPr sz="700" b="0">
                          <a:solidFill>
                            <a:srgbClr val="333333"/>
                          </a:solidFill>
                          <a:latin typeface="Open Sans"/>
                        </a:rPr>
                        <a:t>(8-person team)</a:t>
                      </a:r>
                    </a:p>
                  </a:txBody>
                  <a:tcPr anchor="t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700" b="0">
                          <a:solidFill>
                            <a:srgbClr val="C62828"/>
                          </a:solidFill>
                          <a:latin typeface="Open Sans"/>
                        </a:rPr>
                        <a:t>█████████ </a:t>
                      </a:r>
                      <a:r>
                        <a:rPr sz="600" b="1">
                          <a:solidFill>
                            <a:srgbClr val="333333"/>
                          </a:solidFill>
                          <a:latin typeface="Open Sans"/>
                        </a:rPr>
                        <a:t>75d (current)</a:t>
                      </a:r>
                    </a:p>
                    <a:p>
                      <a:pPr>
                        <a:spcBef>
                          <a:spcPts val="100"/>
                        </a:spcBef>
                      </a:pPr>
                      <a:r>
                        <a:rPr sz="700" b="0">
                          <a:solidFill>
                            <a:srgbClr val="E67E22"/>
                          </a:solidFill>
                          <a:latin typeface="Open Sans"/>
                        </a:rPr>
                        <a:t>██████ </a:t>
                      </a:r>
                      <a:r>
                        <a:rPr sz="600" b="1">
                          <a:solidFill>
                            <a:srgbClr val="333333"/>
                          </a:solidFill>
                          <a:latin typeface="Open Sans"/>
                        </a:rPr>
                        <a:t>~45d (industry est.)</a:t>
                      </a:r>
                    </a:p>
                    <a:p>
                      <a:pPr>
                        <a:spcBef>
                          <a:spcPts val="100"/>
                        </a:spcBef>
                      </a:pPr>
                      <a:r>
                        <a:rPr sz="700" b="0">
                          <a:solidFill>
                            <a:srgbClr val="00A86B"/>
                          </a:solidFill>
                          <a:latin typeface="Open Sans"/>
                        </a:rPr>
                        <a:t>██ </a:t>
                      </a:r>
                      <a:r>
                        <a:rPr sz="600" b="1">
                          <a:solidFill>
                            <a:srgbClr val="333333"/>
                          </a:solidFill>
                          <a:latin typeface="Open Sans"/>
                        </a:rPr>
                        <a:t>5d SLA (target)</a:t>
                      </a:r>
                    </a:p>
                  </a:txBody>
                  <a:tcPr anchor="t">
                    <a:solidFill>
                      <a:srgbClr val="F9FAF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333333"/>
                          </a:solidFill>
                          <a:latin typeface="Open Sans"/>
                        </a:rPr>
                        <a:t>Vendor Assessment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600" u="sng">
                          <a:solidFill>
                            <a:srgbClr val="0091DA"/>
                          </a:solidFill>
                          <a:latin typeface="Open Sans"/>
                          <a:hlinkClick r:id="rId5"/>
                        </a:rPr>
                        <a:t>Bitsight/Ponemon</a:t>
                      </a:r>
                      <a:r>
                        <a:rPr sz="600" b="0">
                          <a:solidFill>
                            <a:srgbClr val="666666"/>
                          </a:solidFill>
                          <a:latin typeface="Open Sans"/>
                        </a:rPr>
                        <a:t>; </a:t>
                      </a:r>
                      <a:r>
                        <a:rPr sz="600" u="sng">
                          <a:solidFill>
                            <a:srgbClr val="0091DA"/>
                          </a:solidFill>
                          <a:latin typeface="Open Sans"/>
                          <a:hlinkClick r:id="rId4"/>
                        </a:rPr>
                        <a:t>Whistic 2025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700" b="1">
                          <a:solidFill>
                            <a:srgbClr val="333333"/>
                          </a:solidFill>
                          <a:latin typeface="Open Sans"/>
                        </a:rPr>
                        <a:t>28–29 days </a:t>
                      </a:r>
                      <a:r>
                        <a:rPr sz="700" b="0">
                          <a:solidFill>
                            <a:srgbClr val="333333"/>
                          </a:solidFill>
                          <a:latin typeface="Open Sans"/>
                        </a:rPr>
                        <a:t>RAE (target: 14d)</a:t>
                      </a:r>
                    </a:p>
                    <a:p>
                      <a:pPr>
                        <a:spcBef>
                          <a:spcPts val="100"/>
                        </a:spcBef>
                      </a:pPr>
                      <a:r>
                        <a:rPr sz="700" b="1">
                          <a:solidFill>
                            <a:srgbClr val="333333"/>
                          </a:solidFill>
                          <a:latin typeface="Open Sans"/>
                        </a:rPr>
                        <a:t>75% reduction </a:t>
                      </a:r>
                      <a:r>
                        <a:rPr sz="700" b="0">
                          <a:solidFill>
                            <a:srgbClr val="333333"/>
                          </a:solidFill>
                          <a:latin typeface="Open Sans"/>
                        </a:rPr>
                        <a:t>with automation (Bitsight)</a:t>
                      </a:r>
                    </a:p>
                    <a:p>
                      <a:pPr>
                        <a:spcBef>
                          <a:spcPts val="100"/>
                        </a:spcBef>
                      </a:pPr>
                      <a:r>
                        <a:rPr sz="700" b="1">
                          <a:solidFill>
                            <a:srgbClr val="333333"/>
                          </a:solidFill>
                          <a:latin typeface="Open Sans"/>
                        </a:rPr>
                        <a:t>94% of </a:t>
                      </a:r>
                      <a:r>
                        <a:rPr sz="700" b="0">
                          <a:solidFill>
                            <a:srgbClr val="333333"/>
                          </a:solidFill>
                          <a:latin typeface="Open Sans"/>
                        </a:rPr>
                        <a:t>firms under-assess (Whistic 2025)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700" b="0">
                          <a:solidFill>
                            <a:srgbClr val="C62828"/>
                          </a:solidFill>
                          <a:latin typeface="Open Sans"/>
                        </a:rPr>
                        <a:t>██████ </a:t>
                      </a:r>
                      <a:r>
                        <a:rPr sz="600" b="1">
                          <a:solidFill>
                            <a:srgbClr val="333333"/>
                          </a:solidFill>
                          <a:latin typeface="Open Sans"/>
                        </a:rPr>
                        <a:t>29d (current)</a:t>
                      </a:r>
                    </a:p>
                    <a:p>
                      <a:pPr>
                        <a:spcBef>
                          <a:spcPts val="100"/>
                        </a:spcBef>
                      </a:pPr>
                      <a:r>
                        <a:rPr sz="700" b="0">
                          <a:solidFill>
                            <a:srgbClr val="E67E22"/>
                          </a:solidFill>
                          <a:latin typeface="Open Sans"/>
                        </a:rPr>
                        <a:t>███ </a:t>
                      </a:r>
                      <a:r>
                        <a:rPr sz="600" b="1">
                          <a:solidFill>
                            <a:srgbClr val="333333"/>
                          </a:solidFill>
                          <a:latin typeface="Open Sans"/>
                        </a:rPr>
                        <a:t>14d (internal tgt)</a:t>
                      </a:r>
                    </a:p>
                    <a:p>
                      <a:pPr>
                        <a:spcBef>
                          <a:spcPts val="100"/>
                        </a:spcBef>
                      </a:pPr>
                      <a:r>
                        <a:rPr sz="700" b="0">
                          <a:solidFill>
                            <a:srgbClr val="00A86B"/>
                          </a:solidFill>
                          <a:latin typeface="Open Sans"/>
                        </a:rPr>
                        <a:t>█ </a:t>
                      </a:r>
                      <a:r>
                        <a:rPr sz="600" b="1">
                          <a:solidFill>
                            <a:srgbClr val="333333"/>
                          </a:solidFill>
                          <a:latin typeface="Open Sans"/>
                        </a:rPr>
                        <a:t>7d (automated)</a:t>
                      </a:r>
                    </a:p>
                  </a:txBody>
                  <a:tcPr anchor="t"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333333"/>
                          </a:solidFill>
                          <a:latin typeface="Open Sans"/>
                        </a:rPr>
                        <a:t>Contract Cycle Time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600" u="sng">
                          <a:solidFill>
                            <a:srgbClr val="0091DA"/>
                          </a:solidFill>
                          <a:latin typeface="Open Sans"/>
                          <a:hlinkClick r:id="rId6"/>
                        </a:rPr>
                        <a:t>Sirion CLM 2026</a:t>
                      </a:r>
                    </a:p>
                  </a:txBody>
                  <a:tcPr anchor="t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700" b="1">
                          <a:solidFill>
                            <a:srgbClr val="333333"/>
                          </a:solidFill>
                          <a:latin typeface="Open Sans"/>
                        </a:rPr>
                        <a:t>2–3 months </a:t>
                      </a:r>
                      <a:r>
                        <a:rPr sz="700" b="0">
                          <a:solidFill>
                            <a:srgbClr val="333333"/>
                          </a:solidFill>
                          <a:latin typeface="Open Sans"/>
                        </a:rPr>
                        <a:t>(up to 1.5yr security)</a:t>
                      </a:r>
                    </a:p>
                    <a:p>
                      <a:pPr>
                        <a:spcBef>
                          <a:spcPts val="100"/>
                        </a:spcBef>
                      </a:pPr>
                      <a:r>
                        <a:rPr sz="700" b="1">
                          <a:solidFill>
                            <a:srgbClr val="333333"/>
                          </a:solidFill>
                          <a:latin typeface="Open Sans"/>
                        </a:rPr>
                        <a:t>55% faster </a:t>
                      </a:r>
                      <a:r>
                        <a:rPr sz="700" b="0">
                          <a:solidFill>
                            <a:srgbClr val="333333"/>
                          </a:solidFill>
                          <a:latin typeface="Open Sans"/>
                        </a:rPr>
                        <a:t>with AI-driven CLM</a:t>
                      </a:r>
                    </a:p>
                    <a:p>
                      <a:pPr>
                        <a:spcBef>
                          <a:spcPts val="100"/>
                        </a:spcBef>
                      </a:pPr>
                      <a:r>
                        <a:rPr sz="700" b="1">
                          <a:solidFill>
                            <a:srgbClr val="333333"/>
                          </a:solidFill>
                          <a:latin typeface="Open Sans"/>
                        </a:rPr>
                        <a:t>39% faster </a:t>
                      </a:r>
                      <a:r>
                        <a:rPr sz="700" b="0">
                          <a:solidFill>
                            <a:srgbClr val="333333"/>
                          </a:solidFill>
                          <a:latin typeface="Open Sans"/>
                        </a:rPr>
                        <a:t>overall contract lifecycle</a:t>
                      </a:r>
                    </a:p>
                  </a:txBody>
                  <a:tcPr anchor="t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700" b="0">
                          <a:solidFill>
                            <a:srgbClr val="C62828"/>
                          </a:solidFill>
                          <a:latin typeface="Open Sans"/>
                        </a:rPr>
                        <a:t>███████████ </a:t>
                      </a:r>
                      <a:r>
                        <a:rPr sz="600" b="1">
                          <a:solidFill>
                            <a:srgbClr val="333333"/>
                          </a:solidFill>
                          <a:latin typeface="Open Sans"/>
                        </a:rPr>
                        <a:t>60-90d (current)</a:t>
                      </a:r>
                    </a:p>
                    <a:p>
                      <a:pPr>
                        <a:spcBef>
                          <a:spcPts val="100"/>
                        </a:spcBef>
                      </a:pPr>
                      <a:r>
                        <a:rPr sz="700" b="0">
                          <a:solidFill>
                            <a:srgbClr val="E67E22"/>
                          </a:solidFill>
                          <a:latin typeface="Open Sans"/>
                        </a:rPr>
                        <a:t>█████ </a:t>
                      </a:r>
                      <a:r>
                        <a:rPr sz="600" b="1">
                          <a:solidFill>
                            <a:srgbClr val="333333"/>
                          </a:solidFill>
                          <a:latin typeface="Open Sans"/>
                        </a:rPr>
                        <a:t>30-45d (w/ CLM)</a:t>
                      </a:r>
                    </a:p>
                    <a:p>
                      <a:pPr>
                        <a:spcBef>
                          <a:spcPts val="100"/>
                        </a:spcBef>
                      </a:pPr>
                      <a:r>
                        <a:rPr sz="700" b="0">
                          <a:solidFill>
                            <a:srgbClr val="00A86B"/>
                          </a:solidFill>
                          <a:latin typeface="Open Sans"/>
                        </a:rPr>
                        <a:t>██ </a:t>
                      </a:r>
                      <a:r>
                        <a:rPr sz="600" b="1">
                          <a:solidFill>
                            <a:srgbClr val="333333"/>
                          </a:solidFill>
                          <a:latin typeface="Open Sans"/>
                        </a:rPr>
                        <a:t>7d SLA (target)</a:t>
                      </a:r>
                    </a:p>
                  </a:txBody>
                  <a:tcPr anchor="t">
                    <a:solidFill>
                      <a:srgbClr val="F9FAF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333333"/>
                          </a:solidFill>
                          <a:latin typeface="Open Sans"/>
                        </a:rPr>
                        <a:t>TPRM Team Size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600" u="sng">
                          <a:solidFill>
                            <a:srgbClr val="0091DA"/>
                          </a:solidFill>
                          <a:latin typeface="Open Sans"/>
                          <a:hlinkClick r:id="rId4"/>
                        </a:rPr>
                        <a:t>Whistic 2025</a:t>
                      </a:r>
                      <a:r>
                        <a:rPr sz="600" b="0">
                          <a:solidFill>
                            <a:srgbClr val="666666"/>
                          </a:solidFill>
                          <a:latin typeface="Open Sans"/>
                        </a:rPr>
                        <a:t>; </a:t>
                      </a:r>
                      <a:r>
                        <a:rPr sz="600" u="sng">
                          <a:solidFill>
                            <a:srgbClr val="0091DA"/>
                          </a:solidFill>
                          <a:latin typeface="Open Sans"/>
                          <a:hlinkClick r:id="rId7"/>
                        </a:rPr>
                        <a:t>Venminder 2025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700" b="1">
                          <a:solidFill>
                            <a:srgbClr val="333333"/>
                          </a:solidFill>
                          <a:latin typeface="Open Sans"/>
                        </a:rPr>
                        <a:t>8.5 FTEs </a:t>
                      </a:r>
                      <a:r>
                        <a:rPr sz="700" b="0">
                          <a:solidFill>
                            <a:srgbClr val="333333"/>
                          </a:solidFill>
                          <a:latin typeface="Open Sans"/>
                        </a:rPr>
                        <a:t>industry avg (up from 5.6)</a:t>
                      </a:r>
                    </a:p>
                    <a:p>
                      <a:pPr>
                        <a:spcBef>
                          <a:spcPts val="100"/>
                        </a:spcBef>
                      </a:pPr>
                      <a:r>
                        <a:rPr sz="700" b="1">
                          <a:solidFill>
                            <a:srgbClr val="333333"/>
                          </a:solidFill>
                          <a:latin typeface="Open Sans"/>
                        </a:rPr>
                        <a:t>97% would </a:t>
                      </a:r>
                      <a:r>
                        <a:rPr sz="700" b="0">
                          <a:solidFill>
                            <a:srgbClr val="333333"/>
                          </a:solidFill>
                          <a:latin typeface="Open Sans"/>
                        </a:rPr>
                        <a:t>do deeper assessments if resourced</a:t>
                      </a:r>
                    </a:p>
                    <a:p>
                      <a:pPr>
                        <a:spcBef>
                          <a:spcPts val="100"/>
                        </a:spcBef>
                      </a:pPr>
                      <a:r>
                        <a:rPr sz="700" b="1">
                          <a:solidFill>
                            <a:srgbClr val="333333"/>
                          </a:solidFill>
                          <a:latin typeface="Open Sans"/>
                        </a:rPr>
                        <a:t>179 hrs/mo </a:t>
                      </a:r>
                      <a:r>
                        <a:rPr sz="700" b="0">
                          <a:solidFill>
                            <a:srgbClr val="333333"/>
                          </a:solidFill>
                          <a:latin typeface="Open Sans"/>
                        </a:rPr>
                        <a:t>per vendor on assessments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</a:pPr>
                      <a:r>
                        <a:rPr sz="700" b="0">
                          <a:solidFill>
                            <a:srgbClr val="0091DA"/>
                          </a:solidFill>
                          <a:latin typeface="Open Sans"/>
                        </a:rPr>
                        <a:t>██████ </a:t>
                      </a:r>
                      <a:r>
                        <a:rPr sz="600" b="1">
                          <a:solidFill>
                            <a:srgbClr val="333333"/>
                          </a:solidFill>
                          <a:latin typeface="Open Sans"/>
                        </a:rPr>
                        <a:t>8 FTEs (DD team)</a:t>
                      </a:r>
                    </a:p>
                    <a:p>
                      <a:pPr>
                        <a:spcBef>
                          <a:spcPts val="100"/>
                        </a:spcBef>
                      </a:pPr>
                      <a:r>
                        <a:rPr sz="700" b="0">
                          <a:solidFill>
                            <a:srgbClr val="E67E22"/>
                          </a:solidFill>
                          <a:latin typeface="Open Sans"/>
                        </a:rPr>
                        <a:t>██████ </a:t>
                      </a:r>
                      <a:r>
                        <a:rPr sz="600" b="1">
                          <a:solidFill>
                            <a:srgbClr val="333333"/>
                          </a:solidFill>
                          <a:latin typeface="Open Sans"/>
                        </a:rPr>
                        <a:t>8.5 avg (industry)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337560" y="37033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0338D"/>
                </a:solidFill>
                <a:latin typeface="Open Sans"/>
              </a:rPr>
              <a:t>CYCLE TIME REDUCTION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931920"/>
            <a:ext cx="1965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666666"/>
                </a:solidFill>
                <a:latin typeface="Open Sans"/>
              </a:rPr>
              <a:t>Baseline (Industry Avg)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49240" y="3950208"/>
            <a:ext cx="2834640" cy="146304"/>
          </a:xfrm>
          <a:prstGeom prst="roundRect">
            <a:avLst>
              <a:gd name="adj" fmla="val 15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3941064"/>
            <a:ext cx="2743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FFFFFF"/>
                </a:solidFill>
                <a:latin typeface="Open Sans"/>
              </a:rPr>
              <a:t>90–120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133088"/>
            <a:ext cx="1965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666666"/>
                </a:solidFill>
                <a:latin typeface="Open Sans"/>
              </a:rPr>
              <a:t>+ BPMN Workflow Automation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49240" y="4151376"/>
            <a:ext cx="2057400" cy="146304"/>
          </a:xfrm>
          <a:prstGeom prst="roundRect">
            <a:avLst>
              <a:gd name="adj" fmla="val 15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0" y="4142232"/>
            <a:ext cx="1965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FFFFFF"/>
                </a:solidFill>
                <a:latin typeface="Open Sans"/>
              </a:rPr>
              <a:t>65–85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4334256"/>
            <a:ext cx="1965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666666"/>
                </a:solidFill>
                <a:latin typeface="Open Sans"/>
              </a:rPr>
              <a:t>+ Front-Loaded Knowledge Capture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49240" y="4352544"/>
            <a:ext cx="1508760" cy="146304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0" y="4343400"/>
            <a:ext cx="1417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FFFFFF"/>
                </a:solidFill>
                <a:latin typeface="Open Sans"/>
              </a:rPr>
              <a:t>50–65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4535424"/>
            <a:ext cx="1965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666666"/>
                </a:solidFill>
                <a:latin typeface="Open Sans"/>
              </a:rPr>
              <a:t>+ Parallel Eval &amp; DMN Routing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49240" y="4553712"/>
            <a:ext cx="1051560" cy="146304"/>
          </a:xfrm>
          <a:prstGeom prst="roundRect">
            <a:avLst>
              <a:gd name="adj" fmla="val 15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94960" y="4544568"/>
            <a:ext cx="960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FFFFFF"/>
                </a:solidFill>
                <a:latin typeface="Open Sans"/>
              </a:rPr>
              <a:t>35–50 days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4736592"/>
            <a:ext cx="1965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666666"/>
                </a:solidFill>
                <a:latin typeface="Open Sans"/>
              </a:rPr>
              <a:t>+ Policy-as-Code / Compliance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49240" y="4754880"/>
            <a:ext cx="777240" cy="146304"/>
          </a:xfrm>
          <a:prstGeom prst="roundRect">
            <a:avLst>
              <a:gd name="adj" fmla="val 15000"/>
            </a:avLst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4960" y="4745736"/>
            <a:ext cx="68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FFFFFF"/>
                </a:solidFill>
                <a:latin typeface="Open Sans"/>
              </a:rPr>
              <a:t>29–45 days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709160"/>
            <a:ext cx="822960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 b="0">
                <a:solidFill>
                  <a:srgbClr val="666666"/>
                </a:solidFill>
                <a:latin typeface="Open Sans"/>
              </a:rPr>
              <a:t>Sources: 14 stakeholder sessions (Feb–Mar 2026) • PRD §13 • </a:t>
            </a:r>
            <a:r>
              <a:rPr sz="600" u="sng">
                <a:solidFill>
                  <a:srgbClr val="0091DA"/>
                </a:solidFill>
                <a:latin typeface="Open Sans"/>
                <a:hlinkClick r:id="rId2"/>
              </a:rPr>
              <a:t>APQC Open Standards</a:t>
            </a:r>
            <a:r>
              <a:rPr sz="600" b="0">
                <a:solidFill>
                  <a:srgbClr val="666666"/>
                </a:solidFill>
                <a:latin typeface="Open Sans"/>
              </a:rPr>
              <a:t> • </a:t>
            </a:r>
            <a:r>
              <a:rPr sz="600" u="sng">
                <a:solidFill>
                  <a:srgbClr val="0091DA"/>
                </a:solidFill>
                <a:latin typeface="Open Sans"/>
                <a:hlinkClick r:id="rId4"/>
              </a:rPr>
              <a:t>Whistic TPRM 2025</a:t>
            </a:r>
            <a:r>
              <a:rPr sz="600" b="0">
                <a:solidFill>
                  <a:srgbClr val="666666"/>
                </a:solidFill>
                <a:latin typeface="Open Sans"/>
              </a:rPr>
              <a:t> / </a:t>
            </a:r>
            <a:r>
              <a:rPr sz="600" u="sng">
                <a:solidFill>
                  <a:srgbClr val="0091DA"/>
                </a:solidFill>
                <a:latin typeface="Open Sans"/>
                <a:hlinkClick r:id="rId7"/>
              </a:rPr>
              <a:t>Venminder 2025</a:t>
            </a:r>
            <a:r>
              <a:rPr sz="600" b="0">
                <a:solidFill>
                  <a:srgbClr val="666666"/>
                </a:solidFill>
                <a:latin typeface="Open Sans"/>
              </a:rPr>
              <a:t> • </a:t>
            </a:r>
            <a:r>
              <a:rPr sz="600" u="sng">
                <a:solidFill>
                  <a:srgbClr val="0091DA"/>
                </a:solidFill>
                <a:latin typeface="Open Sans"/>
                <a:hlinkClick r:id="rId5"/>
              </a:rPr>
              <a:t>Bitsight/Ponemon</a:t>
            </a:r>
            <a:r>
              <a:rPr sz="600" b="0">
                <a:solidFill>
                  <a:srgbClr val="666666"/>
                </a:solidFill>
                <a:latin typeface="Open Sans"/>
              </a:rPr>
              <a:t> • </a:t>
            </a:r>
            <a:r>
              <a:rPr sz="600" u="sng">
                <a:solidFill>
                  <a:srgbClr val="0091DA"/>
                </a:solidFill>
                <a:latin typeface="Open Sans"/>
                <a:hlinkClick r:id="rId6"/>
              </a:rPr>
              <a:t>Sirion CLM 2026</a:t>
            </a:r>
            <a:r>
              <a:rPr sz="600" b="0">
                <a:solidFill>
                  <a:srgbClr val="666666"/>
                </a:solidFill>
                <a:latin typeface="Open Sans"/>
              </a:rPr>
              <a:t> • </a:t>
            </a:r>
            <a:r>
              <a:rPr sz="600" u="sng">
                <a:solidFill>
                  <a:srgbClr val="0091DA"/>
                </a:solidFill>
                <a:latin typeface="Open Sans"/>
                <a:hlinkClick r:id="rId3"/>
              </a:rPr>
              <a:t>VISO TRUST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4754880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 b="0">
                <a:solidFill>
                  <a:srgbClr val="666666"/>
                </a:solidFill>
                <a:latin typeface="Open Sans"/>
              </a:rPr>
              <a:t>Software Onboarding Transformation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