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8D"/>
            </a:gs>
            <a:gs pos="100000">
              <a:srgbClr val="005EB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Open Sans Condensed"/>
              </a:defRPr>
            </a:pPr>
            <a:r>
              <a:t>Software Onboarding</a:t>
            </a:r>
            <a:br/>
            <a:r>
              <a:t>Process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DDFF"/>
                </a:solidFill>
                <a:latin typeface="Open Sans"/>
              </a:defRPr>
            </a:pPr>
            <a:r>
              <a:t>Discovery Findings, Recommendations, and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EE"/>
                </a:solidFill>
                <a:latin typeface="Open Sans"/>
              </a:defRPr>
            </a:pPr>
            <a:r>
              <a:t>Based on 14 stakeholder interviews across Architecture, Product, Security, Risk Management, Vendor Management, Finance, Legal, and Compliance teams. Covering 11 governance domains with actionable 30/60/90/120-day implementation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14 Stakeholder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11 Governance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16 Gap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120-Day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8D"/>
                </a:solidFill>
                <a:latin typeface="Open Sans Condensed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Open Sans"/>
              </a:defRPr>
            </a:pPr>
            <a:r>
              <a:t>The software onboarding process spans 6 to 9 months end-to-end, driven by 18 sequential committees, 5+ disconnected intake channels, and critical resource bottlenecks in Security and Legal. The START initiative (9 months old) created centralized awareness but did not integrate underlying team processes.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6-9 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CURRENT E2E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COMMITTEES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335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ASSESSMENTS/YEAR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75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DD INTERNAL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60+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AI QUEUE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Biggest Challenges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Sequential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Requesters present to ARB, TBC, AI Governance, and DART sequentially. Each committee 5+ weeks apart.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315468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Requester 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DART formation falls entirely on the requester, who must contact 5-6 teams independently.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5468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Resource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2 people negotiate 30+ contracts/month. Security is #1 SLA bottleneck. "Half a person" owns START.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Highest-ROI Investment Areas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63440"/>
            <a:ext cx="35661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66344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Replace 18 sequential committees with 5 parallel evaluation streams.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4663440"/>
            <a:ext cx="35661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79" y="466344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59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Intake + Deal-Killer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Consolidate 5+ channels. Block non-starters at day 1.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4663440"/>
            <a:ext cx="35661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19" y="466344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9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 contract review for the 2-person team handling 30+/month.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End-to-End Workflow: Current Pain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1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5+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7631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1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2 Prioritize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1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No formula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9503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3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3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3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Locked 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4 Sourcing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75d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3248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5 Cyber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#1 bottleneck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6 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2wk ARB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6992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7 AI Gov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60+ queue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8 Legal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2 people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60736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0736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9 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0736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Up to 1.5yr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Critical Bottlenecks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Contract Negotiation: 2 people / 30+ contracts monthly [CRITICAL]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614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Security Review: "Biggest bottleneck... reason our SLA takes 2 weeks" [CRITICAL]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0540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Sequential Committees (18): Same presentation repeated 3-4 times [CRITICAL]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467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DART Formation: Requester manages 5-6 teams independently [CRITICAL]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6393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AI Governance Queue: 60+ items, 3 separate committees [HIGH]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Business Council Quorum: 2-3 of 8-10 members attend [HIGH]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What the Organization Does Well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2468880"/>
            <a:ext cx="4754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2468880"/>
            <a:ext cx="54864" cy="9601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2560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Architecture 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880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Facilitator pre-screens artifacts, manages follow-ups. Most disciplined team.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3566160"/>
            <a:ext cx="4754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0" y="3566160"/>
            <a:ext cx="54864" cy="9601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3657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TPRM Due Diligence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Reduced DD from 144 to 75 days. Output doubled to 335 assessments/year.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4663440"/>
            <a:ext cx="4754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0" y="4663440"/>
            <a:ext cx="54864" cy="9601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754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Acquisition 2.0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074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Brings all teams together at start. Collective go/no-go at first tollgate.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Implementation Roadmap: 30 / 60 / 90 / 120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1-30: Consolidate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Unified intake form (replace 5+ channels)</a:t>
            </a:r>
            <a:br/>
            <a:r>
              <a:t>  Deal-killer pre-screen gate</a:t>
            </a:r>
            <a:br/>
            <a:r>
              <a:t>  Completeness quality gate</a:t>
            </a:r>
            <a:br/>
            <a:r>
              <a:t>  Committee scope definition</a:t>
            </a:r>
            <a:br/>
            <a:r>
              <a:t>  3-pathway routing: Buy/Build/Enable</a:t>
            </a:r>
            <a:br/>
            <a:r>
              <a:t>  Prioritization scoring formula</a:t>
            </a:r>
            <a:br/>
            <a:r>
              <a:t>  Status notification at transitions</a:t>
            </a:r>
            <a:br/>
            <a:r>
              <a:t>  Concierge role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31-60: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Parallel evaluation (replace sequential)</a:t>
            </a:r>
            <a:br/>
            <a:r>
              <a:t>  Automated DART formation</a:t>
            </a:r>
            <a:br/>
            <a:r>
              <a:t>  Progressive forms</a:t>
            </a:r>
            <a:br/>
            <a:r>
              <a:t>  Contract review automation pilot</a:t>
            </a:r>
            <a:br/>
            <a:r>
              <a:t>  Security tiered assessment</a:t>
            </a:r>
            <a:br/>
            <a:r>
              <a:t>  AI governance consolidation</a:t>
            </a:r>
            <a:br/>
            <a:r>
              <a:t>  Finance rework loop</a:t>
            </a:r>
            <a:br/>
            <a:r>
              <a:t>  Workload visibility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61-90: 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fast-track pathway (2-week target)</a:t>
            </a:r>
            <a:br/>
            <a:r>
              <a:t>  Enable pathway live</a:t>
            </a:r>
            <a:br/>
            <a:r>
              <a:t>  Time-bound conditional approvals</a:t>
            </a:r>
            <a:br/>
            <a:r>
              <a:t>  Mandatory ownership assignment</a:t>
            </a:r>
            <a:br/>
            <a:r>
              <a:t>  NDA-first gate enforcement</a:t>
            </a:r>
            <a:br/>
            <a:r>
              <a:t>  Automated security baselines</a:t>
            </a:r>
            <a:br/>
            <a:r>
              <a:t>  Self-service mini-RFP tools</a:t>
            </a:r>
            <a:br/>
            <a:r>
              <a:t>  SLA enforcement + escalation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097280"/>
            <a:ext cx="2697480" cy="54864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91-120: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Pre-onboarding idea funnel</a:t>
            </a:r>
            <a:br/>
            <a:r>
              <a:t>  Full workload dashboard</a:t>
            </a:r>
            <a:br/>
            <a:r>
              <a:t>  Exception routing for rapid RA</a:t>
            </a:r>
            <a:br/>
            <a:r>
              <a:t>  Post-onboarding utilization tracking</a:t>
            </a:r>
            <a:br/>
            <a:r>
              <a:t>  Distributed pod model pilot</a:t>
            </a:r>
            <a:br/>
            <a:r>
              <a:t>  Annual ownership validation</a:t>
            </a:r>
            <a:br/>
            <a:r>
              <a:t>  Process mining / CI</a:t>
            </a:r>
            <a:br/>
            <a:r>
              <a:t>  Executive KPI reporting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60-70%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Cycle 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18 to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Sequential to Parallel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3 Pathways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Buy/Build/Enable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Day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Non-Starter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Initial request capture, portfolio review, and solution discovery.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SP1: Request and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 capture, existing solution review, bypass routing for leveraged software, initial triage with 2-day SLA timer, and DMN-driven pathway routing.</a:t>
            </a:r>
          </a:p>
        </p:txBody>
      </p:sp>
      <p:pic>
        <p:nvPicPr>
          <p:cNvPr id="4" name="Picture 3" descr="sp1-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41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Intake: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5+ disconnected entry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 START, AI Use Case form, AI Governance form, Rapid Risk Assessment (Power Apps), email/chat.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Requester confusion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First-time requesters struggle with complexity. Forms discovered ad hoc.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Forms require multi-disciplinary expertise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RAE form has 80 questions. Business partners frequently cannot complete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Process bypasses are common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Technology teams especially prone to bypassing standard processes.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completeness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Incomplete submissions cascade, causing rework when requirements surface late.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START created 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 central intake (9 months old) prevents work on unapproved initiatives.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"The process never solved the step of a requester who's never been through onboarding having to work with 5-6 teams through independent processes."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Vendor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Business | C Governance,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Intake: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Intake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entry point absorbing all channels. Dynamic routing by request type.</a:t>
            </a:r>
            <a:br/>
            <a:r>
              <a:t>Eliminates 4 redundant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Deal-Killer Pre-Screen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 no-go check at submission. Block non-starters immediately.</a:t>
            </a:r>
            <a:br/>
            <a:r>
              <a:t>Saves 100% downstream effort on non-starters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Completeness 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AI-assisted pre-screening validates minimum fields before SME routing.</a:t>
            </a:r>
            <a:br/>
            <a:r>
              <a:t>Eliminates rework from late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Request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Automated: Defined Need, Forced Update, or Speculative. Right-sizes governance.</a:t>
            </a:r>
            <a:br/>
            <a:r>
              <a:t>Matches effort to complexity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Deploy unified intake form</a:t>
            </a:r>
            <a:br/>
            <a:r>
              <a:t>  Implement deal-killer checklist</a:t>
            </a:r>
            <a:br/>
            <a:r>
              <a:t>  Define minimum fields</a:t>
            </a:r>
            <a:br/>
            <a:r>
              <a:t>  Retire redundant channels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Progressive form logic</a:t>
            </a:r>
            <a:br/>
            <a:r>
              <a:t>  AI-assisted completeness scoring</a:t>
            </a:r>
            <a:br/>
            <a:r>
              <a:t>  Integrate feedback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Self-service mini-RFP tools</a:t>
            </a:r>
            <a:br/>
            <a:r>
              <a:t>  Auto-classification (DMN)</a:t>
            </a:r>
            <a:br/>
            <a:r>
              <a:t>  Shift-left: questions upfront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Pre-onboarding idea funnel</a:t>
            </a:r>
            <a:br/>
            <a:r>
              <a:t>  Threshold-based escalation</a:t>
            </a:r>
            <a:br/>
            <a:r>
              <a:t>  Full intake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Backlog ranking, pathway selection, and resource allocation.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SP2: Planning and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Preliminary analysis, backlog prioritization, DMN-1 risk tier classification, DMN-2 pathway assignment. Unacceptable risk routes to rejection.</a:t>
            </a:r>
          </a:p>
        </p:txBody>
      </p:sp>
      <p:pic>
        <p:nvPicPr>
          <p:cNvPr id="4" name="Picture 3" descr="sp2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114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Prioritization: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formal prioritization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'horse trade' internally. No force-ranking mechanism across the enterprise.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'Whoever screams loudest' gets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EVP support pushes other reviews down. No SLA enforcement 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Business Council quorum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Monthly meetings draw 2-3 of 8-10 members. Evolved to email voting.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All requests follow same heavyweight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auto-approval for low-risk. No de-prioritization guidelines.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Capacity management disconnected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PI planning allocates to roadmap; exceptions create unanticipated workload.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Governance Specialist sees path 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Scoring intake responses can drive prioritization. Standards must be defined upfront.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"If you set up repercussion for SLA not achieved, what's the solution? There's no real effective prioritization."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Security Architect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Governance | C Business, Finance, Technical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Prioritization: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Quantitative Scoring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DMN-driven: business impact, strategic alignment, urgency, risk tier, capacity.</a:t>
            </a:r>
            <a:br/>
            <a:r>
              <a:t>Replaces subjective horse trading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3-Pathway Routing: Buy/Build/Enable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Enable (Vendor Affinity) skips funding validation, reduces evaluation scope.</a:t>
            </a:r>
            <a:br/>
            <a:r>
              <a:t>30-day turnaround for Enable vs 6-9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Governance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tier determines intensity. Low-risk gets streamlined review.</a:t>
            </a:r>
            <a:br/>
            <a:r>
              <a:t>Frees 40%+ reviewer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Capacity-Aware 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Integrate team capacity into routing. Display queue depth at submission.</a:t>
            </a:r>
            <a:br/>
            <a:r>
              <a:t>Sets realistic expectations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Define scoring formula</a:t>
            </a:r>
            <a:br/>
            <a:r>
              <a:t>  Implement 3-pathway routing</a:t>
            </a:r>
            <a:br/>
            <a:r>
              <a:t>  Publish criteria</a:t>
            </a:r>
            <a:br/>
            <a:r>
              <a:t>  Queue transparency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DMN decision table</a:t>
            </a:r>
            <a:br/>
            <a:r>
              <a:t>  Capacity integration pilot</a:t>
            </a:r>
            <a:br/>
            <a:r>
              <a:t>  Auto-routing for low-risk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Enable pathway live</a:t>
            </a:r>
            <a:br/>
            <a:r>
              <a:t>  AI fast-track pathway</a:t>
            </a:r>
            <a:br/>
            <a:r>
              <a:t>  SLA enforcement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portfolio dashboard</a:t>
            </a:r>
            <a:br/>
            <a:r>
              <a:t>  Predictive wait times</a:t>
            </a:r>
            <a:br/>
            <a:r>
              <a:t>  Continuous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Funding /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Financial analysis, budget authorization, and TCO assessment.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Funding / Finance: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Formal denial restarts entire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Cannot reroute coding matrix issues to FP&amp;A. Minor corrections require full restart.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Financial form outdated and 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Shows 2024 in 2026. Password unknown (owner left). Downloaded, completed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Enable pathway forced through 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Vendor Affinity products require no org investment but process demands justification.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Business case required multiple 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Redundancy across intake forms all describing the same business case.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"There's redundancy on what all these intake forms are... they're all describing what is the business case."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Product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Finance | C Governance, Procurement | I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Funding / Finance: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Finance Rework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Correction pathway for coding matrix issues. Minor fixes route to FP&amp;A directly.</a:t>
            </a:r>
            <a:br/>
            <a:r>
              <a:t>Eliminates weeks of rework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Enable Pathway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 detects 'no org investment' and bypasses financial gates entirely.</a:t>
            </a:r>
            <a:br/>
            <a:r>
              <a:t>Removes friction for zero-cost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Modernized Financial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Dynamic digital version replacing locked form. Pre-populate from intake data.</a:t>
            </a:r>
            <a:br/>
            <a:r>
              <a:t>Single source of truth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Business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One business case at intake, enriched progressively. No repeated justification.</a:t>
            </a:r>
            <a:br/>
            <a:r>
              <a:t>60%+ form burden reduction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Replace locked form</a:t>
            </a:r>
            <a:br/>
            <a:r>
              <a:t>  Define Enable bypass rules</a:t>
            </a:r>
            <a:br/>
            <a:r>
              <a:t>  Map financial data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Finance rework loop</a:t>
            </a:r>
            <a:br/>
            <a:r>
              <a:t>  Pre-populated fields</a:t>
            </a:r>
            <a:br/>
            <a:r>
              <a:t>  Conditional fields per pathway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TCO/ROI calc</a:t>
            </a:r>
            <a:br/>
            <a:r>
              <a:t>  Finance dashboard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financial lifecycle</a:t>
            </a:r>
            <a:br/>
            <a:r>
              <a:t>  Budget forecasting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Sourcing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Vendor landscape, risk evaluation, due diligence, and procurement.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SP3: Evaluation and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5 parallel evaluation streams (Tech Architecture, Security, Risk/Compliance/Legal, Financial Analysis, Vendor Landscape) with 5-day SLA and vendor DD integration.</a:t>
            </a:r>
          </a:p>
        </p:txBody>
      </p:sp>
      <p:pic>
        <p:nvPicPr>
          <p:cNvPr id="4" name="Picture 3" descr="sp3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1188720"/>
            <a:ext cx="842356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Sourcing: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RAE: 80 questions, 28-29 day actual vs 14 day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Internal questionnaire assigns inherent risk tier and determines DD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DD: 830 questions, 75 day internal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Down from 144 days. Vendor completion 30 days (ahead of 42-day target).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'Sourcing doesn't source'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They manage contract lifecycle. True sourcing falls on requesters.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 timing disagreement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Legal and Security want NDA first. Other teams disagree. No consistent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TPRM performance improving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Output doubled to 335 assessments/year. Team of 8 reducing timelines.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deployed for risk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API connections between Ariba and Oracle. Risk assessment foundation exists.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"That's a fantastic idea that should be in the slides."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Lead, on shift-left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 Procurement | A Governance | C Compliance | I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Sourcing: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NDA-First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Enforce NDA execution before detailed vendor engagement.</a:t>
            </a:r>
            <a:br/>
            <a:r>
              <a:t>Protects IP, aligns Legal and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Shift-Left: Self-Service Mini-RFP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RFP tools before formal onboarding. Maintains competitive leverage.</a:t>
            </a:r>
            <a:br/>
            <a:r>
              <a:t>Better vendor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Due Diligence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tier determines DD depth. Low-risk: automated only. High: full 830-question.</a:t>
            </a:r>
            <a:br/>
            <a:r>
              <a:t>60% DD cycle time reduction for low-risk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Vendor-Level Aggregation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vendor spanning 10+ BUs shares compliance artifacts.</a:t>
            </a:r>
            <a:br/>
            <a:r>
              <a:t>Eliminates redundant assessments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NDA-first enforcement</a:t>
            </a:r>
            <a:br/>
            <a:r>
              <a:t>  Risk-tiered DD matrix</a:t>
            </a:r>
            <a:br/>
            <a:r>
              <a:t>  Vendor de-duplication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Mini-RFP templates</a:t>
            </a:r>
            <a:br/>
            <a:r>
              <a:t>  Abbreviated DD for low-risk</a:t>
            </a:r>
            <a:br/>
            <a:r>
              <a:t>  OneTrust optimization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Vendor artifact sharing</a:t>
            </a:r>
            <a:br/>
            <a:r>
              <a:t>  Automated landscape scan</a:t>
            </a:r>
            <a:br/>
            <a:r>
              <a:t>  AI-assisted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self-service portal</a:t>
            </a:r>
            <a:br/>
            <a:r>
              <a:t>  Competitive intelligence</a:t>
            </a:r>
            <a:br/>
            <a:r>
              <a:t>  Vendor performance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Security assessment, vulnerability management, and architecture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SP3: Security Assessment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assessment runs as one of 5 parallel streams in SP3. Tiered approach: automated baseline, elevated manual review, or full penetration testing based on risk tier.</a:t>
            </a:r>
          </a:p>
        </p:txBody>
      </p:sp>
      <p:pic>
        <p:nvPicPr>
          <p:cNvPr id="4" name="Picture 3" descr="sp3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1188720"/>
            <a:ext cx="842356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Cybersecurity: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'Security is our biggest bottleneck'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Primary reason ARB SLA takes 2 weeks. Understaffed security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'I need three of me right now'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 volume increasing, especially AI reviews. Cannot scale with current staffing.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'secure by design'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don't know minimum controls. Enforcement 'fairly loose.'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3x vendor contact for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risk, cybersecurity, and TPRM each contact vendor independently.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Zero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All routing manual. No workflow integration. Dependency on individual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Multiple security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Each addresses specific control requirements. Different security needs covered.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"Security is our biggest bottleneck... They are the reason our SLA takes two weeks."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Technical Assessment | C Governance,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Cybersecurity: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Security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DMN-driven. Baseline: automated. Elevated: auto+manual. Major: full+pen test.</a:t>
            </a:r>
            <a:br/>
            <a:r>
              <a:t>70% handled by automated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Vendor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coordinated engagement replacing 3 independent contact points.</a:t>
            </a:r>
            <a:br/>
            <a:r>
              <a:t>Eliminates 2/3 vendor touchpoints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Security Baseline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Minimum controls published. Baseline, elevated, and major hierarchies.</a:t>
            </a:r>
            <a:br/>
            <a:r>
              <a:t>Clear expectations for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concurrent with Architecture, Compliance, Financial reviews.</a:t>
            </a:r>
            <a:br/>
            <a:r>
              <a:t>Eliminates 4-8 weeks sequential waiting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Define 3-tier framework</a:t>
            </a:r>
            <a:br/>
            <a:r>
              <a:t>  Consolidate vendor contact</a:t>
            </a:r>
            <a:br/>
            <a:r>
              <a:t>  Document baselines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baseline checks</a:t>
            </a:r>
            <a:br/>
            <a:r>
              <a:t>  Parallel evaluation</a:t>
            </a:r>
            <a:br/>
            <a:r>
              <a:t>  AI stream consolidation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tiered assessment</a:t>
            </a:r>
            <a:br/>
            <a:r>
              <a:t>  Automated pen test scheduling</a:t>
            </a:r>
            <a:br/>
            <a:r>
              <a:t>  Security SLA enforcement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Security posture dashboard</a:t>
            </a:r>
            <a:br/>
            <a:r>
              <a:t>  Continuous monitoring</a:t>
            </a:r>
            <a:br/>
            <a:r>
              <a:t>  Risk-based resource 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Architecture review, integration planning, and standards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SP3-SP4: Architecture Review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Architecture review spans evaluation (SP3) through contracting (SP4). Governance Facilitator pre-screens artifacts, manages follow-ups, and runs ARB and SDRB.</a:t>
            </a:r>
          </a:p>
        </p:txBody>
      </p:sp>
      <p:pic>
        <p:nvPicPr>
          <p:cNvPr id="4" name="Picture 3" descr="sp3-sp4-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61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Enterprise Architecture: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Governance Facilitator role (model for E2E)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Pre-screens artifacts, manages follow-ups. Runs ARB and SDRB.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ARB: 2-week SLA. SDRB: same-day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workflow with JIRA integration. Most disciplined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tooling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Cursor AI for diagrams. Custom agent scans designs for pattern conformance.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HLD/PSS/SDD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Requesters confused about which artifact path applies to their situation.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Committee overlap with TBC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Present to ARB, then TBC, then AI governance. Overlapping scope.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Domain-funded model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'If they want us to pursue all that work, they need to fund us appropriately.'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 like how you're running your shop."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Consulting Team, on Architecture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Technical Assessment | C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Enterprise Architecture: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Scale Governance Facilitator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Blueprint for E2E 'quarterback.' Expand concierge across all domains.</a:t>
            </a:r>
            <a:br/>
            <a:r>
              <a:t>Proven model reduces requester burden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Define Clear Committee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Architecture questions by architects only. TBC: business case. AI Gov: AI risks.</a:t>
            </a:r>
            <a:br/>
            <a:r>
              <a:t>Eliminates redundant presentations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Simultaneous Engagement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All major voting players engaged simultaneously when request comes in.</a:t>
            </a:r>
            <a:br/>
            <a:r>
              <a:t>Architecture Lead's own proposal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Domain-Based Auto-Assignment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routing by requesting domain. EA leader to architect by bandwidth.</a:t>
            </a:r>
            <a:br/>
            <a:r>
              <a:t>Reduces triage, balances workload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Document scope boundaries</a:t>
            </a:r>
            <a:br/>
            <a:r>
              <a:t>  Define concierge role</a:t>
            </a:r>
            <a:br/>
            <a:r>
              <a:t>  Map domain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Simultaneous engagement pilot</a:t>
            </a:r>
            <a:br/>
            <a:r>
              <a:t>  Automated domain routing</a:t>
            </a:r>
            <a:br/>
            <a:r>
              <a:t>  Consolidated artifacts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Concierge operational</a:t>
            </a:r>
            <a:br/>
            <a:r>
              <a:t>  Cross-committee enforcement</a:t>
            </a:r>
            <a:br/>
            <a:r>
              <a:t>  AI pattern conformance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parallel model</a:t>
            </a:r>
            <a:br/>
            <a:r>
              <a:t>  Architecture metrics</a:t>
            </a:r>
            <a:br/>
            <a:r>
              <a:t>  Workload resource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Regulatory compliance review across OCC 2023-17, GDPR/CCPA, SOX, DORA.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Compliance: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End-of-year compliance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PII found in uncontrolled systems. Enforcement 'fairly loose.'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Multiple teams assess independently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Risk, Legal, Privacy, Compliance each conduct own review without shared 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standardized business case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TBC overlaps financial review. Architecture assessing financials.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deviations not reportable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structured format. Unknown compliance status for older contracts.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Regulatory awareness improving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recognize OCC 2023-17, DORA, EU AI Act requirements.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for risk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Control gap documentation and risk acceptance tracking. Audit trail foundation.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Compliance | C Governance, Oversight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Compliance: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Compliance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review combining Risk, Legal, Privacy, Compliance. Shared findings.</a:t>
            </a:r>
            <a:br/>
            <a:r>
              <a:t>One review instead of four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Regulatory Annotation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Every task mapped to applicable regulations. Auto compliance artifact generation.</a:t>
            </a:r>
            <a:br/>
            <a:r>
              <a:t>Audit-ready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Deviation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format in OneTrust. Automated alerting for expiring risk acceptances.</a:t>
            </a:r>
            <a:br/>
            <a:r>
              <a:t>Full visibility into contract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Compliance Quality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Phase-boundary checks. Automated validation of required artifacts.</a:t>
            </a:r>
            <a:br/>
            <a:r>
              <a:t>Prevents downstream failures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regulatory requirements</a:t>
            </a:r>
            <a:br/>
            <a:r>
              <a:t>  Define consolidated stream</a:t>
            </a:r>
            <a:br/>
            <a:r>
              <a:t>  Deviation template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Shared findings database</a:t>
            </a:r>
            <a:br/>
            <a:r>
              <a:t>  Auto compliance artifacts</a:t>
            </a:r>
            <a:br/>
            <a:r>
              <a:t>  Phase quality gates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regulatory annotation</a:t>
            </a:r>
            <a:br/>
            <a:r>
              <a:t>  Deviation dashboard</a:t>
            </a:r>
            <a:br/>
            <a:r>
              <a:t>  Expiry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Compliance analytics</a:t>
            </a:r>
            <a:br/>
            <a:r>
              <a:t>  Regulatory change mgmt</a:t>
            </a:r>
            <a:br/>
            <a:r>
              <a:t>  Audit readiness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AI risk classification, model validation, and the most urgent governance challenge.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SP3: AI Governance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 governance runs as a parallel evaluation stream in SP3. Consolidates 3 committees to 1, with fast-track pathway targeting 2-week turnaround for pre-approved risk postures.</a:t>
            </a:r>
          </a:p>
        </p:txBody>
      </p:sp>
      <p:pic>
        <p:nvPicPr>
          <p:cNvPr id="4" name="Picture 3" descr="sp3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1188720"/>
            <a:ext cx="842356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AI Governance: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60+ items in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Multiple tools for same function. No alignment to AI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separate AI committees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Working Group, Cyber Review, Risk Review, plus Governance Committee. Sequential.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Overly restrictive AI addendum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Extended vendor negotiations. External firms push back on AI terms.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additional AI questionnaires 'snuck up'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Management Lead 'really annoyed they exist.' Merging underway.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Vendors contacted 3x for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risk, cybersecurity, TPRM each contact independently.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consistent escalation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Unclear if adding models to packages = new use case.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"It's an ever-changing world that's different every other day... there needs to be some type of standardization."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AI Review | C Technical Assessment, Compliance | I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AI Governance: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 3 AI Committees 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AI review stream. Cross-functional representation in one meeting.</a:t>
            </a:r>
            <a:br/>
            <a:r>
              <a:t>Eliminates months of sequential queuing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Fast-Track Pathway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Pre-defined risk posture. AI+Security in parallel only. 2-week target.</a:t>
            </a:r>
            <a:br/>
            <a:r>
              <a:t>2 weeks vs 6-9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AI Questionnaire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Merge 3 questionnaires. One vendor engagement. Distributed findings.</a:t>
            </a:r>
            <a:br/>
            <a:r>
              <a:t>1 vendor contact instead of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No-Go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Non-starter models/vendors communicated early. DMN red/green decisions at intake.</a:t>
            </a:r>
            <a:br/>
            <a:r>
              <a:t>Zero wasted effort on non-starters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Publish AI no-go list</a:t>
            </a:r>
            <a:br/>
            <a:r>
              <a:t>  Define single AI stream</a:t>
            </a:r>
            <a:br/>
            <a:r>
              <a:t>  Merge questionnaires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fast-track pilot</a:t>
            </a:r>
            <a:br/>
            <a:r>
              <a:t>  Consolidated committee</a:t>
            </a:r>
            <a:br/>
            <a:r>
              <a:t>  Unified vendor engagement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Pre-defined risk posture</a:t>
            </a:r>
            <a:br/>
            <a:r>
              <a:t>  AI SLA targets (2 weeks)</a:t>
            </a:r>
            <a:br/>
            <a:r>
              <a:t>  Auto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AI governance lifecycle</a:t>
            </a:r>
            <a:br/>
            <a:r>
              <a:t>  Model inventory</a:t>
            </a:r>
            <a:br/>
            <a:r>
              <a:t>  EU AI Act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Data protection, classification, and cross-border transfer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Privacy: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 review embedded across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Privacy SME participates in vendor risk, AI governance, compliance. No dedicated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PII found in uncontrolled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End-of-year compliance failures. Data classification not consistently enforced.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Different risk thresholds per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Varying risk acceptance for AI privacy concerns. No unified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Data questions could be answered earlier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Hosting, storage, transmission resolvable through proper sourcing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 SME engaged across workstreams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Active participation demonstrates organizational awareness.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GDPR/CCPA framework exists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Challenge is consistent application during onboarding, not absence of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Compliance (Privacy) | C Governance,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Privacy: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Data Classification at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Mandatory fields in unified form. Determines DPIA vs standard vs no PII.</a:t>
            </a:r>
            <a:br/>
            <a:r>
              <a:t>Right-sizes privacy effort from day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 as Parallel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branch concurrent with security and compliance.</a:t>
            </a:r>
            <a:br/>
            <a:r>
              <a:t>Consistent, predictable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Privacy Risk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framework replacing team-by-team thresholds. DMN-driven.</a:t>
            </a:r>
            <a:br/>
            <a:r>
              <a:t>Eliminates inconsistent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Early Data Residency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Validated at sourcing stage. Prevents late cross-border discoveries.</a:t>
            </a:r>
            <a:br/>
            <a:r>
              <a:t>Eliminates rework from late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Add classification to intake</a:t>
            </a:r>
            <a:br/>
            <a:r>
              <a:t>  Define privacy triggers</a:t>
            </a:r>
            <a:br/>
            <a:r>
              <a:t>  Map residency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Parallel privacy stream</a:t>
            </a:r>
            <a:br/>
            <a:r>
              <a:t>  Unified classification</a:t>
            </a:r>
            <a:br/>
            <a:r>
              <a:t>  DPIA automation template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Cross-border validation</a:t>
            </a:r>
            <a:br/>
            <a:r>
              <a:t>  Privacy-by-design checklist</a:t>
            </a:r>
            <a:br/>
            <a:r>
              <a:t>  Automated PII 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Privacy impact dashboard</a:t>
            </a:r>
            <a:br/>
            <a:r>
              <a:t>  Regulatory monitoring</a:t>
            </a:r>
            <a:br/>
            <a:r>
              <a:t>  Annual privacy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Commercial Counsel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Contract negotiation, SOW/MSA redlining, and vendor agreement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SP4: Contracting and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Buy path: contract refinement, PoC, tech risk review, negotiation with 7-day SLA. Build path: requirements definition and PDLC sub-process. Both converge to finalization.</a:t>
            </a:r>
          </a:p>
        </p:txBody>
      </p:sp>
      <p:pic>
        <p:nvPicPr>
          <p:cNvPr id="4" name="Picture 3" descr="sp3-sp4-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61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Commercial Counsel: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'Dumpster Fire #1': 2 people, 30+ contracts/month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Manual review sustained 4 years unsustainably. CLM requested 5-6 years, no funding.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negotiation: up to 1.5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exhibits drive longest negotiations. No reportable format for deviations.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Sourcing makes quasi-legal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Legal bottleneck forces sourcing beyond expertise. Creates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Only 2 legal partners for all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Capacity hasn't scaled with growth.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 timing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Legal and Security want NDA first. Others disagree. No enforcement.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Ariba for contract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Platform exists for NDAs, registration, contracts. Not fully used.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"That team desperately needs automation... The firm needs them to be automated."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Contracting | C Finance, Governance, Compliance | I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Commercial Counsel: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Review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AI-assisted for standard clauses, redlining, deviation detection.</a:t>
            </a:r>
            <a:br/>
            <a:r>
              <a:t>50%+ reduction in manual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Standardized 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Pre-approved MSA/SOW by vendor tier and risk. Reduces negotiation scope.</a:t>
            </a:r>
            <a:br/>
            <a:r>
              <a:t>Days instead of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Contracting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Begin negotiation concurrent with due diligence, not sequentially.</a:t>
            </a:r>
            <a:br/>
            <a:r>
              <a:t>Compresses 2-3 month phase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Deviation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tracking with risk classification, expiry dates, automated alerts.</a:t>
            </a:r>
            <a:br/>
            <a:r>
              <a:t>Full visibility into contract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Template library</a:t>
            </a:r>
            <a:br/>
            <a:r>
              <a:t>  Parallel contracting design</a:t>
            </a:r>
            <a:br/>
            <a:r>
              <a:t>  Deviation format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Contract automation pilot</a:t>
            </a:r>
            <a:br/>
            <a:r>
              <a:t>  AI redlining</a:t>
            </a:r>
            <a:br/>
            <a:r>
              <a:t>  Deviation register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parallel contracting</a:t>
            </a:r>
            <a:br/>
            <a:r>
              <a:t>  Automated deviation alerts</a:t>
            </a:r>
            <a:br/>
            <a:r>
              <a:t>  Contract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CLM system evaluation</a:t>
            </a:r>
            <a:br/>
            <a:r>
              <a:t>  Historical remediation</a:t>
            </a:r>
            <a:br/>
            <a:r>
              <a:t>  Vendor contract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Third-Party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Vendor lifecycle management, monitoring, and OCC 2023-17 compliance backbone.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TPRM: End-to-End Vendor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Cross-cutting TPRM journey spanning all 5 phases: intake risk screening, due diligence with OneTrust, contract controls, ongoing monitoring, and vendor performance scoring.</a:t>
            </a:r>
          </a:p>
        </p:txBody>
      </p:sp>
      <p:pic>
        <p:nvPicPr>
          <p:cNvPr id="4" name="Picture 3" descr="tprm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11129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Third-Party Risk Management: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System landscape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ServiceNow, Ariba, OneTrust, Oracle. Data in 4+ systems with manual PDF exports.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Process ownership vacuum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'Somebody needs to be empowered to say I own this.' START: 'half a person.'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4 people contacted same vendor on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clear ownership for incident communication. Same questions repeated.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Tech owner identification 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Business Owner tracked. Vendor Owner by TPRM team. Tech Owner weakly tracked.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DD performance improving dramatically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144 days (2019) to 75 days. 335 assessments/year. Output doubled.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Shift-left strategy endorsed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'That's a fantastic idea that should be in the slides.' Risk-based self-service.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"If we want this to really click... I can't have the architect review group being a critical portion with only two people."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Governance | C Procurement, Contracting, Technical, Compliance | I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Third-Party Risk Management: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Empowered Process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strategic owner + 1 workflow manager + 2-3 PMs. Models Architecture Facilitator.</a:t>
            </a:r>
            <a:br/>
            <a:r>
              <a:t>Single accountability for E2E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Mandatory Ownership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Business, Technical, Support owners at onboarding. Annual validation. Feeds CMDB.</a:t>
            </a:r>
            <a:br/>
            <a:r>
              <a:t>Resolves #1 post-onboarding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Integrated System of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Connect ServiceNow, Ariba, OneTrust, Oracle. Eliminate manual PDF exports.</a:t>
            </a:r>
            <a:br/>
            <a:r>
              <a:t>Single source of truth across 4+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Incident Response 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vendor contact for incidents. Clear ownership matrix: who communicates, investigates, remediates.</a:t>
            </a:r>
            <a:br/>
            <a:r>
              <a:t>Prevents 4 people contacting same vendor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Define process owner role</a:t>
            </a:r>
            <a:br/>
            <a:r>
              <a:t>  Ownership assignment form</a:t>
            </a:r>
            <a:br/>
            <a:r>
              <a:t>  Incident communication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Process owner appointment</a:t>
            </a:r>
            <a:br/>
            <a:r>
              <a:t>  System integration reqs</a:t>
            </a:r>
            <a:br/>
            <a:r>
              <a:t>  Mandatory ownership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OneTrust-Ariba-SN pilot</a:t>
            </a:r>
            <a:br/>
            <a:r>
              <a:t>  Incident response playbook</a:t>
            </a:r>
            <a:br/>
            <a:r>
              <a:t>  Annual validation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integrated SoR</a:t>
            </a:r>
            <a:br/>
            <a:r>
              <a:t>  TPRM analytics dashboard</a:t>
            </a:r>
            <a:br/>
            <a:r>
              <a:t>  Concentration risk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Decision Framework and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DMN decision tables, RACI governance matrix, heatmap, and bottleneck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BPMN: End-to-End Orchestrator with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Hierarchical 5-phase model: Request and Triage, Planning and Routing, Evaluation and DD, Contracting and Build, UAT and Go-Live. 3 decision gateways, vendor pool with message flows.</a:t>
            </a:r>
          </a:p>
        </p:txBody>
      </p:sp>
      <p:pic>
        <p:nvPicPr>
          <p:cNvPr id="4" name="Picture 3" descr="orchestrator-pain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62" y="1188720"/>
            <a:ext cx="1109937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End-to-End Onboarding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Open Sans"/>
              </a:defRPr>
            </a:pPr>
            <a:r>
              <a:t>5-phase hierarchical BPMN 2.0 model with DMN-driven gateways, parallel evaluation, and SLA timers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SP1: Request</a:t>
            </a:r>
            <a:br/>
            <a:r>
              <a:t>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Review, Gather, Submit,</a:t>
            </a:r>
            <a:br/>
            <a:r>
              <a:t>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2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SP2: Planning</a:t>
            </a:r>
            <a:br/>
            <a:r>
              <a:t>and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Prelim Analysis, Backlog,</a:t>
            </a:r>
            <a:br/>
            <a:r>
              <a:t>DMN-1, DMN-2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SP3: Evaluation</a:t>
            </a:r>
            <a:br/>
            <a:r>
              <a:t>and 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5 Parallel: Tech, Security,</a:t>
            </a:r>
            <a:br/>
            <a:r>
              <a:t>Risk, Finance, Vendor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SP4: Contracting</a:t>
            </a:r>
            <a:br/>
            <a:r>
              <a:t>and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Buy: Negotiate, PoC</a:t>
            </a:r>
            <a:br/>
            <a:r>
              <a:t>Build: Reqs, PDLC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SP5: UAT</a:t>
            </a:r>
            <a:br/>
            <a:r>
              <a:t>and 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UAT, Approval, Onboard,</a:t>
            </a:r>
            <a:br/>
            <a:r>
              <a:t>Notify,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3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4 DMN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Tier, Pathway, Governance, SLA Breach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017520"/>
            <a:ext cx="54864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Decision Gateways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Build vs Buy?, Eval Approved?, Risk Acceptable?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017520"/>
            <a:ext cx="54864" cy="8229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5 Parallel Streams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Arch, Security, Risk, Financial, Vendor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3017520"/>
            <a:ext cx="54864" cy="8229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SLA Timers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Non-interrupting boundary timers with DMN-4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Decision Model Notation (DMN) Integration:</a:t>
            </a:r>
            <a:br/>
            <a:br/>
            <a:r>
              <a:t>• OB-DMN-1 (Risk Tier): 5 inputs (Data Sensitivity, Regulatory Exposure, Operational Criticality, AI Complexity, 3rd-Party Dependency) → 4 tiers (Unacceptable, High, Limited, Minimal)</a:t>
            </a:r>
            <a:br/>
            <a:r>
              <a:t>• OB-DMN-2 (Pathway): 6 inputs including Existing Vendor Relationship → Fast-Track, Standard-Buy, Standard-Build, or Hybrid</a:t>
            </a:r>
            <a:br/>
            <a:r>
              <a:t>• OB-DMN-3 (Governance): Risk Tier + Pathway → Advisory Board (7d), Committee (5d), Fast Path (2d), or Auto-Approve (1d)</a:t>
            </a:r>
            <a:br/>
            <a:r>
              <a:t>• OB-DMN-4 (SLA Breach): Breached Phase + Days Beyond + Risk Tier → 4-level escalation ladder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RACI Matrix by Governance Topic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Contracting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AI Review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Oversight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Sourcing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Cyber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Comm. Counsel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TPRM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 = Responsible | A = Accountable | C = Consulted | I = Informed   |   Finance = new functional area (split from Governance)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OB-DMN-1: Risk Tier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365760"/>
            <a:ext cx="1371600" cy="32004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Open Sans"/>
              </a:defRPr>
            </a:pPr>
            <a:r>
              <a:t>UNIQUE |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Open Sans"/>
              </a:defRPr>
            </a:pPr>
            <a:r>
              <a:t>5 risk dimensions (1-10 scale each) determine risk tier. Unacceptable tiers terminate onboarding.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14325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Data Sensitivity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Regulatory Exposure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Operational Crit.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AI Complexity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3P Dependency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Risk Tier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Eligible?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[3..6)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OB-DMN-2: Pathway Routing  |  OB-DMN-3: Governance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D48"/>
                </a:solidFill>
                <a:latin typeface="Open Sans"/>
              </a:defRPr>
            </a:pPr>
            <a:r>
              <a:t>OB-DMN-2: Pathway Routing (UNIQUE, Phase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26571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Reuse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Build/Buy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Strategic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TtV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Vendor?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Pathway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Standard-Buy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Standard-Build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4A843"/>
                          </a:solidFill>
                          <a:latin typeface="Open Sans"/>
                        </a:defRPr>
                      </a:pPr>
                      <a:r>
                        <a:t>Hybrid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4A843"/>
                          </a:solidFill>
                          <a:latin typeface="Open Sans"/>
                        </a:defRPr>
                      </a:pPr>
                      <a:r>
                        <a:t>Hybrid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D48"/>
                </a:solidFill>
                <a:latin typeface="Open Sans"/>
              </a:defRPr>
            </a:pPr>
            <a:r>
              <a:t>OB-DMN-3: Governance Routing (UNIQUE, Phase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2344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2657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Risk Tier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Pathway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Review Body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Advisory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7 days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5 days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 days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Auto-Approve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 day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OB-DMN-4: SLA Breach Escalation Routing (FIRST, Cross-Cutting)</a:t>
            </a:r>
            <a:br/>
            <a:br/>
            <a:r>
              <a:t>4-level escalation ladder triggered by SLA timer boundary events:</a:t>
            </a:r>
            <a:br/>
            <a:r>
              <a:t>  Level 1: Monitor — Dashboard alert to Process Owner (2+ days beyond SLA)</a:t>
            </a:r>
            <a:br/>
            <a:r>
              <a:t>  Level 2: Notify-Sponsor — Email to Business Sponsor (3-5 days beyond)</a:t>
            </a:r>
            <a:br/>
            <a:r>
              <a:t>  Level 3: Escalate-Governance — Priority reassignment by Governance Lead (5-10 days beyond)</a:t>
            </a:r>
            <a:br/>
            <a:r>
              <a:t>  Level 4: Board-Alert / Auto-Reject — Advisory Board escalation or process termination (10-15 days beyond, High risk)</a:t>
            </a:r>
            <a:br/>
            <a:br/>
            <a:r>
              <a:t>Inputs: Breached Phase, Days Beyond SLA, Risk Tier</a:t>
            </a:r>
            <a:br/>
            <a:r>
              <a:t>Outputs: Escalation Action, Notification Target, Auto-Action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Governance Topic Coverage Across Onboarding Phases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3810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SP1: Request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Triage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SP2: Planning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Routing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SP3: Eval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DD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SP4: Contract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Build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SP5: UAT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Go-Live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Pool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Intake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Prioritization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Funding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Sourcing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Cyber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EA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AI Governance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Comm. Counsel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TPRM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■ Primary (2+ tasks)    ■ Secondary (1 task)    □ No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Onboarding Bottleneck Analysis: 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Vendor Evidence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97280"/>
            <a:ext cx="548640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0" y="1097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15d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1097280" cy="274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62828"/>
                </a:solidFill>
                <a:latin typeface="Open Sans"/>
              </a:defRPr>
            </a:pPr>
            <a:r>
              <a:t>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Committee Scheduling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731520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18745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20d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59"/>
            <a:ext cx="1828800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94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7E22"/>
                </a:solidFill>
                <a:latin typeface="Open Sans"/>
              </a:defRPr>
            </a:pPr>
            <a:r>
              <a:t>5d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Contract Review / Redlining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651760"/>
            <a:ext cx="658368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18d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971800"/>
            <a:ext cx="1828800" cy="274320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971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EB8"/>
                </a:solidFill>
                <a:latin typeface="Open Sans"/>
              </a:defRPr>
            </a:pPr>
            <a:r>
              <a:t>5d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Security Assessment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429000"/>
            <a:ext cx="438912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12d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749040"/>
            <a:ext cx="1463040" cy="27432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749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91DA"/>
                </a:solidFill>
                <a:latin typeface="Open Sans"/>
              </a:defRPr>
            </a:pPr>
            <a:r>
              <a:t>4d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AI Governance Backlog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206240"/>
            <a:ext cx="365760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10d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526280"/>
            <a:ext cx="1097280" cy="2743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3d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0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■ Current State    ■ Future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75 Days → 20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Total E2E cycle reduction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5303520"/>
            <a:ext cx="54864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18 → 4 Committees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Consolidated 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303520"/>
            <a:ext cx="54864" cy="8229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335 Assessments/Year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intake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5303520"/>
            <a:ext cx="54864" cy="8229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60+ AI Queue →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AI governance lane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