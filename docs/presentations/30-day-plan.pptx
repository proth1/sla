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91695" cy="1828800"/>
          </a:xfrm>
          <a:prstGeom prst="rect">
            <a:avLst/>
          </a:prstGeom>
          <a:solidFill>
            <a:srgbClr val="00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0"/>
            <a:ext cx="9144000" cy="1097280"/>
          </a:xfrm>
          <a:prstGeom prst="rect">
            <a:avLst/>
          </a:prstGeom>
          <a:noFill/>
        </p:spPr>
        <p:txBody>
          <a:bodyPr wrap="square">
            <a:spAutoFit/>
          </a:bodyPr>
          <a:lstStyle/>
          <a:p>
            <a:r>
              <a:rPr sz="4400" b="1">
                <a:solidFill>
                  <a:srgbClr val="FFFFFF"/>
                </a:solidFill>
                <a:latin typeface="Open Sans Condensed"/>
              </a:rPr>
              <a:t>Software Onboarding</a:t>
            </a:r>
          </a:p>
          <a:p>
            <a:r>
              <a:rPr sz="3600" b="1">
                <a:solidFill>
                  <a:srgbClr val="0091DA"/>
                </a:solidFill>
                <a:latin typeface="Open Sans Condensed"/>
              </a:rPr>
              <a:t>30-Day Process Improvement Plan</a:t>
            </a:r>
          </a:p>
        </p:txBody>
      </p:sp>
      <p:sp>
        <p:nvSpPr>
          <p:cNvPr id="5" name="TextBox 4"/>
          <p:cNvSpPr txBox="1"/>
          <p:nvPr/>
        </p:nvSpPr>
        <p:spPr>
          <a:xfrm>
            <a:off x="685800" y="3474720"/>
            <a:ext cx="7315200" cy="457200"/>
          </a:xfrm>
          <a:prstGeom prst="rect">
            <a:avLst/>
          </a:prstGeom>
          <a:noFill/>
        </p:spPr>
        <p:txBody>
          <a:bodyPr wrap="none">
            <a:spAutoFit/>
          </a:bodyPr>
          <a:lstStyle/>
          <a:p>
            <a:r>
              <a:rPr sz="1600">
                <a:solidFill>
                  <a:srgbClr val="B0C4DE"/>
                </a:solidFill>
                <a:latin typeface="Open Sans"/>
              </a:rPr>
              <a:t>Zero technology changes. 7 organizational decisions that cut cycle time in half.</a:t>
            </a:r>
          </a:p>
        </p:txBody>
      </p:sp>
      <p:sp>
        <p:nvSpPr>
          <p:cNvPr id="6" name="Rounded Rectangle 5"/>
          <p:cNvSpPr/>
          <p:nvPr/>
        </p:nvSpPr>
        <p:spPr>
          <a:xfrm>
            <a:off x="685800" y="5303520"/>
            <a:ext cx="2743200" cy="1097280"/>
          </a:xfrm>
          <a:prstGeom prst="roundRect">
            <a:avLst/>
          </a:prstGeom>
          <a:solidFill>
            <a:srgbClr val="002A6B"/>
          </a:solidFill>
          <a:ln w="12700">
            <a:solidFill>
              <a:srgbClr val="004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440680"/>
            <a:ext cx="2377440" cy="548640"/>
          </a:xfrm>
          <a:prstGeom prst="rect">
            <a:avLst/>
          </a:prstGeom>
          <a:noFill/>
        </p:spPr>
        <p:txBody>
          <a:bodyPr wrap="none">
            <a:spAutoFit/>
          </a:bodyPr>
          <a:lstStyle/>
          <a:p>
            <a:r>
              <a:rPr sz="2800" b="1">
                <a:solidFill>
                  <a:srgbClr val="DC2626"/>
                </a:solidFill>
                <a:latin typeface="Open Sans Condensed"/>
              </a:rPr>
              <a:t>6+ mo</a:t>
            </a:r>
          </a:p>
        </p:txBody>
      </p:sp>
      <p:sp>
        <p:nvSpPr>
          <p:cNvPr id="8" name="TextBox 7"/>
          <p:cNvSpPr txBox="1"/>
          <p:nvPr/>
        </p:nvSpPr>
        <p:spPr>
          <a:xfrm>
            <a:off x="868680" y="5943600"/>
            <a:ext cx="2377440" cy="365760"/>
          </a:xfrm>
          <a:prstGeom prst="rect">
            <a:avLst/>
          </a:prstGeom>
          <a:noFill/>
        </p:spPr>
        <p:txBody>
          <a:bodyPr wrap="none">
            <a:spAutoFit/>
          </a:bodyPr>
          <a:lstStyle/>
          <a:p>
            <a:r>
              <a:rPr sz="900">
                <a:solidFill>
                  <a:srgbClr val="94A3B8"/>
                </a:solidFill>
                <a:latin typeface="Open Sans"/>
              </a:rPr>
              <a:t>CURRENT AVG CYCLE TIME</a:t>
            </a:r>
          </a:p>
        </p:txBody>
      </p:sp>
      <p:sp>
        <p:nvSpPr>
          <p:cNvPr id="9" name="Rounded Rectangle 8"/>
          <p:cNvSpPr/>
          <p:nvPr/>
        </p:nvSpPr>
        <p:spPr>
          <a:xfrm>
            <a:off x="3886200" y="5303520"/>
            <a:ext cx="2743200" cy="1097280"/>
          </a:xfrm>
          <a:prstGeom prst="roundRect">
            <a:avLst/>
          </a:prstGeom>
          <a:solidFill>
            <a:srgbClr val="002A6B"/>
          </a:solidFill>
          <a:ln w="12700">
            <a:solidFill>
              <a:srgbClr val="004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69080" y="5440680"/>
            <a:ext cx="2377440" cy="548640"/>
          </a:xfrm>
          <a:prstGeom prst="rect">
            <a:avLst/>
          </a:prstGeom>
          <a:noFill/>
        </p:spPr>
        <p:txBody>
          <a:bodyPr wrap="none">
            <a:spAutoFit/>
          </a:bodyPr>
          <a:lstStyle/>
          <a:p>
            <a:r>
              <a:rPr sz="2800" b="1">
                <a:solidFill>
                  <a:srgbClr val="16A34A"/>
                </a:solidFill>
                <a:latin typeface="Open Sans Condensed"/>
              </a:rPr>
              <a:t>3-4 mo</a:t>
            </a:r>
          </a:p>
        </p:txBody>
      </p:sp>
      <p:sp>
        <p:nvSpPr>
          <p:cNvPr id="11" name="TextBox 10"/>
          <p:cNvSpPr txBox="1"/>
          <p:nvPr/>
        </p:nvSpPr>
        <p:spPr>
          <a:xfrm>
            <a:off x="4069080" y="5943600"/>
            <a:ext cx="2377440" cy="365760"/>
          </a:xfrm>
          <a:prstGeom prst="rect">
            <a:avLst/>
          </a:prstGeom>
          <a:noFill/>
        </p:spPr>
        <p:txBody>
          <a:bodyPr wrap="none">
            <a:spAutoFit/>
          </a:bodyPr>
          <a:lstStyle/>
          <a:p>
            <a:r>
              <a:rPr sz="900">
                <a:solidFill>
                  <a:srgbClr val="94A3B8"/>
                </a:solidFill>
                <a:latin typeface="Open Sans"/>
              </a:rPr>
              <a:t>TARGET AFTER 30 DAYS</a:t>
            </a:r>
          </a:p>
        </p:txBody>
      </p:sp>
      <p:sp>
        <p:nvSpPr>
          <p:cNvPr id="12" name="Rounded Rectangle 11"/>
          <p:cNvSpPr/>
          <p:nvPr/>
        </p:nvSpPr>
        <p:spPr>
          <a:xfrm>
            <a:off x="7086600" y="5303520"/>
            <a:ext cx="2743200" cy="1097280"/>
          </a:xfrm>
          <a:prstGeom prst="roundRect">
            <a:avLst/>
          </a:prstGeom>
          <a:solidFill>
            <a:srgbClr val="002A6B"/>
          </a:solidFill>
          <a:ln w="12700">
            <a:solidFill>
              <a:srgbClr val="004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9480" y="5440680"/>
            <a:ext cx="2377440" cy="548640"/>
          </a:xfrm>
          <a:prstGeom prst="rect">
            <a:avLst/>
          </a:prstGeom>
          <a:noFill/>
        </p:spPr>
        <p:txBody>
          <a:bodyPr wrap="none">
            <a:spAutoFit/>
          </a:bodyPr>
          <a:lstStyle/>
          <a:p>
            <a:r>
              <a:rPr sz="2800" b="1">
                <a:solidFill>
                  <a:srgbClr val="0091DA"/>
                </a:solidFill>
                <a:latin typeface="Open Sans Condensed"/>
              </a:rPr>
              <a:t>7</a:t>
            </a:r>
          </a:p>
        </p:txBody>
      </p:sp>
      <p:sp>
        <p:nvSpPr>
          <p:cNvPr id="14" name="TextBox 13"/>
          <p:cNvSpPr txBox="1"/>
          <p:nvPr/>
        </p:nvSpPr>
        <p:spPr>
          <a:xfrm>
            <a:off x="7269480" y="5943600"/>
            <a:ext cx="2377440" cy="365760"/>
          </a:xfrm>
          <a:prstGeom prst="rect">
            <a:avLst/>
          </a:prstGeom>
          <a:noFill/>
        </p:spPr>
        <p:txBody>
          <a:bodyPr wrap="none">
            <a:spAutoFit/>
          </a:bodyPr>
          <a:lstStyle/>
          <a:p>
            <a:r>
              <a:rPr sz="900">
                <a:solidFill>
                  <a:srgbClr val="94A3B8"/>
                </a:solidFill>
                <a:latin typeface="Open Sans"/>
              </a:rPr>
              <a:t>PROCESS CHANGES / NO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1</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Why Onboarding Takes 6+ Months</a:t>
            </a:r>
          </a:p>
        </p:txBody>
      </p:sp>
      <p:sp>
        <p:nvSpPr>
          <p:cNvPr id="4" name="TextBox 3"/>
          <p:cNvSpPr txBox="1"/>
          <p:nvPr/>
        </p:nvSpPr>
        <p:spPr>
          <a:xfrm>
            <a:off x="685800" y="1005840"/>
            <a:ext cx="10820095" cy="457200"/>
          </a:xfrm>
          <a:prstGeom prst="rect">
            <a:avLst/>
          </a:prstGeom>
          <a:noFill/>
        </p:spPr>
        <p:txBody>
          <a:bodyPr wrap="square">
            <a:spAutoFit/>
          </a:bodyPr>
          <a:lstStyle/>
          <a:p>
            <a:r>
              <a:rPr sz="1400">
                <a:solidFill>
                  <a:srgbClr val="666666"/>
                </a:solidFill>
                <a:latin typeface="Open Sans"/>
              </a:rPr>
              <a:t>Three root causes drive 80% of the delay</a:t>
            </a:r>
          </a:p>
        </p:txBody>
      </p:sp>
      <p:sp>
        <p:nvSpPr>
          <p:cNvPr id="5" name="Rounded Rectangle 4"/>
          <p:cNvSpPr/>
          <p:nvPr/>
        </p:nvSpPr>
        <p:spPr>
          <a:xfrm>
            <a:off x="685800" y="1645920"/>
            <a:ext cx="3474720" cy="34747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45920"/>
            <a:ext cx="54864" cy="3474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365760" cy="365760"/>
          </a:xfrm>
          <a:prstGeom prst="rect">
            <a:avLst/>
          </a:prstGeom>
          <a:noFill/>
        </p:spPr>
        <p:txBody>
          <a:bodyPr wrap="none">
            <a:spAutoFit/>
          </a:bodyPr>
          <a:lstStyle/>
          <a:p>
            <a:r>
              <a:rPr sz="2400" b="1">
                <a:solidFill>
                  <a:srgbClr val="E0E0E0"/>
                </a:solidFill>
                <a:latin typeface="Open Sans Condensed"/>
              </a:rPr>
              <a:t>#1</a:t>
            </a:r>
          </a:p>
        </p:txBody>
      </p:sp>
      <p:sp>
        <p:nvSpPr>
          <p:cNvPr id="8" name="TextBox 7"/>
          <p:cNvSpPr txBox="1"/>
          <p:nvPr/>
        </p:nvSpPr>
        <p:spPr>
          <a:xfrm>
            <a:off x="868680" y="1783080"/>
            <a:ext cx="3108960" cy="457200"/>
          </a:xfrm>
          <a:prstGeom prst="rect">
            <a:avLst/>
          </a:prstGeom>
          <a:noFill/>
        </p:spPr>
        <p:txBody>
          <a:bodyPr wrap="square">
            <a:spAutoFit/>
          </a:bodyPr>
          <a:lstStyle/>
          <a:p>
            <a:r>
              <a:rPr sz="1400" b="1">
                <a:solidFill>
                  <a:srgbClr val="00338D"/>
                </a:solidFill>
                <a:latin typeface="Open Sans"/>
              </a:rPr>
              <a:t>18 Sequential Committees</a:t>
            </a:r>
          </a:p>
        </p:txBody>
      </p:sp>
      <p:sp>
        <p:nvSpPr>
          <p:cNvPr id="9" name="TextBox 8"/>
          <p:cNvSpPr txBox="1"/>
          <p:nvPr/>
        </p:nvSpPr>
        <p:spPr>
          <a:xfrm>
            <a:off x="868680" y="2148840"/>
            <a:ext cx="3108960" cy="2834640"/>
          </a:xfrm>
          <a:prstGeom prst="rect">
            <a:avLst/>
          </a:prstGeom>
          <a:noFill/>
        </p:spPr>
        <p:txBody>
          <a:bodyPr wrap="square">
            <a:spAutoFit/>
          </a:bodyPr>
          <a:lstStyle/>
          <a:p>
            <a:pPr>
              <a:lnSpc>
                <a:spcPts val="1600"/>
              </a:lnSpc>
            </a:pPr>
            <a:r>
              <a:rPr sz="1100">
                <a:solidFill>
                  <a:srgbClr val="666666"/>
                </a:solidFill>
                <a:latin typeface="Open Sans"/>
              </a:rPr>
              <a:t>Every request passes through up to 18 review committees one at a time. Security waits for Legal. Legal waits for Compliance. A 5-day review becomes 90 days of elapsed time.</a:t>
            </a:r>
          </a:p>
        </p:txBody>
      </p:sp>
      <p:sp>
        <p:nvSpPr>
          <p:cNvPr id="10" name="Rounded Rectangle 9"/>
          <p:cNvSpPr/>
          <p:nvPr/>
        </p:nvSpPr>
        <p:spPr>
          <a:xfrm>
            <a:off x="4343400" y="1645920"/>
            <a:ext cx="3474720" cy="34747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645920"/>
            <a:ext cx="54864" cy="3474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783080"/>
            <a:ext cx="365760" cy="365760"/>
          </a:xfrm>
          <a:prstGeom prst="rect">
            <a:avLst/>
          </a:prstGeom>
          <a:noFill/>
        </p:spPr>
        <p:txBody>
          <a:bodyPr wrap="none">
            <a:spAutoFit/>
          </a:bodyPr>
          <a:lstStyle/>
          <a:p>
            <a:r>
              <a:rPr sz="2400" b="1">
                <a:solidFill>
                  <a:srgbClr val="E0E0E0"/>
                </a:solidFill>
                <a:latin typeface="Open Sans Condensed"/>
              </a:rPr>
              <a:t>#2</a:t>
            </a:r>
          </a:p>
        </p:txBody>
      </p:sp>
      <p:sp>
        <p:nvSpPr>
          <p:cNvPr id="13" name="TextBox 12"/>
          <p:cNvSpPr txBox="1"/>
          <p:nvPr/>
        </p:nvSpPr>
        <p:spPr>
          <a:xfrm>
            <a:off x="4526280" y="1783080"/>
            <a:ext cx="3108960" cy="457200"/>
          </a:xfrm>
          <a:prstGeom prst="rect">
            <a:avLst/>
          </a:prstGeom>
          <a:noFill/>
        </p:spPr>
        <p:txBody>
          <a:bodyPr wrap="square">
            <a:spAutoFit/>
          </a:bodyPr>
          <a:lstStyle/>
          <a:p>
            <a:r>
              <a:rPr sz="1400" b="1">
                <a:solidFill>
                  <a:srgbClr val="00338D"/>
                </a:solidFill>
                <a:latin typeface="Open Sans"/>
              </a:rPr>
              <a:t>No Single Point of Accountability</a:t>
            </a:r>
          </a:p>
        </p:txBody>
      </p:sp>
      <p:sp>
        <p:nvSpPr>
          <p:cNvPr id="14" name="TextBox 13"/>
          <p:cNvSpPr txBox="1"/>
          <p:nvPr/>
        </p:nvSpPr>
        <p:spPr>
          <a:xfrm>
            <a:off x="4526280" y="2148840"/>
            <a:ext cx="3108960" cy="2834640"/>
          </a:xfrm>
          <a:prstGeom prst="rect">
            <a:avLst/>
          </a:prstGeom>
          <a:noFill/>
        </p:spPr>
        <p:txBody>
          <a:bodyPr wrap="square">
            <a:spAutoFit/>
          </a:bodyPr>
          <a:lstStyle/>
          <a:p>
            <a:pPr>
              <a:lnSpc>
                <a:spcPts val="1600"/>
              </a:lnSpc>
            </a:pPr>
            <a:r>
              <a:rPr sz="1100">
                <a:solidFill>
                  <a:srgbClr val="666666"/>
                </a:solidFill>
                <a:latin typeface="Open Sans"/>
              </a:rPr>
              <a:t>Nobody owns elapsed time. Each reviewer owns their piece, but nobody tracks the overall request. When it stalls, no one notices for weeks.</a:t>
            </a:r>
          </a:p>
        </p:txBody>
      </p:sp>
      <p:sp>
        <p:nvSpPr>
          <p:cNvPr id="15" name="Rounded Rectangle 14"/>
          <p:cNvSpPr/>
          <p:nvPr/>
        </p:nvSpPr>
        <p:spPr>
          <a:xfrm>
            <a:off x="8001000" y="1645920"/>
            <a:ext cx="3474720" cy="34747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645920"/>
            <a:ext cx="54864" cy="3474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783080"/>
            <a:ext cx="365760" cy="365760"/>
          </a:xfrm>
          <a:prstGeom prst="rect">
            <a:avLst/>
          </a:prstGeom>
          <a:noFill/>
        </p:spPr>
        <p:txBody>
          <a:bodyPr wrap="none">
            <a:spAutoFit/>
          </a:bodyPr>
          <a:lstStyle/>
          <a:p>
            <a:r>
              <a:rPr sz="2400" b="1">
                <a:solidFill>
                  <a:srgbClr val="E0E0E0"/>
                </a:solidFill>
                <a:latin typeface="Open Sans Condensed"/>
              </a:rPr>
              <a:t>#3</a:t>
            </a:r>
          </a:p>
        </p:txBody>
      </p:sp>
      <p:sp>
        <p:nvSpPr>
          <p:cNvPr id="18" name="TextBox 17"/>
          <p:cNvSpPr txBox="1"/>
          <p:nvPr/>
        </p:nvSpPr>
        <p:spPr>
          <a:xfrm>
            <a:off x="8183880" y="1783080"/>
            <a:ext cx="3108960" cy="457200"/>
          </a:xfrm>
          <a:prstGeom prst="rect">
            <a:avLst/>
          </a:prstGeom>
          <a:noFill/>
        </p:spPr>
        <p:txBody>
          <a:bodyPr wrap="square">
            <a:spAutoFit/>
          </a:bodyPr>
          <a:lstStyle/>
          <a:p>
            <a:r>
              <a:rPr sz="1400" b="1">
                <a:solidFill>
                  <a:srgbClr val="00338D"/>
                </a:solidFill>
                <a:latin typeface="Open Sans"/>
              </a:rPr>
              <a:t>Everything Gets Full Treatment</a:t>
            </a:r>
          </a:p>
        </p:txBody>
      </p:sp>
      <p:sp>
        <p:nvSpPr>
          <p:cNvPr id="19" name="TextBox 18"/>
          <p:cNvSpPr txBox="1"/>
          <p:nvPr/>
        </p:nvSpPr>
        <p:spPr>
          <a:xfrm>
            <a:off x="8183880" y="2148840"/>
            <a:ext cx="3108960" cy="2834640"/>
          </a:xfrm>
          <a:prstGeom prst="rect">
            <a:avLst/>
          </a:prstGeom>
          <a:noFill/>
        </p:spPr>
        <p:txBody>
          <a:bodyPr wrap="square">
            <a:spAutoFit/>
          </a:bodyPr>
          <a:lstStyle/>
          <a:p>
            <a:pPr>
              <a:lnSpc>
                <a:spcPts val="1600"/>
              </a:lnSpc>
            </a:pPr>
            <a:r>
              <a:rPr sz="1100">
                <a:solidFill>
                  <a:srgbClr val="666666"/>
                </a:solidFill>
                <a:latin typeface="Open Sans"/>
              </a:rPr>
              <a:t>A $10K SaaS renewal with no regulated data gets the same 9-reviewer due diligence as a $2M AI platform handling regulated data. Low-risk renewals and high-risk AI deployments carry fundamentally different risk profiles, yet both sit in the same queue.</a:t>
            </a:r>
          </a:p>
        </p:txBody>
      </p:sp>
      <p:sp>
        <p:nvSpPr>
          <p:cNvPr id="20" name="Rounded Rectangle 19"/>
          <p:cNvSpPr/>
          <p:nvPr/>
        </p:nvSpPr>
        <p:spPr>
          <a:xfrm>
            <a:off x="685800" y="5486400"/>
            <a:ext cx="3474720" cy="41148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100" b="1">
                <a:solidFill>
                  <a:srgbClr val="FFFFFF"/>
                </a:solidFill>
                <a:latin typeface="Open Sans"/>
              </a:rPr>
              <a:t>Week 1-2: Stop the Bleeding (#1-3)</a:t>
            </a:r>
          </a:p>
        </p:txBody>
      </p:sp>
      <p:sp>
        <p:nvSpPr>
          <p:cNvPr id="21" name="Rounded Rectangle 20"/>
          <p:cNvSpPr/>
          <p:nvPr/>
        </p:nvSpPr>
        <p:spPr>
          <a:xfrm>
            <a:off x="4343400" y="5486400"/>
            <a:ext cx="3474720" cy="4114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100" b="1">
                <a:solidFill>
                  <a:srgbClr val="FFFFFF"/>
                </a:solidFill>
                <a:latin typeface="Open Sans"/>
              </a:rPr>
              <a:t>Week 2-3: Create Rhythm (#4-5)</a:t>
            </a:r>
          </a:p>
        </p:txBody>
      </p:sp>
      <p:sp>
        <p:nvSpPr>
          <p:cNvPr id="22" name="Rounded Rectangle 21"/>
          <p:cNvSpPr/>
          <p:nvPr/>
        </p:nvSpPr>
        <p:spPr>
          <a:xfrm>
            <a:off x="8001000" y="5486400"/>
            <a:ext cx="3474720" cy="41148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400"/>
              </a:spcBef>
            </a:pPr>
            <a:r>
              <a:rPr sz="1100" b="1">
                <a:solidFill>
                  <a:srgbClr val="FFFFFF"/>
                </a:solidFill>
                <a:latin typeface="Open Sans"/>
              </a:rPr>
              <a:t>Week 3-4: Measure &amp; Adjust (#6-7)</a:t>
            </a:r>
          </a:p>
        </p:txBody>
      </p:sp>
      <p:sp>
        <p:nvSpPr>
          <p:cNvPr id="23" name="Rectangle 22"/>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2</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Week 1-2: Stop the Bleeding</a:t>
            </a:r>
          </a:p>
        </p:txBody>
      </p:sp>
      <p:sp>
        <p:nvSpPr>
          <p:cNvPr id="4" name="TextBox 3"/>
          <p:cNvSpPr txBox="1"/>
          <p:nvPr/>
        </p:nvSpPr>
        <p:spPr>
          <a:xfrm>
            <a:off x="685800" y="1005840"/>
            <a:ext cx="10820095" cy="457200"/>
          </a:xfrm>
          <a:prstGeom prst="rect">
            <a:avLst/>
          </a:prstGeom>
          <a:noFill/>
        </p:spPr>
        <p:txBody>
          <a:bodyPr wrap="square">
            <a:spAutoFit/>
          </a:bodyPr>
          <a:lstStyle/>
          <a:p>
            <a:r>
              <a:rPr sz="1400">
                <a:solidFill>
                  <a:srgbClr val="666666"/>
                </a:solidFill>
                <a:latin typeface="Open Sans"/>
              </a:rPr>
              <a:t>Three changes that can start on Day 1</a:t>
            </a:r>
          </a:p>
        </p:txBody>
      </p:sp>
      <p:sp>
        <p:nvSpPr>
          <p:cNvPr id="5" name="Rounded Rectangle 4"/>
          <p:cNvSpPr/>
          <p:nvPr/>
        </p:nvSpPr>
        <p:spPr>
          <a:xfrm>
            <a:off x="685800" y="1554480"/>
            <a:ext cx="3474720" cy="4114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54480"/>
            <a:ext cx="54864" cy="4114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365760" cy="365760"/>
          </a:xfrm>
          <a:prstGeom prst="rect">
            <a:avLst/>
          </a:prstGeom>
          <a:noFill/>
        </p:spPr>
        <p:txBody>
          <a:bodyPr wrap="none">
            <a:spAutoFit/>
          </a:bodyPr>
          <a:lstStyle/>
          <a:p>
            <a:r>
              <a:rPr sz="2400" b="1">
                <a:solidFill>
                  <a:srgbClr val="E0E0E0"/>
                </a:solidFill>
                <a:latin typeface="Open Sans Condensed"/>
              </a:rPr>
              <a:t>#1</a:t>
            </a:r>
          </a:p>
        </p:txBody>
      </p:sp>
      <p:sp>
        <p:nvSpPr>
          <p:cNvPr id="8" name="TextBox 7"/>
          <p:cNvSpPr txBox="1"/>
          <p:nvPr/>
        </p:nvSpPr>
        <p:spPr>
          <a:xfrm>
            <a:off x="868680" y="1691640"/>
            <a:ext cx="3108960" cy="457200"/>
          </a:xfrm>
          <a:prstGeom prst="rect">
            <a:avLst/>
          </a:prstGeom>
          <a:noFill/>
        </p:spPr>
        <p:txBody>
          <a:bodyPr wrap="square">
            <a:spAutoFit/>
          </a:bodyPr>
          <a:lstStyle/>
          <a:p>
            <a:r>
              <a:rPr sz="1400" b="1">
                <a:solidFill>
                  <a:srgbClr val="00338D"/>
                </a:solidFill>
                <a:latin typeface="Open Sans"/>
              </a:rPr>
              <a:t>Appoint Onboarding Quarterbacks (Day 1)</a:t>
            </a:r>
          </a:p>
        </p:txBody>
      </p:sp>
      <p:sp>
        <p:nvSpPr>
          <p:cNvPr id="9" name="TextBox 8"/>
          <p:cNvSpPr txBox="1"/>
          <p:nvPr/>
        </p:nvSpPr>
        <p:spPr>
          <a:xfrm>
            <a:off x="868680" y="2057400"/>
            <a:ext cx="3108960" cy="3474720"/>
          </a:xfrm>
          <a:prstGeom prst="rect">
            <a:avLst/>
          </a:prstGeom>
          <a:noFill/>
        </p:spPr>
        <p:txBody>
          <a:bodyPr wrap="square">
            <a:spAutoFit/>
          </a:bodyPr>
          <a:lstStyle/>
          <a:p>
            <a:pPr>
              <a:lnSpc>
                <a:spcPts val="1600"/>
              </a:lnSpc>
            </a:pPr>
            <a:r>
              <a:rPr sz="1100">
                <a:solidFill>
                  <a:srgbClr val="666666"/>
                </a:solidFill>
                <a:latin typeface="Open Sans"/>
              </a:rPr>
              <a:t>Assign 2-3 dedicated facilitators who own each request end-to-end. Track where every active request sits, chase non-responsive reviewers, escalate stalls after 48 hours, report weekly to leadership.
IMPACT: Visibility alone cuts delays</a:t>
            </a:r>
          </a:p>
        </p:txBody>
      </p:sp>
      <p:sp>
        <p:nvSpPr>
          <p:cNvPr id="10" name="Rounded Rectangle 9"/>
          <p:cNvSpPr/>
          <p:nvPr/>
        </p:nvSpPr>
        <p:spPr>
          <a:xfrm>
            <a:off x="4343400" y="1554480"/>
            <a:ext cx="3474720" cy="4114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554480"/>
            <a:ext cx="54864" cy="4114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691640"/>
            <a:ext cx="365760" cy="365760"/>
          </a:xfrm>
          <a:prstGeom prst="rect">
            <a:avLst/>
          </a:prstGeom>
          <a:noFill/>
        </p:spPr>
        <p:txBody>
          <a:bodyPr wrap="none">
            <a:spAutoFit/>
          </a:bodyPr>
          <a:lstStyle/>
          <a:p>
            <a:r>
              <a:rPr sz="2400" b="1">
                <a:solidFill>
                  <a:srgbClr val="E0E0E0"/>
                </a:solidFill>
                <a:latin typeface="Open Sans Condensed"/>
              </a:rPr>
              <a:t>#2</a:t>
            </a:r>
          </a:p>
        </p:txBody>
      </p:sp>
      <p:sp>
        <p:nvSpPr>
          <p:cNvPr id="13" name="TextBox 12"/>
          <p:cNvSpPr txBox="1"/>
          <p:nvPr/>
        </p:nvSpPr>
        <p:spPr>
          <a:xfrm>
            <a:off x="4526280" y="1691640"/>
            <a:ext cx="3108960" cy="457200"/>
          </a:xfrm>
          <a:prstGeom prst="rect">
            <a:avLst/>
          </a:prstGeom>
          <a:noFill/>
        </p:spPr>
        <p:txBody>
          <a:bodyPr wrap="square">
            <a:spAutoFit/>
          </a:bodyPr>
          <a:lstStyle/>
          <a:p>
            <a:r>
              <a:rPr sz="1400" b="1">
                <a:solidFill>
                  <a:srgbClr val="00338D"/>
                </a:solidFill>
                <a:latin typeface="Open Sans"/>
              </a:rPr>
              <a:t>Kill Sequential Reviews, Run Parallel (Day 3)</a:t>
            </a:r>
          </a:p>
        </p:txBody>
      </p:sp>
      <p:sp>
        <p:nvSpPr>
          <p:cNvPr id="14" name="TextBox 13"/>
          <p:cNvSpPr txBox="1"/>
          <p:nvPr/>
        </p:nvSpPr>
        <p:spPr>
          <a:xfrm>
            <a:off x="4526280" y="2057400"/>
            <a:ext cx="3108960" cy="3474720"/>
          </a:xfrm>
          <a:prstGeom prst="rect">
            <a:avLst/>
          </a:prstGeom>
          <a:noFill/>
        </p:spPr>
        <p:txBody>
          <a:bodyPr wrap="square">
            <a:spAutoFit/>
          </a:bodyPr>
          <a:lstStyle/>
          <a:p>
            <a:pPr>
              <a:lnSpc>
                <a:spcPts val="1600"/>
              </a:lnSpc>
            </a:pPr>
            <a:r>
              <a:rPr sz="1100">
                <a:solidFill>
                  <a:srgbClr val="666666"/>
                </a:solidFill>
                <a:latin typeface="Open Sans"/>
              </a:rPr>
              <a:t>Send the review package to each reviewer as soon as their prerequisite data is ready. Reviewers work in parallel whenever possible, but no one is asked to start until their required intake information is complete.
IMPACT: Compresses Due Diligence from 8-12 weeks to 2-3 weeks</a:t>
            </a:r>
          </a:p>
        </p:txBody>
      </p:sp>
      <p:sp>
        <p:nvSpPr>
          <p:cNvPr id="15" name="Rounded Rectangle 14"/>
          <p:cNvSpPr/>
          <p:nvPr/>
        </p:nvSpPr>
        <p:spPr>
          <a:xfrm>
            <a:off x="8001000" y="1554480"/>
            <a:ext cx="3474720" cy="4114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554480"/>
            <a:ext cx="54864" cy="4114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691640"/>
            <a:ext cx="365760" cy="365760"/>
          </a:xfrm>
          <a:prstGeom prst="rect">
            <a:avLst/>
          </a:prstGeom>
          <a:noFill/>
        </p:spPr>
        <p:txBody>
          <a:bodyPr wrap="none">
            <a:spAutoFit/>
          </a:bodyPr>
          <a:lstStyle/>
          <a:p>
            <a:r>
              <a:rPr sz="2400" b="1">
                <a:solidFill>
                  <a:srgbClr val="E0E0E0"/>
                </a:solidFill>
                <a:latin typeface="Open Sans Condensed"/>
              </a:rPr>
              <a:t>#3</a:t>
            </a:r>
          </a:p>
        </p:txBody>
      </p:sp>
      <p:sp>
        <p:nvSpPr>
          <p:cNvPr id="18" name="TextBox 17"/>
          <p:cNvSpPr txBox="1"/>
          <p:nvPr/>
        </p:nvSpPr>
        <p:spPr>
          <a:xfrm>
            <a:off x="8183880" y="1691640"/>
            <a:ext cx="3108960" cy="457200"/>
          </a:xfrm>
          <a:prstGeom prst="rect">
            <a:avLst/>
          </a:prstGeom>
          <a:noFill/>
        </p:spPr>
        <p:txBody>
          <a:bodyPr wrap="square">
            <a:spAutoFit/>
          </a:bodyPr>
          <a:lstStyle/>
          <a:p>
            <a:r>
              <a:rPr sz="1400" b="1">
                <a:solidFill>
                  <a:srgbClr val="00338D"/>
                </a:solidFill>
                <a:latin typeface="Open Sans"/>
              </a:rPr>
              <a:t>Paper Pre-Screen (Mini RFP)</a:t>
            </a:r>
          </a:p>
        </p:txBody>
      </p:sp>
      <p:sp>
        <p:nvSpPr>
          <p:cNvPr id="19" name="TextBox 18"/>
          <p:cNvSpPr txBox="1"/>
          <p:nvPr/>
        </p:nvSpPr>
        <p:spPr>
          <a:xfrm>
            <a:off x="8183880" y="2057400"/>
            <a:ext cx="3108960" cy="3474720"/>
          </a:xfrm>
          <a:prstGeom prst="rect">
            <a:avLst/>
          </a:prstGeom>
          <a:noFill/>
        </p:spPr>
        <p:txBody>
          <a:bodyPr wrap="square">
            <a:spAutoFit/>
          </a:bodyPr>
          <a:lstStyle/>
          <a:p>
            <a:pPr>
              <a:lnSpc>
                <a:spcPts val="1600"/>
              </a:lnSpc>
            </a:pPr>
            <a:r>
              <a:rPr sz="1100">
                <a:solidFill>
                  <a:srgbClr val="666666"/>
                </a:solidFill>
                <a:latin typeface="Open Sans"/>
              </a:rPr>
              <a:t>1-page intake form with 5 deal-killers before pipeline entry: Budget approval? Executive sponsor (VP+)? Regulated data? Existing contract? Realistic go-live? If first two are "No", request does not enter.
IMPACT: Filters 20-30% at intake</a:t>
            </a:r>
          </a:p>
        </p:txBody>
      </p:sp>
      <p:sp>
        <p:nvSpPr>
          <p:cNvPr id="20" name="Rectangle 19"/>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3</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Week 2-3: Create Rhythm</a:t>
            </a:r>
          </a:p>
        </p:txBody>
      </p:sp>
      <p:sp>
        <p:nvSpPr>
          <p:cNvPr id="4" name="TextBox 3"/>
          <p:cNvSpPr txBox="1"/>
          <p:nvPr/>
        </p:nvSpPr>
        <p:spPr>
          <a:xfrm>
            <a:off x="685800" y="1005840"/>
            <a:ext cx="10820095" cy="457200"/>
          </a:xfrm>
          <a:prstGeom prst="rect">
            <a:avLst/>
          </a:prstGeom>
          <a:noFill/>
        </p:spPr>
        <p:txBody>
          <a:bodyPr wrap="square">
            <a:spAutoFit/>
          </a:bodyPr>
          <a:lstStyle/>
          <a:p>
            <a:r>
              <a:rPr sz="1400">
                <a:solidFill>
                  <a:srgbClr val="666666"/>
                </a:solidFill>
                <a:latin typeface="Open Sans"/>
              </a:rPr>
              <a:t>Two structural changes that create predictability</a:t>
            </a:r>
          </a:p>
        </p:txBody>
      </p:sp>
      <p:sp>
        <p:nvSpPr>
          <p:cNvPr id="5" name="Rounded Rectangle 4"/>
          <p:cNvSpPr/>
          <p:nvPr/>
        </p:nvSpPr>
        <p:spPr>
          <a:xfrm>
            <a:off x="685800" y="1554480"/>
            <a:ext cx="530352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54480"/>
            <a:ext cx="54864" cy="4389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365760" cy="365760"/>
          </a:xfrm>
          <a:prstGeom prst="rect">
            <a:avLst/>
          </a:prstGeom>
          <a:noFill/>
        </p:spPr>
        <p:txBody>
          <a:bodyPr wrap="none">
            <a:spAutoFit/>
          </a:bodyPr>
          <a:lstStyle/>
          <a:p>
            <a:r>
              <a:rPr sz="2400" b="1">
                <a:solidFill>
                  <a:srgbClr val="E0E0E0"/>
                </a:solidFill>
                <a:latin typeface="Open Sans Condensed"/>
              </a:rPr>
              <a:t>#4</a:t>
            </a:r>
          </a:p>
        </p:txBody>
      </p:sp>
      <p:sp>
        <p:nvSpPr>
          <p:cNvPr id="8" name="TextBox 7"/>
          <p:cNvSpPr txBox="1"/>
          <p:nvPr/>
        </p:nvSpPr>
        <p:spPr>
          <a:xfrm>
            <a:off x="868680" y="1691640"/>
            <a:ext cx="4937760" cy="457200"/>
          </a:xfrm>
          <a:prstGeom prst="rect">
            <a:avLst/>
          </a:prstGeom>
          <a:noFill/>
        </p:spPr>
        <p:txBody>
          <a:bodyPr wrap="square">
            <a:spAutoFit/>
          </a:bodyPr>
          <a:lstStyle/>
          <a:p>
            <a:r>
              <a:rPr sz="1400" b="1">
                <a:solidFill>
                  <a:srgbClr val="00338D"/>
                </a:solidFill>
                <a:latin typeface="Open Sans"/>
              </a:rPr>
              <a:t>#4 Tiered Review: Not Everything Gets Full Treatment</a:t>
            </a:r>
          </a:p>
        </p:txBody>
      </p:sp>
      <p:sp>
        <p:nvSpPr>
          <p:cNvPr id="9" name="TextBox 8"/>
          <p:cNvSpPr txBox="1"/>
          <p:nvPr/>
        </p:nvSpPr>
        <p:spPr>
          <a:xfrm>
            <a:off x="868680" y="2057400"/>
            <a:ext cx="4937760" cy="3749040"/>
          </a:xfrm>
          <a:prstGeom prst="rect">
            <a:avLst/>
          </a:prstGeom>
          <a:noFill/>
        </p:spPr>
        <p:txBody>
          <a:bodyPr wrap="square">
            <a:spAutoFit/>
          </a:bodyPr>
          <a:lstStyle/>
          <a:p>
            <a:pPr>
              <a:lnSpc>
                <a:spcPts val="1600"/>
              </a:lnSpc>
            </a:pPr>
            <a:r>
              <a:rPr sz="1100">
                <a:solidFill>
                  <a:srgbClr val="666666"/>
                </a:solidFill>
                <a:latin typeface="Open Sans"/>
              </a:rPr>
              <a:t>Score each request across 6 dimensions (1-3 pts each), then route by tier.</a:t>
            </a:r>
          </a:p>
        </p:txBody>
      </p:sp>
      <p:graphicFrame>
        <p:nvGraphicFramePr>
          <p:cNvPr id="10" name="Table 9"/>
          <p:cNvGraphicFramePr>
            <a:graphicFrameLocks noGrp="1"/>
          </p:cNvGraphicFramePr>
          <p:nvPr/>
        </p:nvGraphicFramePr>
        <p:xfrm>
          <a:off x="868680" y="2743200"/>
          <a:ext cx="4937760" cy="1463040"/>
        </p:xfrm>
        <a:graphic>
          <a:graphicData uri="http://schemas.openxmlformats.org/drawingml/2006/table">
            <a:tbl>
              <a:tblPr firstRow="1" bandRow="1">
                <a:tableStyleId>{5C22544A-7EE6-4342-B048-85BDC9FD1C3A}</a:tableStyleId>
              </a:tblPr>
              <a:tblGrid>
                <a:gridCol w="1234440"/>
                <a:gridCol w="1234440"/>
                <a:gridCol w="1234440"/>
                <a:gridCol w="1234440"/>
              </a:tblGrid>
              <a:tr h="365760">
                <a:tc>
                  <a:txBody>
                    <a:bodyPr/>
                    <a:lstStyle/>
                    <a:p>
                      <a:pPr>
                        <a:defRPr sz="1000" b="1">
                          <a:solidFill>
                            <a:srgbClr val="FFFFFF"/>
                          </a:solidFill>
                          <a:latin typeface="Open Sans"/>
                        </a:defRPr>
                      </a:pPr>
                      <a:r>
                        <a:t>Tier</a:t>
                      </a:r>
                    </a:p>
                  </a:txBody>
                  <a:tcPr>
                    <a:solidFill>
                      <a:srgbClr val="00338D"/>
                    </a:solidFill>
                  </a:tcPr>
                </a:tc>
                <a:tc>
                  <a:txBody>
                    <a:bodyPr/>
                    <a:lstStyle/>
                    <a:p>
                      <a:pPr>
                        <a:defRPr sz="1000" b="1">
                          <a:solidFill>
                            <a:srgbClr val="FFFFFF"/>
                          </a:solidFill>
                          <a:latin typeface="Open Sans"/>
                        </a:defRPr>
                      </a:pPr>
                      <a:r>
                        <a:t>Score</a:t>
                      </a:r>
                    </a:p>
                  </a:txBody>
                  <a:tcPr>
                    <a:solidFill>
                      <a:srgbClr val="00338D"/>
                    </a:solidFill>
                  </a:tcPr>
                </a:tc>
                <a:tc>
                  <a:txBody>
                    <a:bodyPr/>
                    <a:lstStyle/>
                    <a:p>
                      <a:pPr>
                        <a:defRPr sz="1000" b="1">
                          <a:solidFill>
                            <a:srgbClr val="FFFFFF"/>
                          </a:solidFill>
                          <a:latin typeface="Open Sans"/>
                        </a:defRPr>
                      </a:pPr>
                      <a:r>
                        <a:t>Reviewers</a:t>
                      </a:r>
                    </a:p>
                  </a:txBody>
                  <a:tcPr>
                    <a:solidFill>
                      <a:srgbClr val="00338D"/>
                    </a:solidFill>
                  </a:tcPr>
                </a:tc>
                <a:tc>
                  <a:txBody>
                    <a:bodyPr/>
                    <a:lstStyle/>
                    <a:p>
                      <a:pPr>
                        <a:defRPr sz="1000" b="1">
                          <a:solidFill>
                            <a:srgbClr val="FFFFFF"/>
                          </a:solidFill>
                          <a:latin typeface="Open Sans"/>
                        </a:defRPr>
                      </a:pPr>
                      <a:r>
                        <a:t>SLA</a:t>
                      </a:r>
                    </a:p>
                  </a:txBody>
                  <a:tcPr>
                    <a:solidFill>
                      <a:srgbClr val="00338D"/>
                    </a:solidFill>
                  </a:tcPr>
                </a:tc>
              </a:tr>
              <a:tr h="365760">
                <a:tc>
                  <a:txBody>
                    <a:bodyPr/>
                    <a:lstStyle/>
                    <a:p>
                      <a:pPr>
                        <a:defRPr sz="1100">
                          <a:solidFill>
                            <a:srgbClr val="333333"/>
                          </a:solidFill>
                          <a:latin typeface="Open Sans"/>
                        </a:defRPr>
                      </a:pPr>
                      <a:r>
                        <a:t>Fast-Track</a:t>
                      </a:r>
                    </a:p>
                  </a:txBody>
                  <a:tcPr/>
                </a:tc>
                <a:tc>
                  <a:txBody>
                    <a:bodyPr/>
                    <a:lstStyle/>
                    <a:p>
                      <a:pPr>
                        <a:defRPr sz="1100">
                          <a:solidFill>
                            <a:srgbClr val="333333"/>
                          </a:solidFill>
                          <a:latin typeface="Open Sans"/>
                        </a:defRPr>
                      </a:pPr>
                      <a:r>
                        <a:t>6-8 pts</a:t>
                      </a:r>
                    </a:p>
                  </a:txBody>
                  <a:tcPr/>
                </a:tc>
                <a:tc>
                  <a:txBody>
                    <a:bodyPr/>
                    <a:lstStyle/>
                    <a:p>
                      <a:pPr>
                        <a:defRPr sz="1100">
                          <a:solidFill>
                            <a:srgbClr val="333333"/>
                          </a:solidFill>
                          <a:latin typeface="Open Sans"/>
                        </a:defRPr>
                      </a:pPr>
                      <a:r>
                        <a:t>Quarterback + 1 reviewer</a:t>
                      </a:r>
                    </a:p>
                  </a:txBody>
                  <a:tcPr/>
                </a:tc>
                <a:tc>
                  <a:txBody>
                    <a:bodyPr/>
                    <a:lstStyle/>
                    <a:p>
                      <a:pPr>
                        <a:defRPr sz="1100">
                          <a:solidFill>
                            <a:srgbClr val="333333"/>
                          </a:solidFill>
                          <a:latin typeface="Open Sans"/>
                        </a:defRPr>
                      </a:pPr>
                      <a:r>
                        <a:t>5 days</a:t>
                      </a:r>
                    </a:p>
                  </a:txBody>
                  <a:tcPr/>
                </a:tc>
              </a:tr>
              <a:tr h="365760">
                <a:tc>
                  <a:txBody>
                    <a:bodyPr/>
                    <a:lstStyle/>
                    <a:p>
                      <a:pPr>
                        <a:defRPr sz="1100">
                          <a:solidFill>
                            <a:srgbClr val="333333"/>
                          </a:solidFill>
                          <a:latin typeface="Open Sans"/>
                        </a:defRPr>
                      </a:pPr>
                      <a:r>
                        <a:t>Standard</a:t>
                      </a:r>
                    </a:p>
                  </a:txBody>
                  <a:tcPr>
                    <a:solidFill>
                      <a:srgbClr val="F5F5F5"/>
                    </a:solidFill>
                  </a:tcPr>
                </a:tc>
                <a:tc>
                  <a:txBody>
                    <a:bodyPr/>
                    <a:lstStyle/>
                    <a:p>
                      <a:pPr>
                        <a:defRPr sz="1100">
                          <a:solidFill>
                            <a:srgbClr val="333333"/>
                          </a:solidFill>
                          <a:latin typeface="Open Sans"/>
                        </a:defRPr>
                      </a:pPr>
                      <a:r>
                        <a:t>9-13 pts</a:t>
                      </a:r>
                    </a:p>
                  </a:txBody>
                  <a:tcPr>
                    <a:solidFill>
                      <a:srgbClr val="F5F5F5"/>
                    </a:solidFill>
                  </a:tcPr>
                </a:tc>
                <a:tc>
                  <a:txBody>
                    <a:bodyPr/>
                    <a:lstStyle/>
                    <a:p>
                      <a:pPr>
                        <a:defRPr sz="1100">
                          <a:solidFill>
                            <a:srgbClr val="333333"/>
                          </a:solidFill>
                          <a:latin typeface="Open Sans"/>
                        </a:defRPr>
                      </a:pPr>
                      <a:r>
                        <a:t>4 reviewers parallel</a:t>
                      </a:r>
                    </a:p>
                  </a:txBody>
                  <a:tcPr>
                    <a:solidFill>
                      <a:srgbClr val="F5F5F5"/>
                    </a:solidFill>
                  </a:tcPr>
                </a:tc>
                <a:tc>
                  <a:txBody>
                    <a:bodyPr/>
                    <a:lstStyle/>
                    <a:p>
                      <a:pPr>
                        <a:defRPr sz="1100">
                          <a:solidFill>
                            <a:srgbClr val="333333"/>
                          </a:solidFill>
                          <a:latin typeface="Open Sans"/>
                        </a:defRPr>
                      </a:pPr>
                      <a:r>
                        <a:t>15 days</a:t>
                      </a:r>
                    </a:p>
                  </a:txBody>
                  <a:tcPr>
                    <a:solidFill>
                      <a:srgbClr val="F5F5F5"/>
                    </a:solidFill>
                  </a:tcPr>
                </a:tc>
              </a:tr>
              <a:tr h="365760">
                <a:tc>
                  <a:txBody>
                    <a:bodyPr/>
                    <a:lstStyle/>
                    <a:p>
                      <a:pPr>
                        <a:defRPr sz="1100">
                          <a:solidFill>
                            <a:srgbClr val="333333"/>
                          </a:solidFill>
                          <a:latin typeface="Open Sans"/>
                        </a:defRPr>
                      </a:pPr>
                      <a:r>
                        <a:t>Enhanced</a:t>
                      </a:r>
                    </a:p>
                  </a:txBody>
                  <a:tcPr/>
                </a:tc>
                <a:tc>
                  <a:txBody>
                    <a:bodyPr/>
                    <a:lstStyle/>
                    <a:p>
                      <a:pPr>
                        <a:defRPr sz="1100">
                          <a:solidFill>
                            <a:srgbClr val="333333"/>
                          </a:solidFill>
                          <a:latin typeface="Open Sans"/>
                        </a:defRPr>
                      </a:pPr>
                      <a:r>
                        <a:t>14-18 pts</a:t>
                      </a:r>
                    </a:p>
                  </a:txBody>
                  <a:tcPr/>
                </a:tc>
                <a:tc>
                  <a:txBody>
                    <a:bodyPr/>
                    <a:lstStyle/>
                    <a:p>
                      <a:pPr>
                        <a:defRPr sz="1100">
                          <a:solidFill>
                            <a:srgbClr val="333333"/>
                          </a:solidFill>
                          <a:latin typeface="Open Sans"/>
                        </a:defRPr>
                      </a:pPr>
                      <a:r>
                        <a:t>All 9 reviewers + exec briefing</a:t>
                      </a:r>
                    </a:p>
                  </a:txBody>
                  <a:tcPr/>
                </a:tc>
                <a:tc>
                  <a:txBody>
                    <a:bodyPr/>
                    <a:lstStyle/>
                    <a:p>
                      <a:pPr>
                        <a:defRPr sz="1100">
                          <a:solidFill>
                            <a:srgbClr val="333333"/>
                          </a:solidFill>
                          <a:latin typeface="Open Sans"/>
                        </a:defRPr>
                      </a:pPr>
                      <a:r>
                        <a:t>25 days</a:t>
                      </a:r>
                    </a:p>
                  </a:txBody>
                  <a:tcPr/>
                </a:tc>
              </a:tr>
            </a:tbl>
          </a:graphicData>
        </a:graphic>
      </p:graphicFrame>
      <p:sp>
        <p:nvSpPr>
          <p:cNvPr id="11" name="TextBox 10"/>
          <p:cNvSpPr txBox="1"/>
          <p:nvPr/>
        </p:nvSpPr>
        <p:spPr>
          <a:xfrm>
            <a:off x="868680" y="4389120"/>
            <a:ext cx="4937760" cy="365760"/>
          </a:xfrm>
          <a:prstGeom prst="rect">
            <a:avLst/>
          </a:prstGeom>
          <a:noFill/>
        </p:spPr>
        <p:txBody>
          <a:bodyPr wrap="square">
            <a:spAutoFit/>
          </a:bodyPr>
          <a:lstStyle/>
          <a:p>
            <a:r>
              <a:rPr sz="900">
                <a:solidFill>
                  <a:srgbClr val="666666"/>
                </a:solidFill>
                <a:latin typeface="Open Sans"/>
              </a:rPr>
              <a:t>Dimensions: Data Sensitivity, Vendor Criticality, Financial Exposure, Integration Complexity, AI/ML Usage, Regulatory Exposure</a:t>
            </a:r>
          </a:p>
        </p:txBody>
      </p:sp>
      <p:sp>
        <p:nvSpPr>
          <p:cNvPr id="12" name="TextBox 11"/>
          <p:cNvSpPr txBox="1"/>
          <p:nvPr/>
        </p:nvSpPr>
        <p:spPr>
          <a:xfrm>
            <a:off x="868680" y="4846320"/>
            <a:ext cx="4937760" cy="365760"/>
          </a:xfrm>
          <a:prstGeom prst="rect">
            <a:avLst/>
          </a:prstGeom>
          <a:noFill/>
        </p:spPr>
        <p:txBody>
          <a:bodyPr wrap="none">
            <a:spAutoFit/>
          </a:bodyPr>
          <a:lstStyle/>
          <a:p>
            <a:r>
              <a:rPr sz="1200" b="1">
                <a:solidFill>
                  <a:srgbClr val="16A34A"/>
                </a:solidFill>
                <a:latin typeface="Open Sans"/>
              </a:rPr>
              <a:t>IMPACT: 40-50% move to Fast-Track</a:t>
            </a:r>
          </a:p>
        </p:txBody>
      </p:sp>
      <p:sp>
        <p:nvSpPr>
          <p:cNvPr id="13" name="Rounded Rectangle 12"/>
          <p:cNvSpPr/>
          <p:nvPr/>
        </p:nvSpPr>
        <p:spPr>
          <a:xfrm>
            <a:off x="6400800" y="1554480"/>
            <a:ext cx="512064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554480"/>
            <a:ext cx="54864" cy="43891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691640"/>
            <a:ext cx="365760" cy="365760"/>
          </a:xfrm>
          <a:prstGeom prst="rect">
            <a:avLst/>
          </a:prstGeom>
          <a:noFill/>
        </p:spPr>
        <p:txBody>
          <a:bodyPr wrap="none">
            <a:spAutoFit/>
          </a:bodyPr>
          <a:lstStyle/>
          <a:p>
            <a:r>
              <a:rPr sz="2400" b="1">
                <a:solidFill>
                  <a:srgbClr val="E0E0E0"/>
                </a:solidFill>
                <a:latin typeface="Open Sans Condensed"/>
              </a:rPr>
              <a:t>#5</a:t>
            </a:r>
          </a:p>
        </p:txBody>
      </p:sp>
      <p:sp>
        <p:nvSpPr>
          <p:cNvPr id="16" name="TextBox 15"/>
          <p:cNvSpPr txBox="1"/>
          <p:nvPr/>
        </p:nvSpPr>
        <p:spPr>
          <a:xfrm>
            <a:off x="6583680" y="1691640"/>
            <a:ext cx="4754880" cy="457200"/>
          </a:xfrm>
          <a:prstGeom prst="rect">
            <a:avLst/>
          </a:prstGeom>
          <a:noFill/>
        </p:spPr>
        <p:txBody>
          <a:bodyPr wrap="square">
            <a:spAutoFit/>
          </a:bodyPr>
          <a:lstStyle/>
          <a:p>
            <a:r>
              <a:rPr sz="1400" b="1">
                <a:solidFill>
                  <a:srgbClr val="00338D"/>
                </a:solidFill>
                <a:latin typeface="Open Sans"/>
              </a:rPr>
              <a:t>#5 Weekly Prioritization Committee (30 min max)</a:t>
            </a:r>
          </a:p>
        </p:txBody>
      </p:sp>
      <p:sp>
        <p:nvSpPr>
          <p:cNvPr id="17" name="TextBox 16"/>
          <p:cNvSpPr txBox="1"/>
          <p:nvPr/>
        </p:nvSpPr>
        <p:spPr>
          <a:xfrm>
            <a:off x="6583680" y="2057400"/>
            <a:ext cx="4754880" cy="3749040"/>
          </a:xfrm>
          <a:prstGeom prst="rect">
            <a:avLst/>
          </a:prstGeom>
          <a:noFill/>
        </p:spPr>
        <p:txBody>
          <a:bodyPr wrap="square">
            <a:spAutoFit/>
          </a:bodyPr>
          <a:lstStyle/>
          <a:p>
            <a:pPr>
              <a:lnSpc>
                <a:spcPts val="1600"/>
              </a:lnSpc>
            </a:pPr>
            <a:r>
              <a:rPr sz="1100">
                <a:solidFill>
                  <a:srgbClr val="666666"/>
                </a:solidFill>
                <a:latin typeface="Open Sans"/>
              </a:rPr>
              <a:t>Time-boxed agenda with strict ownership.</a:t>
            </a:r>
          </a:p>
        </p:txBody>
      </p:sp>
      <p:graphicFrame>
        <p:nvGraphicFramePr>
          <p:cNvPr id="18" name="Table 17"/>
          <p:cNvGraphicFramePr>
            <a:graphicFrameLocks noGrp="1"/>
          </p:cNvGraphicFramePr>
          <p:nvPr/>
        </p:nvGraphicFramePr>
        <p:xfrm>
          <a:off x="6583680" y="2743200"/>
          <a:ext cx="4754880" cy="2194560"/>
        </p:xfrm>
        <a:graphic>
          <a:graphicData uri="http://schemas.openxmlformats.org/drawingml/2006/table">
            <a:tbl>
              <a:tblPr firstRow="1" bandRow="1">
                <a:tableStyleId>{5C22544A-7EE6-4342-B048-85BDC9FD1C3A}</a:tableStyleId>
              </a:tblPr>
              <a:tblGrid>
                <a:gridCol w="2377440"/>
                <a:gridCol w="2377440"/>
              </a:tblGrid>
              <a:tr h="365760">
                <a:tc>
                  <a:txBody>
                    <a:bodyPr/>
                    <a:lstStyle/>
                    <a:p>
                      <a:pPr>
                        <a:defRPr sz="1000" b="1">
                          <a:solidFill>
                            <a:srgbClr val="FFFFFF"/>
                          </a:solidFill>
                          <a:latin typeface="Open Sans"/>
                        </a:defRPr>
                      </a:pPr>
                      <a:r>
                        <a:t>Topic</a:t>
                      </a:r>
                    </a:p>
                  </a:txBody>
                  <a:tcPr>
                    <a:solidFill>
                      <a:srgbClr val="00338D"/>
                    </a:solidFill>
                  </a:tcPr>
                </a:tc>
                <a:tc>
                  <a:txBody>
                    <a:bodyPr/>
                    <a:lstStyle/>
                    <a:p>
                      <a:pPr>
                        <a:defRPr sz="1000" b="1">
                          <a:solidFill>
                            <a:srgbClr val="FFFFFF"/>
                          </a:solidFill>
                          <a:latin typeface="Open Sans"/>
                        </a:defRPr>
                      </a:pPr>
                      <a:r>
                        <a:t>Duration</a:t>
                      </a:r>
                    </a:p>
                  </a:txBody>
                  <a:tcPr>
                    <a:solidFill>
                      <a:srgbClr val="00338D"/>
                    </a:solidFill>
                  </a:tcPr>
                </a:tc>
              </a:tr>
              <a:tr h="365760">
                <a:tc>
                  <a:txBody>
                    <a:bodyPr/>
                    <a:lstStyle/>
                    <a:p>
                      <a:pPr>
                        <a:defRPr sz="1100">
                          <a:solidFill>
                            <a:srgbClr val="333333"/>
                          </a:solidFill>
                          <a:latin typeface="Open Sans"/>
                        </a:defRPr>
                      </a:pPr>
                      <a:r>
                        <a:t>Pipeline Summary</a:t>
                      </a:r>
                    </a:p>
                  </a:txBody>
                  <a:tcPr/>
                </a:tc>
                <a:tc>
                  <a:txBody>
                    <a:bodyPr/>
                    <a:lstStyle/>
                    <a:p>
                      <a:pPr>
                        <a:defRPr sz="1100">
                          <a:solidFill>
                            <a:srgbClr val="333333"/>
                          </a:solidFill>
                          <a:latin typeface="Open Sans"/>
                        </a:defRPr>
                      </a:pPr>
                      <a:r>
                        <a:t>2 min</a:t>
                      </a:r>
                    </a:p>
                  </a:txBody>
                  <a:tcPr/>
                </a:tc>
              </a:tr>
              <a:tr h="365760">
                <a:tc>
                  <a:txBody>
                    <a:bodyPr/>
                    <a:lstStyle/>
                    <a:p>
                      <a:pPr>
                        <a:defRPr sz="1100">
                          <a:solidFill>
                            <a:srgbClr val="333333"/>
                          </a:solidFill>
                          <a:latin typeface="Open Sans"/>
                        </a:defRPr>
                      </a:pPr>
                      <a:r>
                        <a:t>SLA Breaches</a:t>
                      </a:r>
                    </a:p>
                  </a:txBody>
                  <a:tcPr>
                    <a:solidFill>
                      <a:srgbClr val="F5F5F5"/>
                    </a:solidFill>
                  </a:tcPr>
                </a:tc>
                <a:tc>
                  <a:txBody>
                    <a:bodyPr/>
                    <a:lstStyle/>
                    <a:p>
                      <a:pPr>
                        <a:defRPr sz="1100">
                          <a:solidFill>
                            <a:srgbClr val="333333"/>
                          </a:solidFill>
                          <a:latin typeface="Open Sans"/>
                        </a:defRPr>
                      </a:pPr>
                      <a:r>
                        <a:t>10 min</a:t>
                      </a:r>
                    </a:p>
                  </a:txBody>
                  <a:tcPr>
                    <a:solidFill>
                      <a:srgbClr val="F5F5F5"/>
                    </a:solidFill>
                  </a:tcPr>
                </a:tc>
              </a:tr>
              <a:tr h="365760">
                <a:tc>
                  <a:txBody>
                    <a:bodyPr/>
                    <a:lstStyle/>
                    <a:p>
                      <a:pPr>
                        <a:defRPr sz="1100">
                          <a:solidFill>
                            <a:srgbClr val="333333"/>
                          </a:solidFill>
                          <a:latin typeface="Open Sans"/>
                        </a:defRPr>
                      </a:pPr>
                      <a:r>
                        <a:t>At-Risk Requests</a:t>
                      </a:r>
                    </a:p>
                  </a:txBody>
                  <a:tcPr/>
                </a:tc>
                <a:tc>
                  <a:txBody>
                    <a:bodyPr/>
                    <a:lstStyle/>
                    <a:p>
                      <a:pPr>
                        <a:defRPr sz="1100">
                          <a:solidFill>
                            <a:srgbClr val="333333"/>
                          </a:solidFill>
                          <a:latin typeface="Open Sans"/>
                        </a:defRPr>
                      </a:pPr>
                      <a:r>
                        <a:t>8 min</a:t>
                      </a:r>
                    </a:p>
                  </a:txBody>
                  <a:tcPr/>
                </a:tc>
              </a:tr>
              <a:tr h="365760">
                <a:tc>
                  <a:txBody>
                    <a:bodyPr/>
                    <a:lstStyle/>
                    <a:p>
                      <a:pPr>
                        <a:defRPr sz="1100">
                          <a:solidFill>
                            <a:srgbClr val="333333"/>
                          </a:solidFill>
                          <a:latin typeface="Open Sans"/>
                        </a:defRPr>
                      </a:pPr>
                      <a:r>
                        <a:t>New Intake</a:t>
                      </a:r>
                    </a:p>
                  </a:txBody>
                  <a:tcPr>
                    <a:solidFill>
                      <a:srgbClr val="F5F5F5"/>
                    </a:solidFill>
                  </a:tcPr>
                </a:tc>
                <a:tc>
                  <a:txBody>
                    <a:bodyPr/>
                    <a:lstStyle/>
                    <a:p>
                      <a:pPr>
                        <a:defRPr sz="1100">
                          <a:solidFill>
                            <a:srgbClr val="333333"/>
                          </a:solidFill>
                          <a:latin typeface="Open Sans"/>
                        </a:defRPr>
                      </a:pPr>
                      <a:r>
                        <a:t>5 min</a:t>
                      </a:r>
                    </a:p>
                  </a:txBody>
                  <a:tcPr>
                    <a:solidFill>
                      <a:srgbClr val="F5F5F5"/>
                    </a:solidFill>
                  </a:tcPr>
                </a:tc>
              </a:tr>
              <a:tr h="365760">
                <a:tc>
                  <a:txBody>
                    <a:bodyPr/>
                    <a:lstStyle/>
                    <a:p>
                      <a:pPr>
                        <a:defRPr sz="1100">
                          <a:solidFill>
                            <a:srgbClr val="333333"/>
                          </a:solidFill>
                          <a:latin typeface="Open Sans"/>
                        </a:defRPr>
                      </a:pPr>
                      <a:r>
                        <a:t>Decisions Needed</a:t>
                      </a:r>
                    </a:p>
                  </a:txBody>
                  <a:tcPr/>
                </a:tc>
                <a:tc>
                  <a:txBody>
                    <a:bodyPr/>
                    <a:lstStyle/>
                    <a:p>
                      <a:pPr>
                        <a:defRPr sz="1100">
                          <a:solidFill>
                            <a:srgbClr val="333333"/>
                          </a:solidFill>
                          <a:latin typeface="Open Sans"/>
                        </a:defRPr>
                      </a:pPr>
                      <a:r>
                        <a:t>5 min</a:t>
                      </a:r>
                    </a:p>
                  </a:txBody>
                  <a:tcPr/>
                </a:tc>
              </a:tr>
            </a:tbl>
          </a:graphicData>
        </a:graphic>
      </p:graphicFrame>
      <p:sp>
        <p:nvSpPr>
          <p:cNvPr id="19" name="TextBox 18"/>
          <p:cNvSpPr txBox="1"/>
          <p:nvPr/>
        </p:nvSpPr>
        <p:spPr>
          <a:xfrm>
            <a:off x="6583680" y="5212080"/>
            <a:ext cx="4754880" cy="365760"/>
          </a:xfrm>
          <a:prstGeom prst="rect">
            <a:avLst/>
          </a:prstGeom>
          <a:noFill/>
        </p:spPr>
        <p:txBody>
          <a:bodyPr wrap="none">
            <a:spAutoFit/>
          </a:bodyPr>
          <a:lstStyle/>
          <a:p>
            <a:r>
              <a:rPr sz="1200" b="1">
                <a:solidFill>
                  <a:srgbClr val="16A34A"/>
                </a:solidFill>
                <a:latin typeface="Open Sans"/>
              </a:rPr>
              <a:t>IMPACT: Decisions in &lt;5 days vs 2-4 weeks</a:t>
            </a:r>
          </a:p>
        </p:txBody>
      </p:sp>
      <p:sp>
        <p:nvSpPr>
          <p:cNvPr id="20" name="Rectangle 19"/>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4</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Week 3-4: Measure &amp; Adjust</a:t>
            </a:r>
          </a:p>
        </p:txBody>
      </p:sp>
      <p:sp>
        <p:nvSpPr>
          <p:cNvPr id="4" name="TextBox 3"/>
          <p:cNvSpPr txBox="1"/>
          <p:nvPr/>
        </p:nvSpPr>
        <p:spPr>
          <a:xfrm>
            <a:off x="685800" y="1005840"/>
            <a:ext cx="10820095" cy="457200"/>
          </a:xfrm>
          <a:prstGeom prst="rect">
            <a:avLst/>
          </a:prstGeom>
          <a:noFill/>
        </p:spPr>
        <p:txBody>
          <a:bodyPr wrap="square">
            <a:spAutoFit/>
          </a:bodyPr>
          <a:lstStyle/>
          <a:p>
            <a:r>
              <a:rPr sz="1400">
                <a:solidFill>
                  <a:srgbClr val="666666"/>
                </a:solidFill>
                <a:latin typeface="Open Sans"/>
              </a:rPr>
              <a:t>Two mechanisms that create accountability and feedback</a:t>
            </a:r>
          </a:p>
        </p:txBody>
      </p:sp>
      <p:sp>
        <p:nvSpPr>
          <p:cNvPr id="5" name="Rounded Rectangle 4"/>
          <p:cNvSpPr/>
          <p:nvPr/>
        </p:nvSpPr>
        <p:spPr>
          <a:xfrm>
            <a:off x="685800" y="1554480"/>
            <a:ext cx="530352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554480"/>
            <a:ext cx="54864" cy="43891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365760" cy="365760"/>
          </a:xfrm>
          <a:prstGeom prst="rect">
            <a:avLst/>
          </a:prstGeom>
          <a:noFill/>
        </p:spPr>
        <p:txBody>
          <a:bodyPr wrap="none">
            <a:spAutoFit/>
          </a:bodyPr>
          <a:lstStyle/>
          <a:p>
            <a:r>
              <a:rPr sz="2400" b="1">
                <a:solidFill>
                  <a:srgbClr val="E0E0E0"/>
                </a:solidFill>
                <a:latin typeface="Open Sans Condensed"/>
              </a:rPr>
              <a:t>#6</a:t>
            </a:r>
          </a:p>
        </p:txBody>
      </p:sp>
      <p:sp>
        <p:nvSpPr>
          <p:cNvPr id="8" name="TextBox 7"/>
          <p:cNvSpPr txBox="1"/>
          <p:nvPr/>
        </p:nvSpPr>
        <p:spPr>
          <a:xfrm>
            <a:off x="868680" y="1691640"/>
            <a:ext cx="4937760" cy="457200"/>
          </a:xfrm>
          <a:prstGeom prst="rect">
            <a:avLst/>
          </a:prstGeom>
          <a:noFill/>
        </p:spPr>
        <p:txBody>
          <a:bodyPr wrap="square">
            <a:spAutoFit/>
          </a:bodyPr>
          <a:lstStyle/>
          <a:p>
            <a:r>
              <a:rPr sz="1400" b="1">
                <a:solidFill>
                  <a:srgbClr val="00338D"/>
                </a:solidFill>
                <a:latin typeface="Open Sans"/>
              </a:rPr>
              <a:t>#6 Visible Kanban Board</a:t>
            </a:r>
          </a:p>
        </p:txBody>
      </p:sp>
      <p:sp>
        <p:nvSpPr>
          <p:cNvPr id="9" name="TextBox 8"/>
          <p:cNvSpPr txBox="1"/>
          <p:nvPr/>
        </p:nvSpPr>
        <p:spPr>
          <a:xfrm>
            <a:off x="868680" y="2057400"/>
            <a:ext cx="4937760" cy="3749040"/>
          </a:xfrm>
          <a:prstGeom prst="rect">
            <a:avLst/>
          </a:prstGeom>
          <a:noFill/>
        </p:spPr>
        <p:txBody>
          <a:bodyPr wrap="square">
            <a:spAutoFit/>
          </a:bodyPr>
          <a:lstStyle/>
          <a:p>
            <a:pPr>
              <a:lnSpc>
                <a:spcPts val="1600"/>
              </a:lnSpc>
            </a:pPr>
            <a:r>
              <a:rPr sz="1100">
                <a:solidFill>
                  <a:srgbClr val="666666"/>
                </a:solidFill>
                <a:latin typeface="Open Sans"/>
              </a:rPr>
              <a:t>Six columns. Every active request is a card. Color by age (green/yellow/red).
Columns: Intake | Sourcing/Procurement | Due Diligence | Gov Review | Contracting | Go-Live
Each card shows: Software name, requester, quarterback, day count, SLA status.
IMPACT: Social pressure + visibility drives action</a:t>
            </a:r>
          </a:p>
        </p:txBody>
      </p:sp>
      <p:sp>
        <p:nvSpPr>
          <p:cNvPr id="10" name="Rounded Rectangle 9"/>
          <p:cNvSpPr/>
          <p:nvPr/>
        </p:nvSpPr>
        <p:spPr>
          <a:xfrm>
            <a:off x="6400800" y="1554480"/>
            <a:ext cx="5120640" cy="43891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554480"/>
            <a:ext cx="54864" cy="43891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691640"/>
            <a:ext cx="365760" cy="365760"/>
          </a:xfrm>
          <a:prstGeom prst="rect">
            <a:avLst/>
          </a:prstGeom>
          <a:noFill/>
        </p:spPr>
        <p:txBody>
          <a:bodyPr wrap="none">
            <a:spAutoFit/>
          </a:bodyPr>
          <a:lstStyle/>
          <a:p>
            <a:r>
              <a:rPr sz="2400" b="1">
                <a:solidFill>
                  <a:srgbClr val="E0E0E0"/>
                </a:solidFill>
                <a:latin typeface="Open Sans Condensed"/>
              </a:rPr>
              <a:t>#7</a:t>
            </a:r>
          </a:p>
        </p:txBody>
      </p:sp>
      <p:sp>
        <p:nvSpPr>
          <p:cNvPr id="13" name="TextBox 12"/>
          <p:cNvSpPr txBox="1"/>
          <p:nvPr/>
        </p:nvSpPr>
        <p:spPr>
          <a:xfrm>
            <a:off x="6583680" y="1691640"/>
            <a:ext cx="4754880" cy="457200"/>
          </a:xfrm>
          <a:prstGeom prst="rect">
            <a:avLst/>
          </a:prstGeom>
          <a:noFill/>
        </p:spPr>
        <p:txBody>
          <a:bodyPr wrap="square">
            <a:spAutoFit/>
          </a:bodyPr>
          <a:lstStyle/>
          <a:p>
            <a:r>
              <a:rPr sz="1400" b="1">
                <a:solidFill>
                  <a:srgbClr val="00338D"/>
                </a:solidFill>
                <a:latin typeface="Open Sans"/>
              </a:rPr>
              <a:t>#7 SLA Deadlines with Escalation</a:t>
            </a:r>
          </a:p>
        </p:txBody>
      </p:sp>
      <p:sp>
        <p:nvSpPr>
          <p:cNvPr id="14" name="TextBox 13"/>
          <p:cNvSpPr txBox="1"/>
          <p:nvPr/>
        </p:nvSpPr>
        <p:spPr>
          <a:xfrm>
            <a:off x="6583680" y="2057400"/>
            <a:ext cx="4754880" cy="3749040"/>
          </a:xfrm>
          <a:prstGeom prst="rect">
            <a:avLst/>
          </a:prstGeom>
          <a:noFill/>
        </p:spPr>
        <p:txBody>
          <a:bodyPr wrap="square">
            <a:spAutoFit/>
          </a:bodyPr>
          <a:lstStyle/>
          <a:p>
            <a:pPr>
              <a:lnSpc>
                <a:spcPts val="1600"/>
              </a:lnSpc>
            </a:pPr>
            <a:r>
              <a:rPr sz="1100">
                <a:solidFill>
                  <a:srgbClr val="666666"/>
                </a:solidFill>
                <a:latin typeface="Open Sans"/>
              </a:rPr>
              <a:t>Every phase gets a target. Every target has consequences.</a:t>
            </a:r>
          </a:p>
        </p:txBody>
      </p:sp>
      <p:graphicFrame>
        <p:nvGraphicFramePr>
          <p:cNvPr id="15" name="Table 14"/>
          <p:cNvGraphicFramePr>
            <a:graphicFrameLocks noGrp="1"/>
          </p:cNvGraphicFramePr>
          <p:nvPr/>
        </p:nvGraphicFramePr>
        <p:xfrm>
          <a:off x="6583680" y="2743200"/>
          <a:ext cx="4754880" cy="2560320"/>
        </p:xfrm>
        <a:graphic>
          <a:graphicData uri="http://schemas.openxmlformats.org/drawingml/2006/table">
            <a:tbl>
              <a:tblPr firstRow="1" bandRow="1">
                <a:tableStyleId>{5C22544A-7EE6-4342-B048-85BDC9FD1C3A}</a:tableStyleId>
              </a:tblPr>
              <a:tblGrid>
                <a:gridCol w="950976"/>
                <a:gridCol w="950976"/>
                <a:gridCol w="950976"/>
                <a:gridCol w="950976"/>
                <a:gridCol w="950976"/>
              </a:tblGrid>
              <a:tr h="365760">
                <a:tc>
                  <a:txBody>
                    <a:bodyPr/>
                    <a:lstStyle/>
                    <a:p>
                      <a:pPr>
                        <a:defRPr sz="1000" b="1">
                          <a:solidFill>
                            <a:srgbClr val="FFFFFF"/>
                          </a:solidFill>
                          <a:latin typeface="Open Sans"/>
                        </a:defRPr>
                      </a:pPr>
                      <a:r>
                        <a:t>Phase</a:t>
                      </a:r>
                    </a:p>
                  </a:txBody>
                  <a:tcPr>
                    <a:solidFill>
                      <a:srgbClr val="00338D"/>
                    </a:solidFill>
                  </a:tcPr>
                </a:tc>
                <a:tc>
                  <a:txBody>
                    <a:bodyPr/>
                    <a:lstStyle/>
                    <a:p>
                      <a:pPr>
                        <a:defRPr sz="1000" b="1">
                          <a:solidFill>
                            <a:srgbClr val="FFFFFF"/>
                          </a:solidFill>
                          <a:latin typeface="Open Sans"/>
                        </a:defRPr>
                      </a:pPr>
                      <a:r>
                        <a:t>SLA</a:t>
                      </a:r>
                    </a:p>
                  </a:txBody>
                  <a:tcPr>
                    <a:solidFill>
                      <a:srgbClr val="00338D"/>
                    </a:solidFill>
                  </a:tcPr>
                </a:tc>
                <a:tc>
                  <a:txBody>
                    <a:bodyPr/>
                    <a:lstStyle/>
                    <a:p>
                      <a:pPr>
                        <a:defRPr sz="1000" b="1">
                          <a:solidFill>
                            <a:srgbClr val="FFFFFF"/>
                          </a:solidFill>
                          <a:latin typeface="Open Sans"/>
                        </a:defRPr>
                      </a:pPr>
                      <a:r>
                        <a:t>Warning</a:t>
                      </a:r>
                    </a:p>
                  </a:txBody>
                  <a:tcPr>
                    <a:solidFill>
                      <a:srgbClr val="00338D"/>
                    </a:solidFill>
                  </a:tcPr>
                </a:tc>
                <a:tc>
                  <a:txBody>
                    <a:bodyPr/>
                    <a:lstStyle/>
                    <a:p>
                      <a:pPr>
                        <a:defRPr sz="1000" b="1">
                          <a:solidFill>
                            <a:srgbClr val="FFFFFF"/>
                          </a:solidFill>
                          <a:latin typeface="Open Sans"/>
                        </a:defRPr>
                      </a:pPr>
                      <a:r>
                        <a:t>Level 1</a:t>
                      </a:r>
                    </a:p>
                  </a:txBody>
                  <a:tcPr>
                    <a:solidFill>
                      <a:srgbClr val="00338D"/>
                    </a:solidFill>
                  </a:tcPr>
                </a:tc>
                <a:tc>
                  <a:txBody>
                    <a:bodyPr/>
                    <a:lstStyle/>
                    <a:p>
                      <a:pPr>
                        <a:defRPr sz="1000" b="1">
                          <a:solidFill>
                            <a:srgbClr val="FFFFFF"/>
                          </a:solidFill>
                          <a:latin typeface="Open Sans"/>
                        </a:defRPr>
                      </a:pPr>
                      <a:r>
                        <a:t>Level 2</a:t>
                      </a:r>
                    </a:p>
                  </a:txBody>
                  <a:tcPr>
                    <a:solidFill>
                      <a:srgbClr val="00338D"/>
                    </a:solidFill>
                  </a:tcPr>
                </a:tc>
              </a:tr>
              <a:tr h="365760">
                <a:tc>
                  <a:txBody>
                    <a:bodyPr/>
                    <a:lstStyle/>
                    <a:p>
                      <a:pPr>
                        <a:defRPr sz="1100">
                          <a:solidFill>
                            <a:srgbClr val="333333"/>
                          </a:solidFill>
                          <a:latin typeface="Open Sans"/>
                        </a:defRPr>
                      </a:pPr>
                      <a:r>
                        <a:t>Quarterback</a:t>
                      </a:r>
                    </a:p>
                  </a:txBody>
                  <a:tcPr/>
                </a:tc>
                <a:tc>
                  <a:txBody>
                    <a:bodyPr/>
                    <a:lstStyle/>
                    <a:p>
                      <a:pPr>
                        <a:defRPr sz="1100">
                          <a:solidFill>
                            <a:srgbClr val="333333"/>
                          </a:solidFill>
                          <a:latin typeface="Open Sans"/>
                        </a:defRPr>
                      </a:pPr>
                      <a:r>
                        <a:t>2 days</a:t>
                      </a:r>
                    </a:p>
                  </a:txBody>
                  <a:tcPr/>
                </a:tc>
                <a:tc>
                  <a:txBody>
                    <a:bodyPr/>
                    <a:lstStyle/>
                    <a:p>
                      <a:pPr>
                        <a:defRPr sz="1100">
                          <a:solidFill>
                            <a:srgbClr val="333333"/>
                          </a:solidFill>
                          <a:latin typeface="Open Sans"/>
                        </a:defRPr>
                      </a:pPr>
                      <a:r>
                        <a:t>50%</a:t>
                      </a:r>
                    </a:p>
                  </a:txBody>
                  <a:tcPr/>
                </a:tc>
                <a:tc>
                  <a:txBody>
                    <a:bodyPr/>
                    <a:lstStyle/>
                    <a:p>
                      <a:pPr>
                        <a:defRPr sz="1100">
                          <a:solidFill>
                            <a:srgbClr val="333333"/>
                          </a:solidFill>
                          <a:latin typeface="Open Sans"/>
                        </a:defRPr>
                      </a:pPr>
                      <a:r>
                        <a:t>100%</a:t>
                      </a:r>
                    </a:p>
                  </a:txBody>
                  <a:tcPr/>
                </a:tc>
                <a:tc>
                  <a:txBody>
                    <a:bodyPr/>
                    <a:lstStyle/>
                    <a:p>
                      <a:pPr>
                        <a:defRPr sz="1100">
                          <a:solidFill>
                            <a:srgbClr val="333333"/>
                          </a:solidFill>
                          <a:latin typeface="Open Sans"/>
                        </a:defRPr>
                      </a:pPr>
                      <a:r>
                        <a:t>140%</a:t>
                      </a:r>
                    </a:p>
                  </a:txBody>
                  <a:tcPr/>
                </a:tc>
              </a:tr>
              <a:tr h="365760">
                <a:tc>
                  <a:txBody>
                    <a:bodyPr/>
                    <a:lstStyle/>
                    <a:p>
                      <a:pPr>
                        <a:defRPr sz="1100">
                          <a:solidFill>
                            <a:srgbClr val="333333"/>
                          </a:solidFill>
                          <a:latin typeface="Open Sans"/>
                        </a:defRPr>
                      </a:pPr>
                      <a:r>
                        <a:t>Prioritization Committee</a:t>
                      </a:r>
                    </a:p>
                  </a:txBody>
                  <a:tcPr>
                    <a:solidFill>
                      <a:srgbClr val="F5F5F5"/>
                    </a:solidFill>
                  </a:tcPr>
                </a:tc>
                <a:tc>
                  <a:txBody>
                    <a:bodyPr/>
                    <a:lstStyle/>
                    <a:p>
                      <a:pPr>
                        <a:defRPr sz="1100">
                          <a:solidFill>
                            <a:srgbClr val="333333"/>
                          </a:solidFill>
                          <a:latin typeface="Open Sans"/>
                        </a:defRPr>
                      </a:pPr>
                      <a:r>
                        <a:t>5 days</a:t>
                      </a:r>
                    </a:p>
                  </a:txBody>
                  <a:tcPr>
                    <a:solidFill>
                      <a:srgbClr val="F5F5F5"/>
                    </a:solidFill>
                  </a:tcPr>
                </a:tc>
                <a:tc>
                  <a:txBody>
                    <a:bodyPr/>
                    <a:lstStyle/>
                    <a:p>
                      <a:pPr>
                        <a:defRPr sz="1100">
                          <a:solidFill>
                            <a:srgbClr val="333333"/>
                          </a:solidFill>
                          <a:latin typeface="Open Sans"/>
                        </a:defRPr>
                      </a:pPr>
                      <a:r>
                        <a:t>50%</a:t>
                      </a:r>
                    </a:p>
                  </a:txBody>
                  <a:tcPr>
                    <a:solidFill>
                      <a:srgbClr val="F5F5F5"/>
                    </a:solidFill>
                  </a:tcPr>
                </a:tc>
                <a:tc>
                  <a:txBody>
                    <a:bodyPr/>
                    <a:lstStyle/>
                    <a:p>
                      <a:pPr>
                        <a:defRPr sz="1100">
                          <a:solidFill>
                            <a:srgbClr val="333333"/>
                          </a:solidFill>
                          <a:latin typeface="Open Sans"/>
                        </a:defRPr>
                      </a:pPr>
                      <a:r>
                        <a:t>100%</a:t>
                      </a:r>
                    </a:p>
                  </a:txBody>
                  <a:tcPr>
                    <a:solidFill>
                      <a:srgbClr val="F5F5F5"/>
                    </a:solidFill>
                  </a:tcPr>
                </a:tc>
                <a:tc>
                  <a:txBody>
                    <a:bodyPr/>
                    <a:lstStyle/>
                    <a:p>
                      <a:pPr>
                        <a:defRPr sz="1100">
                          <a:solidFill>
                            <a:srgbClr val="333333"/>
                          </a:solidFill>
                          <a:latin typeface="Open Sans"/>
                        </a:defRPr>
                      </a:pPr>
                      <a:r>
                        <a:t>140%</a:t>
                      </a:r>
                    </a:p>
                  </a:txBody>
                  <a:tcPr>
                    <a:solidFill>
                      <a:srgbClr val="F5F5F5"/>
                    </a:solidFill>
                  </a:tcPr>
                </a:tc>
              </a:tr>
              <a:tr h="365760">
                <a:tc>
                  <a:txBody>
                    <a:bodyPr/>
                    <a:lstStyle/>
                    <a:p>
                      <a:pPr>
                        <a:defRPr sz="1100">
                          <a:solidFill>
                            <a:srgbClr val="333333"/>
                          </a:solidFill>
                          <a:latin typeface="Open Sans"/>
                        </a:defRPr>
                      </a:pPr>
                      <a:r>
                        <a:t>Due Diligence</a:t>
                      </a:r>
                    </a:p>
                  </a:txBody>
                  <a:tcPr/>
                </a:tc>
                <a:tc>
                  <a:txBody>
                    <a:bodyPr/>
                    <a:lstStyle/>
                    <a:p>
                      <a:pPr>
                        <a:defRPr sz="1100">
                          <a:solidFill>
                            <a:srgbClr val="333333"/>
                          </a:solidFill>
                          <a:latin typeface="Open Sans"/>
                        </a:defRPr>
                      </a:pPr>
                      <a:r>
                        <a:t>10 days</a:t>
                      </a:r>
                    </a:p>
                  </a:txBody>
                  <a:tcPr/>
                </a:tc>
                <a:tc>
                  <a:txBody>
                    <a:bodyPr/>
                    <a:lstStyle/>
                    <a:p>
                      <a:pPr>
                        <a:defRPr sz="1100">
                          <a:solidFill>
                            <a:srgbClr val="333333"/>
                          </a:solidFill>
                          <a:latin typeface="Open Sans"/>
                        </a:defRPr>
                      </a:pPr>
                      <a:r>
                        <a:t>50%</a:t>
                      </a:r>
                    </a:p>
                  </a:txBody>
                  <a:tcPr/>
                </a:tc>
                <a:tc>
                  <a:txBody>
                    <a:bodyPr/>
                    <a:lstStyle/>
                    <a:p>
                      <a:pPr>
                        <a:defRPr sz="1100">
                          <a:solidFill>
                            <a:srgbClr val="333333"/>
                          </a:solidFill>
                          <a:latin typeface="Open Sans"/>
                        </a:defRPr>
                      </a:pPr>
                      <a:r>
                        <a:t>100%</a:t>
                      </a:r>
                    </a:p>
                  </a:txBody>
                  <a:tcPr/>
                </a:tc>
                <a:tc>
                  <a:txBody>
                    <a:bodyPr/>
                    <a:lstStyle/>
                    <a:p>
                      <a:pPr>
                        <a:defRPr sz="1100">
                          <a:solidFill>
                            <a:srgbClr val="333333"/>
                          </a:solidFill>
                          <a:latin typeface="Open Sans"/>
                        </a:defRPr>
                      </a:pPr>
                      <a:r>
                        <a:t>140%</a:t>
                      </a:r>
                    </a:p>
                  </a:txBody>
                  <a:tcPr/>
                </a:tc>
              </a:tr>
              <a:tr h="365760">
                <a:tc>
                  <a:txBody>
                    <a:bodyPr/>
                    <a:lstStyle/>
                    <a:p>
                      <a:pPr>
                        <a:defRPr sz="1100">
                          <a:solidFill>
                            <a:srgbClr val="333333"/>
                          </a:solidFill>
                          <a:latin typeface="Open Sans"/>
                        </a:defRPr>
                      </a:pPr>
                      <a:r>
                        <a:t>Gov Review</a:t>
                      </a:r>
                    </a:p>
                  </a:txBody>
                  <a:tcPr>
                    <a:solidFill>
                      <a:srgbClr val="F5F5F5"/>
                    </a:solidFill>
                  </a:tcPr>
                </a:tc>
                <a:tc>
                  <a:txBody>
                    <a:bodyPr/>
                    <a:lstStyle/>
                    <a:p>
                      <a:pPr>
                        <a:defRPr sz="1100">
                          <a:solidFill>
                            <a:srgbClr val="333333"/>
                          </a:solidFill>
                          <a:latin typeface="Open Sans"/>
                        </a:defRPr>
                      </a:pPr>
                      <a:r>
                        <a:t>5 days</a:t>
                      </a:r>
                    </a:p>
                  </a:txBody>
                  <a:tcPr>
                    <a:solidFill>
                      <a:srgbClr val="F5F5F5"/>
                    </a:solidFill>
                  </a:tcPr>
                </a:tc>
                <a:tc>
                  <a:txBody>
                    <a:bodyPr/>
                    <a:lstStyle/>
                    <a:p>
                      <a:pPr>
                        <a:defRPr sz="1100">
                          <a:solidFill>
                            <a:srgbClr val="333333"/>
                          </a:solidFill>
                          <a:latin typeface="Open Sans"/>
                        </a:defRPr>
                      </a:pPr>
                      <a:r>
                        <a:t>50%</a:t>
                      </a:r>
                    </a:p>
                  </a:txBody>
                  <a:tcPr>
                    <a:solidFill>
                      <a:srgbClr val="F5F5F5"/>
                    </a:solidFill>
                  </a:tcPr>
                </a:tc>
                <a:tc>
                  <a:txBody>
                    <a:bodyPr/>
                    <a:lstStyle/>
                    <a:p>
                      <a:pPr>
                        <a:defRPr sz="1100">
                          <a:solidFill>
                            <a:srgbClr val="333333"/>
                          </a:solidFill>
                          <a:latin typeface="Open Sans"/>
                        </a:defRPr>
                      </a:pPr>
                      <a:r>
                        <a:t>100%</a:t>
                      </a:r>
                    </a:p>
                  </a:txBody>
                  <a:tcPr>
                    <a:solidFill>
                      <a:srgbClr val="F5F5F5"/>
                    </a:solidFill>
                  </a:tcPr>
                </a:tc>
                <a:tc>
                  <a:txBody>
                    <a:bodyPr/>
                    <a:lstStyle/>
                    <a:p>
                      <a:pPr>
                        <a:defRPr sz="1100">
                          <a:solidFill>
                            <a:srgbClr val="333333"/>
                          </a:solidFill>
                          <a:latin typeface="Open Sans"/>
                        </a:defRPr>
                      </a:pPr>
                      <a:r>
                        <a:t>140%</a:t>
                      </a:r>
                    </a:p>
                  </a:txBody>
                  <a:tcPr>
                    <a:solidFill>
                      <a:srgbClr val="F5F5F5"/>
                    </a:solidFill>
                  </a:tcPr>
                </a:tc>
              </a:tr>
              <a:tr h="365760">
                <a:tc>
                  <a:txBody>
                    <a:bodyPr/>
                    <a:lstStyle/>
                    <a:p>
                      <a:pPr>
                        <a:defRPr sz="1100">
                          <a:solidFill>
                            <a:srgbClr val="333333"/>
                          </a:solidFill>
                          <a:latin typeface="Open Sans"/>
                        </a:defRPr>
                      </a:pPr>
                      <a:r>
                        <a:t>Contracting</a:t>
                      </a:r>
                    </a:p>
                  </a:txBody>
                  <a:tcPr/>
                </a:tc>
                <a:tc>
                  <a:txBody>
                    <a:bodyPr/>
                    <a:lstStyle/>
                    <a:p>
                      <a:pPr>
                        <a:defRPr sz="1100">
                          <a:solidFill>
                            <a:srgbClr val="333333"/>
                          </a:solidFill>
                          <a:latin typeface="Open Sans"/>
                        </a:defRPr>
                      </a:pPr>
                      <a:r>
                        <a:t>7 days</a:t>
                      </a:r>
                    </a:p>
                  </a:txBody>
                  <a:tcPr/>
                </a:tc>
                <a:tc>
                  <a:txBody>
                    <a:bodyPr/>
                    <a:lstStyle/>
                    <a:p>
                      <a:pPr>
                        <a:defRPr sz="1100">
                          <a:solidFill>
                            <a:srgbClr val="333333"/>
                          </a:solidFill>
                          <a:latin typeface="Open Sans"/>
                        </a:defRPr>
                      </a:pPr>
                      <a:r>
                        <a:t>50%</a:t>
                      </a:r>
                    </a:p>
                  </a:txBody>
                  <a:tcPr/>
                </a:tc>
                <a:tc>
                  <a:txBody>
                    <a:bodyPr/>
                    <a:lstStyle/>
                    <a:p>
                      <a:pPr>
                        <a:defRPr sz="1100">
                          <a:solidFill>
                            <a:srgbClr val="333333"/>
                          </a:solidFill>
                          <a:latin typeface="Open Sans"/>
                        </a:defRPr>
                      </a:pPr>
                      <a:r>
                        <a:t>100%</a:t>
                      </a:r>
                    </a:p>
                  </a:txBody>
                  <a:tcPr/>
                </a:tc>
                <a:tc>
                  <a:txBody>
                    <a:bodyPr/>
                    <a:lstStyle/>
                    <a:p>
                      <a:pPr>
                        <a:defRPr sz="1100">
                          <a:solidFill>
                            <a:srgbClr val="333333"/>
                          </a:solidFill>
                          <a:latin typeface="Open Sans"/>
                        </a:defRPr>
                      </a:pPr>
                      <a:r>
                        <a:t>140%</a:t>
                      </a:r>
                    </a:p>
                  </a:txBody>
                  <a:tcPr/>
                </a:tc>
              </a:tr>
              <a:tr h="365760">
                <a:tc>
                  <a:txBody>
                    <a:bodyPr/>
                    <a:lstStyle/>
                    <a:p>
                      <a:pPr>
                        <a:defRPr sz="1100">
                          <a:solidFill>
                            <a:srgbClr val="333333"/>
                          </a:solidFill>
                          <a:latin typeface="Open Sans"/>
                        </a:defRPr>
                      </a:pPr>
                      <a:r>
                        <a:t>Go-Live</a:t>
                      </a:r>
                    </a:p>
                  </a:txBody>
                  <a:tcPr>
                    <a:solidFill>
                      <a:srgbClr val="F5F5F5"/>
                    </a:solidFill>
                  </a:tcPr>
                </a:tc>
                <a:tc>
                  <a:txBody>
                    <a:bodyPr/>
                    <a:lstStyle/>
                    <a:p>
                      <a:pPr>
                        <a:defRPr sz="1100">
                          <a:solidFill>
                            <a:srgbClr val="333333"/>
                          </a:solidFill>
                          <a:latin typeface="Open Sans"/>
                        </a:defRPr>
                      </a:pPr>
                      <a:r>
                        <a:t>5 days</a:t>
                      </a:r>
                    </a:p>
                  </a:txBody>
                  <a:tcPr>
                    <a:solidFill>
                      <a:srgbClr val="F5F5F5"/>
                    </a:solidFill>
                  </a:tcPr>
                </a:tc>
                <a:tc>
                  <a:txBody>
                    <a:bodyPr/>
                    <a:lstStyle/>
                    <a:p>
                      <a:pPr>
                        <a:defRPr sz="1100">
                          <a:solidFill>
                            <a:srgbClr val="333333"/>
                          </a:solidFill>
                          <a:latin typeface="Open Sans"/>
                        </a:defRPr>
                      </a:pPr>
                      <a:r>
                        <a:t>50%</a:t>
                      </a:r>
                    </a:p>
                  </a:txBody>
                  <a:tcPr>
                    <a:solidFill>
                      <a:srgbClr val="F5F5F5"/>
                    </a:solidFill>
                  </a:tcPr>
                </a:tc>
                <a:tc>
                  <a:txBody>
                    <a:bodyPr/>
                    <a:lstStyle/>
                    <a:p>
                      <a:pPr>
                        <a:defRPr sz="1100">
                          <a:solidFill>
                            <a:srgbClr val="333333"/>
                          </a:solidFill>
                          <a:latin typeface="Open Sans"/>
                        </a:defRPr>
                      </a:pPr>
                      <a:r>
                        <a:t>100%</a:t>
                      </a:r>
                    </a:p>
                  </a:txBody>
                  <a:tcPr>
                    <a:solidFill>
                      <a:srgbClr val="F5F5F5"/>
                    </a:solidFill>
                  </a:tcPr>
                </a:tc>
                <a:tc>
                  <a:txBody>
                    <a:bodyPr/>
                    <a:lstStyle/>
                    <a:p>
                      <a:pPr>
                        <a:defRPr sz="1100">
                          <a:solidFill>
                            <a:srgbClr val="333333"/>
                          </a:solidFill>
                          <a:latin typeface="Open Sans"/>
                        </a:defRPr>
                      </a:pPr>
                      <a:r>
                        <a:t>140%</a:t>
                      </a:r>
                    </a:p>
                  </a:txBody>
                  <a:tcPr>
                    <a:solidFill>
                      <a:srgbClr val="F5F5F5"/>
                    </a:solidFill>
                  </a:tcPr>
                </a:tc>
              </a:tr>
            </a:tbl>
          </a:graphicData>
        </a:graphic>
      </p:graphicFrame>
      <p:sp>
        <p:nvSpPr>
          <p:cNvPr id="16" name="TextBox 15"/>
          <p:cNvSpPr txBox="1"/>
          <p:nvPr/>
        </p:nvSpPr>
        <p:spPr>
          <a:xfrm>
            <a:off x="6583680" y="5394960"/>
            <a:ext cx="4754880" cy="457200"/>
          </a:xfrm>
          <a:prstGeom prst="rect">
            <a:avLst/>
          </a:prstGeom>
          <a:noFill/>
        </p:spPr>
        <p:txBody>
          <a:bodyPr wrap="square">
            <a:spAutoFit/>
          </a:bodyPr>
          <a:lstStyle/>
          <a:p>
            <a:r>
              <a:rPr sz="1000">
                <a:solidFill>
                  <a:srgbClr val="666666"/>
                </a:solidFill>
                <a:latin typeface="Open Sans"/>
              </a:rPr>
              <a:t>Level 1: Reviewer's manager  |  Level 2: CISO / CRO / CFO
IMPACT: Accountability where none exists</a:t>
            </a:r>
          </a:p>
        </p:txBody>
      </p:sp>
      <p:sp>
        <p:nvSpPr>
          <p:cNvPr id="17" name="Rectangle 16"/>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5</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Expected 30-Day Results</a:t>
            </a:r>
          </a:p>
        </p:txBody>
      </p:sp>
      <p:sp>
        <p:nvSpPr>
          <p:cNvPr id="4" name="TextBox 3"/>
          <p:cNvSpPr txBox="1"/>
          <p:nvPr/>
        </p:nvSpPr>
        <p:spPr>
          <a:xfrm>
            <a:off x="685800" y="1005840"/>
            <a:ext cx="10820095" cy="457200"/>
          </a:xfrm>
          <a:prstGeom prst="rect">
            <a:avLst/>
          </a:prstGeom>
          <a:noFill/>
        </p:spPr>
        <p:txBody>
          <a:bodyPr wrap="square">
            <a:spAutoFit/>
          </a:bodyPr>
          <a:lstStyle/>
          <a:p>
            <a:r>
              <a:rPr sz="1400">
                <a:solidFill>
                  <a:srgbClr val="666666"/>
                </a:solidFill>
                <a:latin typeface="Open Sans"/>
              </a:rPr>
              <a:t>Measurable outcomes from 7 process changes</a:t>
            </a:r>
          </a:p>
        </p:txBody>
      </p:sp>
      <p:graphicFrame>
        <p:nvGraphicFramePr>
          <p:cNvPr id="5" name="Table 4"/>
          <p:cNvGraphicFramePr>
            <a:graphicFrameLocks noGrp="1"/>
          </p:cNvGraphicFramePr>
          <p:nvPr/>
        </p:nvGraphicFramePr>
        <p:xfrm>
          <a:off x="685800" y="1645920"/>
          <a:ext cx="10789920" cy="2194560"/>
        </p:xfrm>
        <a:graphic>
          <a:graphicData uri="http://schemas.openxmlformats.org/drawingml/2006/table">
            <a:tbl>
              <a:tblPr firstRow="1" bandRow="1">
                <a:tableStyleId>{5C22544A-7EE6-4342-B048-85BDC9FD1C3A}</a:tableStyleId>
              </a:tblPr>
              <a:tblGrid>
                <a:gridCol w="2697480"/>
                <a:gridCol w="2697480"/>
                <a:gridCol w="2697480"/>
                <a:gridCol w="2697480"/>
              </a:tblGrid>
              <a:tr h="365760">
                <a:tc>
                  <a:txBody>
                    <a:bodyPr/>
                    <a:lstStyle/>
                    <a:p>
                      <a:pPr>
                        <a:defRPr sz="1000" b="1">
                          <a:solidFill>
                            <a:srgbClr val="FFFFFF"/>
                          </a:solidFill>
                          <a:latin typeface="Open Sans"/>
                        </a:defRPr>
                      </a:pPr>
                      <a:r>
                        <a:t>Metric</a:t>
                      </a:r>
                    </a:p>
                  </a:txBody>
                  <a:tcPr>
                    <a:solidFill>
                      <a:srgbClr val="00338D"/>
                    </a:solidFill>
                  </a:tcPr>
                </a:tc>
                <a:tc>
                  <a:txBody>
                    <a:bodyPr/>
                    <a:lstStyle/>
                    <a:p>
                      <a:pPr>
                        <a:defRPr sz="1000" b="1">
                          <a:solidFill>
                            <a:srgbClr val="FFFFFF"/>
                          </a:solidFill>
                          <a:latin typeface="Open Sans"/>
                        </a:defRPr>
                      </a:pPr>
                      <a:r>
                        <a:t>Current</a:t>
                      </a:r>
                    </a:p>
                  </a:txBody>
                  <a:tcPr>
                    <a:solidFill>
                      <a:srgbClr val="00338D"/>
                    </a:solidFill>
                  </a:tcPr>
                </a:tc>
                <a:tc>
                  <a:txBody>
                    <a:bodyPr/>
                    <a:lstStyle/>
                    <a:p>
                      <a:pPr>
                        <a:defRPr sz="1000" b="1">
                          <a:solidFill>
                            <a:srgbClr val="FFFFFF"/>
                          </a:solidFill>
                          <a:latin typeface="Open Sans"/>
                        </a:defRPr>
                      </a:pPr>
                    </a:p>
                  </a:txBody>
                  <a:tcPr>
                    <a:solidFill>
                      <a:srgbClr val="00338D"/>
                    </a:solidFill>
                  </a:tcPr>
                </a:tc>
                <a:tc>
                  <a:txBody>
                    <a:bodyPr/>
                    <a:lstStyle/>
                    <a:p>
                      <a:pPr>
                        <a:defRPr sz="1000" b="1">
                          <a:solidFill>
                            <a:srgbClr val="FFFFFF"/>
                          </a:solidFill>
                          <a:latin typeface="Open Sans"/>
                        </a:defRPr>
                      </a:pPr>
                      <a:r>
                        <a:t>30-Day Target</a:t>
                      </a:r>
                    </a:p>
                  </a:txBody>
                  <a:tcPr>
                    <a:solidFill>
                      <a:srgbClr val="00338D"/>
                    </a:solidFill>
                  </a:tcPr>
                </a:tc>
              </a:tr>
              <a:tr h="365760">
                <a:tc>
                  <a:txBody>
                    <a:bodyPr/>
                    <a:lstStyle/>
                    <a:p>
                      <a:pPr>
                        <a:defRPr sz="1100">
                          <a:solidFill>
                            <a:srgbClr val="333333"/>
                          </a:solidFill>
                          <a:latin typeface="Open Sans"/>
                        </a:defRPr>
                      </a:pPr>
                      <a:r>
                        <a:t>Avg Cycle Time</a:t>
                      </a:r>
                    </a:p>
                  </a:txBody>
                  <a:tcPr/>
                </a:tc>
                <a:tc>
                  <a:txBody>
                    <a:bodyPr/>
                    <a:lstStyle/>
                    <a:p>
                      <a:pPr>
                        <a:defRPr sz="1100">
                          <a:solidFill>
                            <a:srgbClr val="333333"/>
                          </a:solidFill>
                          <a:latin typeface="Open Sans"/>
                        </a:defRPr>
                      </a:pPr>
                      <a:r>
                        <a:t>6+ months</a:t>
                      </a:r>
                    </a:p>
                  </a:txBody>
                  <a:tcPr/>
                </a:tc>
                <a:tc>
                  <a:txBody>
                    <a:bodyPr/>
                    <a:lstStyle/>
                    <a:p>
                      <a:pPr>
                        <a:defRPr sz="1100">
                          <a:solidFill>
                            <a:srgbClr val="333333"/>
                          </a:solidFill>
                          <a:latin typeface="Open Sans"/>
                        </a:defRPr>
                      </a:pPr>
                      <a:r>
                        <a:t>→</a:t>
                      </a:r>
                    </a:p>
                  </a:txBody>
                  <a:tcPr/>
                </a:tc>
                <a:tc>
                  <a:txBody>
                    <a:bodyPr/>
                    <a:lstStyle/>
                    <a:p>
                      <a:pPr>
                        <a:defRPr sz="1100">
                          <a:solidFill>
                            <a:srgbClr val="333333"/>
                          </a:solidFill>
                          <a:latin typeface="Open Sans"/>
                        </a:defRPr>
                      </a:pPr>
                      <a:r>
                        <a:t>3-4 months</a:t>
                      </a:r>
                    </a:p>
                  </a:txBody>
                  <a:tcPr/>
                </a:tc>
              </a:tr>
              <a:tr h="365760">
                <a:tc>
                  <a:txBody>
                    <a:bodyPr/>
                    <a:lstStyle/>
                    <a:p>
                      <a:pPr>
                        <a:defRPr sz="1100">
                          <a:solidFill>
                            <a:srgbClr val="333333"/>
                          </a:solidFill>
                          <a:latin typeface="Open Sans"/>
                        </a:defRPr>
                      </a:pPr>
                      <a:r>
                        <a:t>Requests in Limbo</a:t>
                      </a:r>
                    </a:p>
                  </a:txBody>
                  <a:tcPr>
                    <a:solidFill>
                      <a:srgbClr val="F5F5F5"/>
                    </a:solidFill>
                  </a:tcPr>
                </a:tc>
                <a:tc>
                  <a:txBody>
                    <a:bodyPr/>
                    <a:lstStyle/>
                    <a:p>
                      <a:pPr>
                        <a:defRPr sz="1100">
                          <a:solidFill>
                            <a:srgbClr val="333333"/>
                          </a:solidFill>
                          <a:latin typeface="Open Sans"/>
                        </a:defRPr>
                      </a:pPr>
                      <a:r>
                        <a:t>Unknown</a:t>
                      </a:r>
                    </a:p>
                  </a:txBody>
                  <a:tcPr>
                    <a:solidFill>
                      <a:srgbClr val="F5F5F5"/>
                    </a:solidFill>
                  </a:tcPr>
                </a:tc>
                <a:tc>
                  <a:txBody>
                    <a:bodyPr/>
                    <a:lstStyle/>
                    <a:p>
                      <a:pPr>
                        <a:defRPr sz="1100">
                          <a:solidFill>
                            <a:srgbClr val="333333"/>
                          </a:solidFill>
                          <a:latin typeface="Open Sans"/>
                        </a:defRPr>
                      </a:pPr>
                      <a:r>
                        <a:t>→</a:t>
                      </a:r>
                    </a:p>
                  </a:txBody>
                  <a:tcPr>
                    <a:solidFill>
                      <a:srgbClr val="F5F5F5"/>
                    </a:solidFill>
                  </a:tcPr>
                </a:tc>
                <a:tc>
                  <a:txBody>
                    <a:bodyPr/>
                    <a:lstStyle/>
                    <a:p>
                      <a:pPr>
                        <a:defRPr sz="1100">
                          <a:solidFill>
                            <a:srgbClr val="333333"/>
                          </a:solidFill>
                          <a:latin typeface="Open Sans"/>
                        </a:defRPr>
                      </a:pPr>
                      <a:r>
                        <a:t>100% visible</a:t>
                      </a:r>
                    </a:p>
                  </a:txBody>
                  <a:tcPr>
                    <a:solidFill>
                      <a:srgbClr val="F5F5F5"/>
                    </a:solidFill>
                  </a:tcPr>
                </a:tc>
              </a:tr>
              <a:tr h="365760">
                <a:tc>
                  <a:txBody>
                    <a:bodyPr/>
                    <a:lstStyle/>
                    <a:p>
                      <a:pPr>
                        <a:defRPr sz="1100">
                          <a:solidFill>
                            <a:srgbClr val="333333"/>
                          </a:solidFill>
                          <a:latin typeface="Open Sans"/>
                        </a:defRPr>
                      </a:pPr>
                      <a:r>
                        <a:t>Reviewer Bottleneck</a:t>
                      </a:r>
                    </a:p>
                  </a:txBody>
                  <a:tcPr/>
                </a:tc>
                <a:tc>
                  <a:txBody>
                    <a:bodyPr/>
                    <a:lstStyle/>
                    <a:p>
                      <a:pPr>
                        <a:defRPr sz="1100">
                          <a:solidFill>
                            <a:srgbClr val="333333"/>
                          </a:solidFill>
                          <a:latin typeface="Open Sans"/>
                        </a:defRPr>
                      </a:pPr>
                      <a:r>
                        <a:t>Hidden</a:t>
                      </a:r>
                    </a:p>
                  </a:txBody>
                  <a:tcPr/>
                </a:tc>
                <a:tc>
                  <a:txBody>
                    <a:bodyPr/>
                    <a:lstStyle/>
                    <a:p>
                      <a:pPr>
                        <a:defRPr sz="1100">
                          <a:solidFill>
                            <a:srgbClr val="333333"/>
                          </a:solidFill>
                          <a:latin typeface="Open Sans"/>
                        </a:defRPr>
                      </a:pPr>
                      <a:r>
                        <a:t>→</a:t>
                      </a:r>
                    </a:p>
                  </a:txBody>
                  <a:tcPr/>
                </a:tc>
                <a:tc>
                  <a:txBody>
                    <a:bodyPr/>
                    <a:lstStyle/>
                    <a:p>
                      <a:pPr>
                        <a:defRPr sz="1100">
                          <a:solidFill>
                            <a:srgbClr val="333333"/>
                          </a:solidFill>
                          <a:latin typeface="Open Sans"/>
                        </a:defRPr>
                      </a:pPr>
                      <a:r>
                        <a:t>Identified by name/team</a:t>
                      </a:r>
                    </a:p>
                  </a:txBody>
                  <a:tcPr/>
                </a:tc>
              </a:tr>
              <a:tr h="365760">
                <a:tc>
                  <a:txBody>
                    <a:bodyPr/>
                    <a:lstStyle/>
                    <a:p>
                      <a:pPr>
                        <a:defRPr sz="1100">
                          <a:solidFill>
                            <a:srgbClr val="333333"/>
                          </a:solidFill>
                          <a:latin typeface="Open Sans"/>
                        </a:defRPr>
                      </a:pPr>
                      <a:r>
                        <a:t>Low-Value Filtering</a:t>
                      </a:r>
                    </a:p>
                  </a:txBody>
                  <a:tcPr>
                    <a:solidFill>
                      <a:srgbClr val="F5F5F5"/>
                    </a:solidFill>
                  </a:tcPr>
                </a:tc>
                <a:tc>
                  <a:txBody>
                    <a:bodyPr/>
                    <a:lstStyle/>
                    <a:p>
                      <a:pPr>
                        <a:defRPr sz="1100">
                          <a:solidFill>
                            <a:srgbClr val="333333"/>
                          </a:solidFill>
                          <a:latin typeface="Open Sans"/>
                        </a:defRPr>
                      </a:pPr>
                      <a:r>
                        <a:t>~30% unfiltered</a:t>
                      </a:r>
                    </a:p>
                  </a:txBody>
                  <a:tcPr>
                    <a:solidFill>
                      <a:srgbClr val="F5F5F5"/>
                    </a:solidFill>
                  </a:tcPr>
                </a:tc>
                <a:tc>
                  <a:txBody>
                    <a:bodyPr/>
                    <a:lstStyle/>
                    <a:p>
                      <a:pPr>
                        <a:defRPr sz="1100">
                          <a:solidFill>
                            <a:srgbClr val="333333"/>
                          </a:solidFill>
                          <a:latin typeface="Open Sans"/>
                        </a:defRPr>
                      </a:pPr>
                      <a:r>
                        <a:t>→</a:t>
                      </a:r>
                    </a:p>
                  </a:txBody>
                  <a:tcPr>
                    <a:solidFill>
                      <a:srgbClr val="F5F5F5"/>
                    </a:solidFill>
                  </a:tcPr>
                </a:tc>
                <a:tc>
                  <a:txBody>
                    <a:bodyPr/>
                    <a:lstStyle/>
                    <a:p>
                      <a:pPr>
                        <a:defRPr sz="1100">
                          <a:solidFill>
                            <a:srgbClr val="333333"/>
                          </a:solidFill>
                          <a:latin typeface="Open Sans"/>
                        </a:defRPr>
                      </a:pPr>
                      <a:r>
                        <a:t>Filtered at intake</a:t>
                      </a:r>
                    </a:p>
                  </a:txBody>
                  <a:tcPr>
                    <a:solidFill>
                      <a:srgbClr val="F5F5F5"/>
                    </a:solidFill>
                  </a:tcPr>
                </a:tc>
              </a:tr>
              <a:tr h="365760">
                <a:tc>
                  <a:txBody>
                    <a:bodyPr/>
                    <a:lstStyle/>
                    <a:p>
                      <a:pPr>
                        <a:defRPr sz="1100">
                          <a:solidFill>
                            <a:srgbClr val="333333"/>
                          </a:solidFill>
                          <a:latin typeface="Open Sans"/>
                        </a:defRPr>
                      </a:pPr>
                      <a:r>
                        <a:t>Decision Latency</a:t>
                      </a:r>
                    </a:p>
                  </a:txBody>
                  <a:tcPr/>
                </a:tc>
                <a:tc>
                  <a:txBody>
                    <a:bodyPr/>
                    <a:lstStyle/>
                    <a:p>
                      <a:pPr>
                        <a:defRPr sz="1100">
                          <a:solidFill>
                            <a:srgbClr val="333333"/>
                          </a:solidFill>
                          <a:latin typeface="Open Sans"/>
                        </a:defRPr>
                      </a:pPr>
                      <a:r>
                        <a:t>2-4 weeks</a:t>
                      </a:r>
                    </a:p>
                  </a:txBody>
                  <a:tcPr/>
                </a:tc>
                <a:tc>
                  <a:txBody>
                    <a:bodyPr/>
                    <a:lstStyle/>
                    <a:p>
                      <a:pPr>
                        <a:defRPr sz="1100">
                          <a:solidFill>
                            <a:srgbClr val="333333"/>
                          </a:solidFill>
                          <a:latin typeface="Open Sans"/>
                        </a:defRPr>
                      </a:pPr>
                      <a:r>
                        <a:t>→</a:t>
                      </a:r>
                    </a:p>
                  </a:txBody>
                  <a:tcPr/>
                </a:tc>
                <a:tc>
                  <a:txBody>
                    <a:bodyPr/>
                    <a:lstStyle/>
                    <a:p>
                      <a:pPr>
                        <a:defRPr sz="1100">
                          <a:solidFill>
                            <a:srgbClr val="333333"/>
                          </a:solidFill>
                          <a:latin typeface="Open Sans"/>
                        </a:defRPr>
                      </a:pPr>
                      <a:r>
                        <a:t>&lt;5 days</a:t>
                      </a:r>
                    </a:p>
                  </a:txBody>
                  <a:tcPr/>
                </a:tc>
              </a:tr>
            </a:tbl>
          </a:graphicData>
        </a:graphic>
      </p:graphicFrame>
      <p:sp>
        <p:nvSpPr>
          <p:cNvPr id="6" name="Rounded Rectangle 5"/>
          <p:cNvSpPr/>
          <p:nvPr/>
        </p:nvSpPr>
        <p:spPr>
          <a:xfrm>
            <a:off x="685800" y="4114800"/>
            <a:ext cx="3474720" cy="20116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114800"/>
            <a:ext cx="54864" cy="201168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251960"/>
            <a:ext cx="3108960" cy="457200"/>
          </a:xfrm>
          <a:prstGeom prst="rect">
            <a:avLst/>
          </a:prstGeom>
          <a:noFill/>
        </p:spPr>
        <p:txBody>
          <a:bodyPr wrap="square">
            <a:spAutoFit/>
          </a:bodyPr>
          <a:lstStyle/>
          <a:p>
            <a:r>
              <a:rPr sz="1400" b="1">
                <a:solidFill>
                  <a:srgbClr val="00338D"/>
                </a:solidFill>
                <a:latin typeface="Open Sans"/>
              </a:rPr>
              <a:t>#2 Parallel Reviews</a:t>
            </a:r>
          </a:p>
        </p:txBody>
      </p:sp>
      <p:sp>
        <p:nvSpPr>
          <p:cNvPr id="9" name="TextBox 8"/>
          <p:cNvSpPr txBox="1"/>
          <p:nvPr/>
        </p:nvSpPr>
        <p:spPr>
          <a:xfrm>
            <a:off x="868680" y="4617720"/>
            <a:ext cx="3108960" cy="1371600"/>
          </a:xfrm>
          <a:prstGeom prst="rect">
            <a:avLst/>
          </a:prstGeom>
          <a:noFill/>
        </p:spPr>
        <p:txBody>
          <a:bodyPr wrap="square">
            <a:spAutoFit/>
          </a:bodyPr>
          <a:lstStyle/>
          <a:p>
            <a:pPr>
              <a:lnSpc>
                <a:spcPts val="1600"/>
              </a:lnSpc>
            </a:pPr>
            <a:r>
              <a:rPr sz="1100">
                <a:solidFill>
                  <a:srgbClr val="666666"/>
                </a:solidFill>
                <a:latin typeface="Open Sans"/>
              </a:rPr>
              <a:t>Single biggest lever. Engage reviewers as soon as their prerequisite data is ready. No budget, no technology, no reorg.</a:t>
            </a:r>
          </a:p>
        </p:txBody>
      </p:sp>
      <p:sp>
        <p:nvSpPr>
          <p:cNvPr id="10" name="Rounded Rectangle 9"/>
          <p:cNvSpPr/>
          <p:nvPr/>
        </p:nvSpPr>
        <p:spPr>
          <a:xfrm>
            <a:off x="4343400" y="4114800"/>
            <a:ext cx="3474720" cy="20116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4114800"/>
            <a:ext cx="54864" cy="201168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4251960"/>
            <a:ext cx="3108960" cy="457200"/>
          </a:xfrm>
          <a:prstGeom prst="rect">
            <a:avLst/>
          </a:prstGeom>
          <a:noFill/>
        </p:spPr>
        <p:txBody>
          <a:bodyPr wrap="square">
            <a:spAutoFit/>
          </a:bodyPr>
          <a:lstStyle/>
          <a:p>
            <a:r>
              <a:rPr sz="1400" b="1">
                <a:solidFill>
                  <a:srgbClr val="00338D"/>
                </a:solidFill>
                <a:latin typeface="Open Sans"/>
              </a:rPr>
              <a:t>#4 Tiered Routing</a:t>
            </a:r>
          </a:p>
        </p:txBody>
      </p:sp>
      <p:sp>
        <p:nvSpPr>
          <p:cNvPr id="13" name="TextBox 12"/>
          <p:cNvSpPr txBox="1"/>
          <p:nvPr/>
        </p:nvSpPr>
        <p:spPr>
          <a:xfrm>
            <a:off x="4526280" y="4617720"/>
            <a:ext cx="3108960" cy="1371600"/>
          </a:xfrm>
          <a:prstGeom prst="rect">
            <a:avLst/>
          </a:prstGeom>
          <a:noFill/>
        </p:spPr>
        <p:txBody>
          <a:bodyPr wrap="square">
            <a:spAutoFit/>
          </a:bodyPr>
          <a:lstStyle/>
          <a:p>
            <a:pPr>
              <a:lnSpc>
                <a:spcPts val="1600"/>
              </a:lnSpc>
            </a:pPr>
            <a:r>
              <a:rPr sz="1100">
                <a:solidFill>
                  <a:srgbClr val="666666"/>
                </a:solidFill>
                <a:latin typeface="Open Sans"/>
              </a:rPr>
              <a:t>Stops the one-size-fits-all problem. 40-50% of requests bypass the full review committee entirely.</a:t>
            </a:r>
          </a:p>
        </p:txBody>
      </p:sp>
      <p:sp>
        <p:nvSpPr>
          <p:cNvPr id="14" name="Rounded Rectangle 13"/>
          <p:cNvSpPr/>
          <p:nvPr/>
        </p:nvSpPr>
        <p:spPr>
          <a:xfrm>
            <a:off x="8001000" y="4114800"/>
            <a:ext cx="3474720" cy="20116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01000" y="4114800"/>
            <a:ext cx="54864" cy="201168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80" y="4251960"/>
            <a:ext cx="3108960" cy="457200"/>
          </a:xfrm>
          <a:prstGeom prst="rect">
            <a:avLst/>
          </a:prstGeom>
          <a:noFill/>
        </p:spPr>
        <p:txBody>
          <a:bodyPr wrap="square">
            <a:spAutoFit/>
          </a:bodyPr>
          <a:lstStyle/>
          <a:p>
            <a:r>
              <a:rPr sz="1400" b="1">
                <a:solidFill>
                  <a:srgbClr val="00338D"/>
                </a:solidFill>
                <a:latin typeface="Open Sans"/>
              </a:rPr>
              <a:t>#1 Quarterback Role</a:t>
            </a:r>
          </a:p>
        </p:txBody>
      </p:sp>
      <p:sp>
        <p:nvSpPr>
          <p:cNvPr id="17" name="TextBox 16"/>
          <p:cNvSpPr txBox="1"/>
          <p:nvPr/>
        </p:nvSpPr>
        <p:spPr>
          <a:xfrm>
            <a:off x="8183880" y="4617720"/>
            <a:ext cx="3108960" cy="1371600"/>
          </a:xfrm>
          <a:prstGeom prst="rect">
            <a:avLst/>
          </a:prstGeom>
          <a:noFill/>
        </p:spPr>
        <p:txBody>
          <a:bodyPr wrap="square">
            <a:spAutoFit/>
          </a:bodyPr>
          <a:lstStyle/>
          <a:p>
            <a:pPr>
              <a:lnSpc>
                <a:spcPts val="1600"/>
              </a:lnSpc>
            </a:pPr>
            <a:r>
              <a:rPr sz="1100">
                <a:solidFill>
                  <a:srgbClr val="666666"/>
                </a:solidFill>
                <a:latin typeface="Open Sans"/>
              </a:rPr>
              <a:t>Creates ownership where none exists. A single person tracking elapsed time and chasing blockers changes behavior instantly.</a:t>
            </a:r>
          </a:p>
        </p:txBody>
      </p:sp>
      <p:sp>
        <p:nvSpPr>
          <p:cNvPr id="18" name="Rectangle 17"/>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6</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The Quarterback Toolkit</a:t>
            </a:r>
          </a:p>
        </p:txBody>
      </p:sp>
      <p:sp>
        <p:nvSpPr>
          <p:cNvPr id="4" name="TextBox 3"/>
          <p:cNvSpPr txBox="1"/>
          <p:nvPr/>
        </p:nvSpPr>
        <p:spPr>
          <a:xfrm>
            <a:off x="685800" y="1005840"/>
            <a:ext cx="10820095" cy="457200"/>
          </a:xfrm>
          <a:prstGeom prst="rect">
            <a:avLst/>
          </a:prstGeom>
          <a:noFill/>
        </p:spPr>
        <p:txBody>
          <a:bodyPr wrap="square">
            <a:spAutoFit/>
          </a:bodyPr>
          <a:lstStyle/>
          <a:p>
            <a:r>
              <a:rPr sz="1400">
                <a:solidFill>
                  <a:srgbClr val="666666"/>
                </a:solidFill>
                <a:latin typeface="Open Sans"/>
              </a:rPr>
              <a:t>8 ready-to-use forms and templates</a:t>
            </a:r>
          </a:p>
        </p:txBody>
      </p:sp>
      <p:sp>
        <p:nvSpPr>
          <p:cNvPr id="5" name="Oval 4"/>
          <p:cNvSpPr/>
          <p:nvPr/>
        </p:nvSpPr>
        <p:spPr>
          <a:xfrm>
            <a:off x="1691640" y="182880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1</a:t>
            </a:r>
          </a:p>
        </p:txBody>
      </p:sp>
      <p:sp>
        <p:nvSpPr>
          <p:cNvPr id="6" name="TextBox 5"/>
          <p:cNvSpPr txBox="1"/>
          <p:nvPr/>
        </p:nvSpPr>
        <p:spPr>
          <a:xfrm>
            <a:off x="685800" y="2651760"/>
            <a:ext cx="2743200" cy="457200"/>
          </a:xfrm>
          <a:prstGeom prst="rect">
            <a:avLst/>
          </a:prstGeom>
          <a:noFill/>
        </p:spPr>
        <p:txBody>
          <a:bodyPr wrap="square">
            <a:spAutoFit/>
          </a:bodyPr>
          <a:lstStyle/>
          <a:p>
            <a:pPr algn="ctr"/>
            <a:r>
              <a:rPr sz="1300" b="1">
                <a:solidFill>
                  <a:srgbClr val="333333"/>
                </a:solidFill>
                <a:latin typeface="Open Sans"/>
              </a:rPr>
              <a:t>Intake Pre-Screen</a:t>
            </a:r>
          </a:p>
        </p:txBody>
      </p:sp>
      <p:sp>
        <p:nvSpPr>
          <p:cNvPr id="7" name="Oval 6"/>
          <p:cNvSpPr/>
          <p:nvPr/>
        </p:nvSpPr>
        <p:spPr>
          <a:xfrm>
            <a:off x="4526280" y="182880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2</a:t>
            </a:r>
          </a:p>
        </p:txBody>
      </p:sp>
      <p:sp>
        <p:nvSpPr>
          <p:cNvPr id="8" name="TextBox 7"/>
          <p:cNvSpPr txBox="1"/>
          <p:nvPr/>
        </p:nvSpPr>
        <p:spPr>
          <a:xfrm>
            <a:off x="3520440" y="2651760"/>
            <a:ext cx="2743200" cy="457200"/>
          </a:xfrm>
          <a:prstGeom prst="rect">
            <a:avLst/>
          </a:prstGeom>
          <a:noFill/>
        </p:spPr>
        <p:txBody>
          <a:bodyPr wrap="square">
            <a:spAutoFit/>
          </a:bodyPr>
          <a:lstStyle/>
          <a:p>
            <a:pPr algn="ctr"/>
            <a:r>
              <a:rPr sz="1300" b="1">
                <a:solidFill>
                  <a:srgbClr val="333333"/>
                </a:solidFill>
                <a:latin typeface="Open Sans"/>
              </a:rPr>
              <a:t>Risk Tier Classification</a:t>
            </a:r>
          </a:p>
        </p:txBody>
      </p:sp>
      <p:sp>
        <p:nvSpPr>
          <p:cNvPr id="9" name="Oval 8"/>
          <p:cNvSpPr/>
          <p:nvPr/>
        </p:nvSpPr>
        <p:spPr>
          <a:xfrm>
            <a:off x="7360920" y="182880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3</a:t>
            </a:r>
          </a:p>
        </p:txBody>
      </p:sp>
      <p:sp>
        <p:nvSpPr>
          <p:cNvPr id="10" name="TextBox 9"/>
          <p:cNvSpPr txBox="1"/>
          <p:nvPr/>
        </p:nvSpPr>
        <p:spPr>
          <a:xfrm>
            <a:off x="6355080" y="2651760"/>
            <a:ext cx="2743200" cy="457200"/>
          </a:xfrm>
          <a:prstGeom prst="rect">
            <a:avLst/>
          </a:prstGeom>
          <a:noFill/>
        </p:spPr>
        <p:txBody>
          <a:bodyPr wrap="square">
            <a:spAutoFit/>
          </a:bodyPr>
          <a:lstStyle/>
          <a:p>
            <a:pPr algn="ctr"/>
            <a:r>
              <a:rPr sz="1300" b="1">
                <a:solidFill>
                  <a:srgbClr val="333333"/>
                </a:solidFill>
                <a:latin typeface="Open Sans"/>
              </a:rPr>
              <a:t>Request Tracking Board</a:t>
            </a:r>
          </a:p>
        </p:txBody>
      </p:sp>
      <p:sp>
        <p:nvSpPr>
          <p:cNvPr id="11" name="Oval 10"/>
          <p:cNvSpPr/>
          <p:nvPr/>
        </p:nvSpPr>
        <p:spPr>
          <a:xfrm>
            <a:off x="10195560" y="182880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4</a:t>
            </a:r>
          </a:p>
        </p:txBody>
      </p:sp>
      <p:sp>
        <p:nvSpPr>
          <p:cNvPr id="12" name="TextBox 11"/>
          <p:cNvSpPr txBox="1"/>
          <p:nvPr/>
        </p:nvSpPr>
        <p:spPr>
          <a:xfrm>
            <a:off x="9189720" y="2651760"/>
            <a:ext cx="2743200" cy="457200"/>
          </a:xfrm>
          <a:prstGeom prst="rect">
            <a:avLst/>
          </a:prstGeom>
          <a:noFill/>
        </p:spPr>
        <p:txBody>
          <a:bodyPr wrap="square">
            <a:spAutoFit/>
          </a:bodyPr>
          <a:lstStyle/>
          <a:p>
            <a:pPr algn="ctr"/>
            <a:r>
              <a:rPr sz="1300" b="1">
                <a:solidFill>
                  <a:srgbClr val="333333"/>
                </a:solidFill>
                <a:latin typeface="Open Sans"/>
              </a:rPr>
              <a:t>Parallel Review Kickoff</a:t>
            </a:r>
          </a:p>
        </p:txBody>
      </p:sp>
      <p:sp>
        <p:nvSpPr>
          <p:cNvPr id="13" name="Oval 12"/>
          <p:cNvSpPr/>
          <p:nvPr/>
        </p:nvSpPr>
        <p:spPr>
          <a:xfrm>
            <a:off x="1691640" y="384048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5</a:t>
            </a:r>
          </a:p>
        </p:txBody>
      </p:sp>
      <p:sp>
        <p:nvSpPr>
          <p:cNvPr id="14" name="TextBox 13"/>
          <p:cNvSpPr txBox="1"/>
          <p:nvPr/>
        </p:nvSpPr>
        <p:spPr>
          <a:xfrm>
            <a:off x="685800" y="4663440"/>
            <a:ext cx="2743200" cy="457200"/>
          </a:xfrm>
          <a:prstGeom prst="rect">
            <a:avLst/>
          </a:prstGeom>
          <a:noFill/>
        </p:spPr>
        <p:txBody>
          <a:bodyPr wrap="square">
            <a:spAutoFit/>
          </a:bodyPr>
          <a:lstStyle/>
          <a:p>
            <a:pPr algn="ctr"/>
            <a:r>
              <a:rPr sz="1300" b="1">
                <a:solidFill>
                  <a:srgbClr val="333333"/>
                </a:solidFill>
                <a:latin typeface="Open Sans"/>
              </a:rPr>
              <a:t>Weekly Prioritization Committee</a:t>
            </a:r>
          </a:p>
        </p:txBody>
      </p:sp>
      <p:sp>
        <p:nvSpPr>
          <p:cNvPr id="15" name="Oval 14"/>
          <p:cNvSpPr/>
          <p:nvPr/>
        </p:nvSpPr>
        <p:spPr>
          <a:xfrm>
            <a:off x="4526280" y="384048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6</a:t>
            </a:r>
          </a:p>
        </p:txBody>
      </p:sp>
      <p:sp>
        <p:nvSpPr>
          <p:cNvPr id="16" name="TextBox 15"/>
          <p:cNvSpPr txBox="1"/>
          <p:nvPr/>
        </p:nvSpPr>
        <p:spPr>
          <a:xfrm>
            <a:off x="3520440" y="4663440"/>
            <a:ext cx="2743200" cy="457200"/>
          </a:xfrm>
          <a:prstGeom prst="rect">
            <a:avLst/>
          </a:prstGeom>
          <a:noFill/>
        </p:spPr>
        <p:txBody>
          <a:bodyPr wrap="square">
            <a:spAutoFit/>
          </a:bodyPr>
          <a:lstStyle/>
          <a:p>
            <a:pPr algn="ctr"/>
            <a:r>
              <a:rPr sz="1300" b="1">
                <a:solidFill>
                  <a:srgbClr val="333333"/>
                </a:solidFill>
                <a:latin typeface="Open Sans"/>
              </a:rPr>
              <a:t>SLA Escalation Playbook</a:t>
            </a:r>
          </a:p>
        </p:txBody>
      </p:sp>
      <p:sp>
        <p:nvSpPr>
          <p:cNvPr id="17" name="Oval 16"/>
          <p:cNvSpPr/>
          <p:nvPr/>
        </p:nvSpPr>
        <p:spPr>
          <a:xfrm>
            <a:off x="7360920" y="384048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7</a:t>
            </a:r>
          </a:p>
        </p:txBody>
      </p:sp>
      <p:sp>
        <p:nvSpPr>
          <p:cNvPr id="18" name="TextBox 17"/>
          <p:cNvSpPr txBox="1"/>
          <p:nvPr/>
        </p:nvSpPr>
        <p:spPr>
          <a:xfrm>
            <a:off x="6355080" y="4663440"/>
            <a:ext cx="2743200" cy="457200"/>
          </a:xfrm>
          <a:prstGeom prst="rect">
            <a:avLst/>
          </a:prstGeom>
          <a:noFill/>
        </p:spPr>
        <p:txBody>
          <a:bodyPr wrap="square">
            <a:spAutoFit/>
          </a:bodyPr>
          <a:lstStyle/>
          <a:p>
            <a:pPr algn="ctr"/>
            <a:r>
              <a:rPr sz="1300" b="1">
                <a:solidFill>
                  <a:srgbClr val="333333"/>
                </a:solidFill>
                <a:latin typeface="Open Sans"/>
              </a:rPr>
              <a:t>Phase Transition Checklists</a:t>
            </a:r>
          </a:p>
        </p:txBody>
      </p:sp>
      <p:sp>
        <p:nvSpPr>
          <p:cNvPr id="19" name="Oval 18"/>
          <p:cNvSpPr/>
          <p:nvPr/>
        </p:nvSpPr>
        <p:spPr>
          <a:xfrm>
            <a:off x="10195560" y="3840480"/>
            <a:ext cx="731520" cy="73152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sz="2200" b="1">
                <a:solidFill>
                  <a:srgbClr val="FFFFFF"/>
                </a:solidFill>
                <a:latin typeface="Open Sans"/>
              </a:rPr>
              <a:t>8</a:t>
            </a:r>
          </a:p>
        </p:txBody>
      </p:sp>
      <p:sp>
        <p:nvSpPr>
          <p:cNvPr id="20" name="TextBox 19"/>
          <p:cNvSpPr txBox="1"/>
          <p:nvPr/>
        </p:nvSpPr>
        <p:spPr>
          <a:xfrm>
            <a:off x="9189720" y="4663440"/>
            <a:ext cx="2743200" cy="457200"/>
          </a:xfrm>
          <a:prstGeom prst="rect">
            <a:avLst/>
          </a:prstGeom>
          <a:noFill/>
        </p:spPr>
        <p:txBody>
          <a:bodyPr wrap="square">
            <a:spAutoFit/>
          </a:bodyPr>
          <a:lstStyle/>
          <a:p>
            <a:pPr algn="ctr"/>
            <a:r>
              <a:rPr sz="1300" b="1">
                <a:solidFill>
                  <a:srgbClr val="333333"/>
                </a:solidFill>
                <a:latin typeface="Open Sans"/>
              </a:rPr>
              <a:t>Close-Out Form</a:t>
            </a:r>
          </a:p>
        </p:txBody>
      </p:sp>
      <p:sp>
        <p:nvSpPr>
          <p:cNvPr id="21" name="TextBox 20"/>
          <p:cNvSpPr txBox="1"/>
          <p:nvPr/>
        </p:nvSpPr>
        <p:spPr>
          <a:xfrm>
            <a:off x="685800" y="5760720"/>
            <a:ext cx="10820095" cy="457200"/>
          </a:xfrm>
          <a:prstGeom prst="rect">
            <a:avLst/>
          </a:prstGeom>
          <a:noFill/>
        </p:spPr>
        <p:txBody>
          <a:bodyPr wrap="square">
            <a:spAutoFit/>
          </a:bodyPr>
          <a:lstStyle/>
          <a:p>
            <a:pPr algn="ctr"/>
            <a:r>
              <a:rPr sz="1300" i="1">
                <a:solidFill>
                  <a:srgbClr val="666666"/>
                </a:solidFill>
                <a:latin typeface="Open Sans"/>
              </a:rPr>
              <a:t>The process improvement comes first. The technology enforces it later.</a:t>
            </a:r>
          </a:p>
        </p:txBody>
      </p:sp>
      <p:sp>
        <p:nvSpPr>
          <p:cNvPr id="22" name="Rectangle 21"/>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7</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Toolkit #1: Intake Pre-Screen Form</a:t>
            </a:r>
          </a:p>
        </p:txBody>
      </p:sp>
      <p:sp>
        <p:nvSpPr>
          <p:cNvPr id="4" name="Rounded Rectangle 3"/>
          <p:cNvSpPr/>
          <p:nvPr/>
        </p:nvSpPr>
        <p:spPr>
          <a:xfrm>
            <a:off x="685800" y="1371600"/>
            <a:ext cx="5303520" cy="38404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71600"/>
            <a:ext cx="54864" cy="3840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937760" cy="457200"/>
          </a:xfrm>
          <a:prstGeom prst="rect">
            <a:avLst/>
          </a:prstGeom>
          <a:noFill/>
        </p:spPr>
        <p:txBody>
          <a:bodyPr wrap="square">
            <a:spAutoFit/>
          </a:bodyPr>
          <a:lstStyle/>
          <a:p>
            <a:r>
              <a:rPr sz="1400" b="1">
                <a:solidFill>
                  <a:srgbClr val="00338D"/>
                </a:solidFill>
                <a:latin typeface="Open Sans"/>
              </a:rPr>
              <a:t>Deal-Killer Checklist</a:t>
            </a:r>
          </a:p>
        </p:txBody>
      </p:sp>
      <p:sp>
        <p:nvSpPr>
          <p:cNvPr id="7" name="TextBox 6"/>
          <p:cNvSpPr txBox="1"/>
          <p:nvPr/>
        </p:nvSpPr>
        <p:spPr>
          <a:xfrm>
            <a:off x="868680" y="1874520"/>
            <a:ext cx="4937760" cy="3200400"/>
          </a:xfrm>
          <a:prstGeom prst="rect">
            <a:avLst/>
          </a:prstGeom>
          <a:noFill/>
        </p:spPr>
        <p:txBody>
          <a:bodyPr wrap="square">
            <a:spAutoFit/>
          </a:bodyPr>
          <a:lstStyle/>
          <a:p>
            <a:pPr>
              <a:lnSpc>
                <a:spcPts val="1600"/>
              </a:lnSpc>
            </a:pPr>
            <a:r>
              <a:rPr sz="1100">
                <a:solidFill>
                  <a:srgbClr val="666666"/>
                </a:solidFill>
                <a:latin typeface="Open Sans"/>
              </a:rPr>
              <a:t>☐  Budget approval obtained (Minimum VP-level sign-off)
☐  Executive sponsor identified (VP+ level)
☐  Data classification determined (sensitive data identified)
☐  Existing contract or vendor relationship documented
☐  Realistic go-live date (&gt;30 days from intake)
If either of the first two fail, request does not enter the pipeline.</a:t>
            </a:r>
          </a:p>
        </p:txBody>
      </p:sp>
      <p:sp>
        <p:nvSpPr>
          <p:cNvPr id="8" name="Rounded Rectangle 7"/>
          <p:cNvSpPr/>
          <p:nvPr/>
        </p:nvSpPr>
        <p:spPr>
          <a:xfrm>
            <a:off x="6400800" y="1371600"/>
            <a:ext cx="512064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371600"/>
            <a:ext cx="54864" cy="18288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08760"/>
            <a:ext cx="4754880" cy="457200"/>
          </a:xfrm>
          <a:prstGeom prst="rect">
            <a:avLst/>
          </a:prstGeom>
          <a:noFill/>
        </p:spPr>
        <p:txBody>
          <a:bodyPr wrap="square">
            <a:spAutoFit/>
          </a:bodyPr>
          <a:lstStyle/>
          <a:p>
            <a:r>
              <a:rPr sz="1400" b="1">
                <a:solidFill>
                  <a:srgbClr val="00338D"/>
                </a:solidFill>
                <a:latin typeface="Open Sans"/>
              </a:rPr>
              <a:t>Data Classification</a:t>
            </a:r>
          </a:p>
        </p:txBody>
      </p:sp>
      <p:sp>
        <p:nvSpPr>
          <p:cNvPr id="11" name="TextBox 10"/>
          <p:cNvSpPr txBox="1"/>
          <p:nvPr/>
        </p:nvSpPr>
        <p:spPr>
          <a:xfrm>
            <a:off x="6583680" y="1874520"/>
            <a:ext cx="4754880" cy="1188720"/>
          </a:xfrm>
          <a:prstGeom prst="rect">
            <a:avLst/>
          </a:prstGeom>
          <a:noFill/>
        </p:spPr>
        <p:txBody>
          <a:bodyPr wrap="square">
            <a:spAutoFit/>
          </a:bodyPr>
          <a:lstStyle/>
          <a:p>
            <a:pPr>
              <a:lnSpc>
                <a:spcPts val="1600"/>
              </a:lnSpc>
            </a:pPr>
            <a:r>
              <a:rPr sz="1100">
                <a:solidFill>
                  <a:srgbClr val="666666"/>
                </a:solidFill>
                <a:latin typeface="Open Sans"/>
              </a:rPr>
              <a:t>☐  Contains sensitive or regulated data
☐  Contains financial or payment data
☐  Subject to GDPR / CCPA
☐  Contains proprietary / trade secret data</a:t>
            </a:r>
          </a:p>
        </p:txBody>
      </p:sp>
      <p:sp>
        <p:nvSpPr>
          <p:cNvPr id="12" name="Rounded Rectangle 11"/>
          <p:cNvSpPr/>
          <p:nvPr/>
        </p:nvSpPr>
        <p:spPr>
          <a:xfrm>
            <a:off x="6400800" y="3474720"/>
            <a:ext cx="5120640" cy="173736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3474720"/>
            <a:ext cx="54864" cy="17373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3611880"/>
            <a:ext cx="4754880" cy="457200"/>
          </a:xfrm>
          <a:prstGeom prst="rect">
            <a:avLst/>
          </a:prstGeom>
          <a:noFill/>
        </p:spPr>
        <p:txBody>
          <a:bodyPr wrap="square">
            <a:spAutoFit/>
          </a:bodyPr>
          <a:lstStyle/>
          <a:p>
            <a:r>
              <a:rPr sz="1400" b="1">
                <a:solidFill>
                  <a:srgbClr val="00338D"/>
                </a:solidFill>
                <a:latin typeface="Open Sans"/>
              </a:rPr>
              <a:t>Quarterback Decision</a:t>
            </a:r>
          </a:p>
        </p:txBody>
      </p:sp>
      <p:sp>
        <p:nvSpPr>
          <p:cNvPr id="15" name="TextBox 14"/>
          <p:cNvSpPr txBox="1"/>
          <p:nvPr/>
        </p:nvSpPr>
        <p:spPr>
          <a:xfrm>
            <a:off x="6583680" y="3977640"/>
            <a:ext cx="4754880" cy="1097280"/>
          </a:xfrm>
          <a:prstGeom prst="rect">
            <a:avLst/>
          </a:prstGeom>
          <a:noFill/>
        </p:spPr>
        <p:txBody>
          <a:bodyPr wrap="square">
            <a:spAutoFit/>
          </a:bodyPr>
          <a:lstStyle/>
          <a:p>
            <a:pPr>
              <a:lnSpc>
                <a:spcPts val="1600"/>
              </a:lnSpc>
            </a:pPr>
            <a:r>
              <a:rPr sz="1100">
                <a:solidFill>
                  <a:srgbClr val="666666"/>
                </a:solidFill>
                <a:latin typeface="Open Sans"/>
              </a:rPr>
              <a:t>Options:
•  Proceed to Risk Scoring
•  Return to Requester (Incomplete)
•  Reject (Deal-Killer Failed)
•  Redirect to Existing Contract</a:t>
            </a:r>
          </a:p>
        </p:txBody>
      </p:sp>
      <p:sp>
        <p:nvSpPr>
          <p:cNvPr id="16" name="Rectangle 15"/>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8</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Toolkit #2: Risk Tier Classification</a:t>
            </a:r>
          </a:p>
        </p:txBody>
      </p:sp>
      <p:graphicFrame>
        <p:nvGraphicFramePr>
          <p:cNvPr id="4" name="Table 3"/>
          <p:cNvGraphicFramePr>
            <a:graphicFrameLocks noGrp="1"/>
          </p:cNvGraphicFramePr>
          <p:nvPr/>
        </p:nvGraphicFramePr>
        <p:xfrm>
          <a:off x="685800" y="1371600"/>
          <a:ext cx="7315200" cy="2560320"/>
        </p:xfrm>
        <a:graphic>
          <a:graphicData uri="http://schemas.openxmlformats.org/drawingml/2006/table">
            <a:tbl>
              <a:tblPr firstRow="1" bandRow="1">
                <a:tableStyleId>{5C22544A-7EE6-4342-B048-85BDC9FD1C3A}</a:tableStyleId>
              </a:tblPr>
              <a:tblGrid>
                <a:gridCol w="1828800"/>
                <a:gridCol w="1828800"/>
                <a:gridCol w="1828800"/>
                <a:gridCol w="1828800"/>
              </a:tblGrid>
              <a:tr h="365760">
                <a:tc>
                  <a:txBody>
                    <a:bodyPr/>
                    <a:lstStyle/>
                    <a:p>
                      <a:pPr>
                        <a:defRPr sz="1000" b="1">
                          <a:solidFill>
                            <a:srgbClr val="FFFFFF"/>
                          </a:solidFill>
                          <a:latin typeface="Open Sans"/>
                        </a:defRPr>
                      </a:pPr>
                      <a:r>
                        <a:t>Dimension</a:t>
                      </a:r>
                    </a:p>
                  </a:txBody>
                  <a:tcPr>
                    <a:solidFill>
                      <a:srgbClr val="00338D"/>
                    </a:solidFill>
                  </a:tcPr>
                </a:tc>
                <a:tc>
                  <a:txBody>
                    <a:bodyPr/>
                    <a:lstStyle/>
                    <a:p>
                      <a:pPr>
                        <a:defRPr sz="1000" b="1">
                          <a:solidFill>
                            <a:srgbClr val="FFFFFF"/>
                          </a:solidFill>
                          <a:latin typeface="Open Sans"/>
                        </a:defRPr>
                      </a:pPr>
                      <a:r>
                        <a:t>1 (Low)</a:t>
                      </a:r>
                    </a:p>
                  </a:txBody>
                  <a:tcPr>
                    <a:solidFill>
                      <a:srgbClr val="00338D"/>
                    </a:solidFill>
                  </a:tcPr>
                </a:tc>
                <a:tc>
                  <a:txBody>
                    <a:bodyPr/>
                    <a:lstStyle/>
                    <a:p>
                      <a:pPr>
                        <a:defRPr sz="1000" b="1">
                          <a:solidFill>
                            <a:srgbClr val="FFFFFF"/>
                          </a:solidFill>
                          <a:latin typeface="Open Sans"/>
                        </a:defRPr>
                      </a:pPr>
                      <a:r>
                        <a:t>2 (Medium)</a:t>
                      </a:r>
                    </a:p>
                  </a:txBody>
                  <a:tcPr>
                    <a:solidFill>
                      <a:srgbClr val="00338D"/>
                    </a:solidFill>
                  </a:tcPr>
                </a:tc>
                <a:tc>
                  <a:txBody>
                    <a:bodyPr/>
                    <a:lstStyle/>
                    <a:p>
                      <a:pPr>
                        <a:defRPr sz="1000" b="1">
                          <a:solidFill>
                            <a:srgbClr val="FFFFFF"/>
                          </a:solidFill>
                          <a:latin typeface="Open Sans"/>
                        </a:defRPr>
                      </a:pPr>
                      <a:r>
                        <a:t>3 (High)</a:t>
                      </a:r>
                    </a:p>
                  </a:txBody>
                  <a:tcPr>
                    <a:solidFill>
                      <a:srgbClr val="00338D"/>
                    </a:solidFill>
                  </a:tcPr>
                </a:tc>
              </a:tr>
              <a:tr h="365760">
                <a:tc>
                  <a:txBody>
                    <a:bodyPr/>
                    <a:lstStyle/>
                    <a:p>
                      <a:pPr>
                        <a:defRPr sz="1100">
                          <a:solidFill>
                            <a:srgbClr val="333333"/>
                          </a:solidFill>
                          <a:latin typeface="Open Sans"/>
                        </a:defRPr>
                      </a:pPr>
                      <a:r>
                        <a:t>Data Sensitivity</a:t>
                      </a:r>
                    </a:p>
                  </a:txBody>
                  <a:tcPr/>
                </a:tc>
                <a:tc>
                  <a:txBody>
                    <a:bodyPr/>
                    <a:lstStyle/>
                    <a:p>
                      <a:pPr>
                        <a:defRPr sz="1100">
                          <a:solidFill>
                            <a:srgbClr val="333333"/>
                          </a:solidFill>
                          <a:latin typeface="Open Sans"/>
                        </a:defRPr>
                      </a:pPr>
                      <a:r>
                        <a:t>Public data only</a:t>
                      </a:r>
                    </a:p>
                  </a:txBody>
                  <a:tcPr/>
                </a:tc>
                <a:tc>
                  <a:txBody>
                    <a:bodyPr/>
                    <a:lstStyle/>
                    <a:p>
                      <a:pPr>
                        <a:defRPr sz="1100">
                          <a:solidFill>
                            <a:srgbClr val="333333"/>
                          </a:solidFill>
                          <a:latin typeface="Open Sans"/>
                        </a:defRPr>
                      </a:pPr>
                      <a:r>
                        <a:t>Internal / confidential</a:t>
                      </a:r>
                    </a:p>
                  </a:txBody>
                  <a:tcPr/>
                </a:tc>
                <a:tc>
                  <a:txBody>
                    <a:bodyPr/>
                    <a:lstStyle/>
                    <a:p>
                      <a:pPr>
                        <a:defRPr sz="1100">
                          <a:solidFill>
                            <a:srgbClr val="333333"/>
                          </a:solidFill>
                          <a:latin typeface="Open Sans"/>
                        </a:defRPr>
                      </a:pPr>
                      <a:r>
                        <a:t>Sensitive / Regulated</a:t>
                      </a:r>
                    </a:p>
                  </a:txBody>
                  <a:tcPr/>
                </a:tc>
              </a:tr>
              <a:tr h="365760">
                <a:tc>
                  <a:txBody>
                    <a:bodyPr/>
                    <a:lstStyle/>
                    <a:p>
                      <a:pPr>
                        <a:defRPr sz="1100">
                          <a:solidFill>
                            <a:srgbClr val="333333"/>
                          </a:solidFill>
                          <a:latin typeface="Open Sans"/>
                        </a:defRPr>
                      </a:pPr>
                      <a:r>
                        <a:t>Vendor Criticality</a:t>
                      </a:r>
                    </a:p>
                  </a:txBody>
                  <a:tcPr>
                    <a:solidFill>
                      <a:srgbClr val="F5F5F5"/>
                    </a:solidFill>
                  </a:tcPr>
                </a:tc>
                <a:tc>
                  <a:txBody>
                    <a:bodyPr/>
                    <a:lstStyle/>
                    <a:p>
                      <a:pPr>
                        <a:defRPr sz="1100">
                          <a:solidFill>
                            <a:srgbClr val="333333"/>
                          </a:solidFill>
                          <a:latin typeface="Open Sans"/>
                        </a:defRPr>
                      </a:pPr>
                      <a:r>
                        <a:t>Commodity / replaceable</a:t>
                      </a:r>
                    </a:p>
                  </a:txBody>
                  <a:tcPr>
                    <a:solidFill>
                      <a:srgbClr val="F5F5F5"/>
                    </a:solidFill>
                  </a:tcPr>
                </a:tc>
                <a:tc>
                  <a:txBody>
                    <a:bodyPr/>
                    <a:lstStyle/>
                    <a:p>
                      <a:pPr>
                        <a:defRPr sz="1100">
                          <a:solidFill>
                            <a:srgbClr val="333333"/>
                          </a:solidFill>
                          <a:latin typeface="Open Sans"/>
                        </a:defRPr>
                      </a:pPr>
                      <a:r>
                        <a:t>Important but alternatives</a:t>
                      </a:r>
                    </a:p>
                  </a:txBody>
                  <a:tcPr>
                    <a:solidFill>
                      <a:srgbClr val="F5F5F5"/>
                    </a:solidFill>
                  </a:tcPr>
                </a:tc>
                <a:tc>
                  <a:txBody>
                    <a:bodyPr/>
                    <a:lstStyle/>
                    <a:p>
                      <a:pPr>
                        <a:defRPr sz="1100">
                          <a:solidFill>
                            <a:srgbClr val="333333"/>
                          </a:solidFill>
                          <a:latin typeface="Open Sans"/>
                        </a:defRPr>
                      </a:pPr>
                      <a:r>
                        <a:t>Critical / sole-source</a:t>
                      </a:r>
                    </a:p>
                  </a:txBody>
                  <a:tcPr>
                    <a:solidFill>
                      <a:srgbClr val="F5F5F5"/>
                    </a:solidFill>
                  </a:tcPr>
                </a:tc>
              </a:tr>
              <a:tr h="365760">
                <a:tc>
                  <a:txBody>
                    <a:bodyPr/>
                    <a:lstStyle/>
                    <a:p>
                      <a:pPr>
                        <a:defRPr sz="1100">
                          <a:solidFill>
                            <a:srgbClr val="333333"/>
                          </a:solidFill>
                          <a:latin typeface="Open Sans"/>
                        </a:defRPr>
                      </a:pPr>
                      <a:r>
                        <a:t>Financial Exposure</a:t>
                      </a:r>
                    </a:p>
                  </a:txBody>
                  <a:tcPr/>
                </a:tc>
                <a:tc>
                  <a:txBody>
                    <a:bodyPr/>
                    <a:lstStyle/>
                    <a:p>
                      <a:pPr>
                        <a:defRPr sz="1100">
                          <a:solidFill>
                            <a:srgbClr val="333333"/>
                          </a:solidFill>
                          <a:latin typeface="Open Sans"/>
                        </a:defRPr>
                      </a:pPr>
                      <a:r>
                        <a:t>&lt;$50K annual</a:t>
                      </a:r>
                    </a:p>
                  </a:txBody>
                  <a:tcPr/>
                </a:tc>
                <a:tc>
                  <a:txBody>
                    <a:bodyPr/>
                    <a:lstStyle/>
                    <a:p>
                      <a:pPr>
                        <a:defRPr sz="1100">
                          <a:solidFill>
                            <a:srgbClr val="333333"/>
                          </a:solidFill>
                          <a:latin typeface="Open Sans"/>
                        </a:defRPr>
                      </a:pPr>
                      <a:r>
                        <a:t>$50K-$500K annual</a:t>
                      </a:r>
                    </a:p>
                  </a:txBody>
                  <a:tcPr/>
                </a:tc>
                <a:tc>
                  <a:txBody>
                    <a:bodyPr/>
                    <a:lstStyle/>
                    <a:p>
                      <a:pPr>
                        <a:defRPr sz="1100">
                          <a:solidFill>
                            <a:srgbClr val="333333"/>
                          </a:solidFill>
                          <a:latin typeface="Open Sans"/>
                        </a:defRPr>
                      </a:pPr>
                      <a:r>
                        <a:t>&gt;$500K annual</a:t>
                      </a:r>
                    </a:p>
                  </a:txBody>
                  <a:tcPr/>
                </a:tc>
              </a:tr>
              <a:tr h="365760">
                <a:tc>
                  <a:txBody>
                    <a:bodyPr/>
                    <a:lstStyle/>
                    <a:p>
                      <a:pPr>
                        <a:defRPr sz="1100">
                          <a:solidFill>
                            <a:srgbClr val="333333"/>
                          </a:solidFill>
                          <a:latin typeface="Open Sans"/>
                        </a:defRPr>
                      </a:pPr>
                      <a:r>
                        <a:t>Integration Complexity</a:t>
                      </a:r>
                    </a:p>
                  </a:txBody>
                  <a:tcPr>
                    <a:solidFill>
                      <a:srgbClr val="F5F5F5"/>
                    </a:solidFill>
                  </a:tcPr>
                </a:tc>
                <a:tc>
                  <a:txBody>
                    <a:bodyPr/>
                    <a:lstStyle/>
                    <a:p>
                      <a:pPr>
                        <a:defRPr sz="1100">
                          <a:solidFill>
                            <a:srgbClr val="333333"/>
                          </a:solidFill>
                          <a:latin typeface="Open Sans"/>
                        </a:defRPr>
                      </a:pPr>
                      <a:r>
                        <a:t>Standalone SaaS</a:t>
                      </a:r>
                    </a:p>
                  </a:txBody>
                  <a:tcPr>
                    <a:solidFill>
                      <a:srgbClr val="F5F5F5"/>
                    </a:solidFill>
                  </a:tcPr>
                </a:tc>
                <a:tc>
                  <a:txBody>
                    <a:bodyPr/>
                    <a:lstStyle/>
                    <a:p>
                      <a:pPr>
                        <a:defRPr sz="1100">
                          <a:solidFill>
                            <a:srgbClr val="333333"/>
                          </a:solidFill>
                          <a:latin typeface="Open Sans"/>
                        </a:defRPr>
                      </a:pPr>
                      <a:r>
                        <a:t>API integration</a:t>
                      </a:r>
                    </a:p>
                  </a:txBody>
                  <a:tcPr>
                    <a:solidFill>
                      <a:srgbClr val="F5F5F5"/>
                    </a:solidFill>
                  </a:tcPr>
                </a:tc>
                <a:tc>
                  <a:txBody>
                    <a:bodyPr/>
                    <a:lstStyle/>
                    <a:p>
                      <a:pPr>
                        <a:defRPr sz="1100">
                          <a:solidFill>
                            <a:srgbClr val="333333"/>
                          </a:solidFill>
                          <a:latin typeface="Open Sans"/>
                        </a:defRPr>
                      </a:pPr>
                      <a:r>
                        <a:t>Deep system integration</a:t>
                      </a:r>
                    </a:p>
                  </a:txBody>
                  <a:tcPr>
                    <a:solidFill>
                      <a:srgbClr val="F5F5F5"/>
                    </a:solidFill>
                  </a:tcPr>
                </a:tc>
              </a:tr>
              <a:tr h="365760">
                <a:tc>
                  <a:txBody>
                    <a:bodyPr/>
                    <a:lstStyle/>
                    <a:p>
                      <a:pPr>
                        <a:defRPr sz="1100">
                          <a:solidFill>
                            <a:srgbClr val="333333"/>
                          </a:solidFill>
                          <a:latin typeface="Open Sans"/>
                        </a:defRPr>
                      </a:pPr>
                      <a:r>
                        <a:t>AI/ML Usage</a:t>
                      </a:r>
                    </a:p>
                  </a:txBody>
                  <a:tcPr/>
                </a:tc>
                <a:tc>
                  <a:txBody>
                    <a:bodyPr/>
                    <a:lstStyle/>
                    <a:p>
                      <a:pPr>
                        <a:defRPr sz="1100">
                          <a:solidFill>
                            <a:srgbClr val="333333"/>
                          </a:solidFill>
                          <a:latin typeface="Open Sans"/>
                        </a:defRPr>
                      </a:pPr>
                      <a:r>
                        <a:t>No AI/ML</a:t>
                      </a:r>
                    </a:p>
                  </a:txBody>
                  <a:tcPr/>
                </a:tc>
                <a:tc>
                  <a:txBody>
                    <a:bodyPr/>
                    <a:lstStyle/>
                    <a:p>
                      <a:pPr>
                        <a:defRPr sz="1100">
                          <a:solidFill>
                            <a:srgbClr val="333333"/>
                          </a:solidFill>
                          <a:latin typeface="Open Sans"/>
                        </a:defRPr>
                      </a:pPr>
                      <a:r>
                        <a:t>AI-assisted features</a:t>
                      </a:r>
                    </a:p>
                  </a:txBody>
                  <a:tcPr/>
                </a:tc>
                <a:tc>
                  <a:txBody>
                    <a:bodyPr/>
                    <a:lstStyle/>
                    <a:p>
                      <a:pPr>
                        <a:defRPr sz="1100">
                          <a:solidFill>
                            <a:srgbClr val="333333"/>
                          </a:solidFill>
                          <a:latin typeface="Open Sans"/>
                        </a:defRPr>
                      </a:pPr>
                      <a:r>
                        <a:t>Core AI/ML decision-making</a:t>
                      </a:r>
                    </a:p>
                  </a:txBody>
                  <a:tcPr/>
                </a:tc>
              </a:tr>
              <a:tr h="365760">
                <a:tc>
                  <a:txBody>
                    <a:bodyPr/>
                    <a:lstStyle/>
                    <a:p>
                      <a:pPr>
                        <a:defRPr sz="1100">
                          <a:solidFill>
                            <a:srgbClr val="333333"/>
                          </a:solidFill>
                          <a:latin typeface="Open Sans"/>
                        </a:defRPr>
                      </a:pPr>
                      <a:r>
                        <a:t>Regulatory Exposure</a:t>
                      </a:r>
                    </a:p>
                  </a:txBody>
                  <a:tcPr>
                    <a:solidFill>
                      <a:srgbClr val="F5F5F5"/>
                    </a:solidFill>
                  </a:tcPr>
                </a:tc>
                <a:tc>
                  <a:txBody>
                    <a:bodyPr/>
                    <a:lstStyle/>
                    <a:p>
                      <a:pPr>
                        <a:defRPr sz="1100">
                          <a:solidFill>
                            <a:srgbClr val="333333"/>
                          </a:solidFill>
                          <a:latin typeface="Open Sans"/>
                        </a:defRPr>
                      </a:pPr>
                      <a:r>
                        <a:t>No regulated activity</a:t>
                      </a:r>
                    </a:p>
                  </a:txBody>
                  <a:tcPr>
                    <a:solidFill>
                      <a:srgbClr val="F5F5F5"/>
                    </a:solidFill>
                  </a:tcPr>
                </a:tc>
                <a:tc>
                  <a:txBody>
                    <a:bodyPr/>
                    <a:lstStyle/>
                    <a:p>
                      <a:pPr>
                        <a:defRPr sz="1100">
                          <a:solidFill>
                            <a:srgbClr val="333333"/>
                          </a:solidFill>
                          <a:latin typeface="Open Sans"/>
                        </a:defRPr>
                      </a:pPr>
                      <a:r>
                        <a:t>Indirect regulatory scope</a:t>
                      </a:r>
                    </a:p>
                  </a:txBody>
                  <a:tcPr>
                    <a:solidFill>
                      <a:srgbClr val="F5F5F5"/>
                    </a:solidFill>
                  </a:tcPr>
                </a:tc>
                <a:tc>
                  <a:txBody>
                    <a:bodyPr/>
                    <a:lstStyle/>
                    <a:p>
                      <a:pPr>
                        <a:defRPr sz="1100">
                          <a:solidFill>
                            <a:srgbClr val="333333"/>
                          </a:solidFill>
                          <a:latin typeface="Open Sans"/>
                        </a:defRPr>
                      </a:pPr>
                      <a:r>
                        <a:t>Directly regulated</a:t>
                      </a:r>
                    </a:p>
                  </a:txBody>
                  <a:tcPr>
                    <a:solidFill>
                      <a:srgbClr val="F5F5F5"/>
                    </a:solidFill>
                  </a:tcPr>
                </a:tc>
              </a:tr>
            </a:tbl>
          </a:graphicData>
        </a:graphic>
      </p:graphicFrame>
      <p:sp>
        <p:nvSpPr>
          <p:cNvPr id="5" name="Rounded Rectangle 4"/>
          <p:cNvSpPr/>
          <p:nvPr/>
        </p:nvSpPr>
        <p:spPr>
          <a:xfrm>
            <a:off x="685800" y="4572000"/>
            <a:ext cx="2286000" cy="45720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pPr>
            <a:r>
              <a:rPr sz="1100" b="1">
                <a:solidFill>
                  <a:srgbClr val="FFFFFF"/>
                </a:solidFill>
                <a:latin typeface="Open Sans"/>
              </a:rPr>
              <a:t>Fast-Track: 6-8 pts</a:t>
            </a:r>
          </a:p>
        </p:txBody>
      </p:sp>
      <p:sp>
        <p:nvSpPr>
          <p:cNvPr id="6" name="TextBox 5"/>
          <p:cNvSpPr txBox="1"/>
          <p:nvPr/>
        </p:nvSpPr>
        <p:spPr>
          <a:xfrm>
            <a:off x="3200400" y="4572000"/>
            <a:ext cx="5486400" cy="457200"/>
          </a:xfrm>
          <a:prstGeom prst="rect">
            <a:avLst/>
          </a:prstGeom>
          <a:noFill/>
        </p:spPr>
        <p:txBody>
          <a:bodyPr wrap="none">
            <a:spAutoFit/>
          </a:bodyPr>
          <a:lstStyle/>
          <a:p>
            <a:pPr>
              <a:spcBef>
                <a:spcPts val="600"/>
              </a:spcBef>
            </a:pPr>
            <a:r>
              <a:rPr sz="1200">
                <a:solidFill>
                  <a:srgbClr val="333333"/>
                </a:solidFill>
                <a:latin typeface="Open Sans"/>
              </a:rPr>
              <a:t>Quarterback + 1 designated reviewer. 5-day SLA.</a:t>
            </a:r>
          </a:p>
        </p:txBody>
      </p:sp>
      <p:sp>
        <p:nvSpPr>
          <p:cNvPr id="7" name="Rounded Rectangle 6"/>
          <p:cNvSpPr/>
          <p:nvPr/>
        </p:nvSpPr>
        <p:spPr>
          <a:xfrm>
            <a:off x="685800" y="5212080"/>
            <a:ext cx="2286000" cy="4572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pPr>
            <a:r>
              <a:rPr sz="1100" b="1">
                <a:solidFill>
                  <a:srgbClr val="FFFFFF"/>
                </a:solidFill>
                <a:latin typeface="Open Sans"/>
              </a:rPr>
              <a:t>Standard: 9-13 pts</a:t>
            </a:r>
          </a:p>
        </p:txBody>
      </p:sp>
      <p:sp>
        <p:nvSpPr>
          <p:cNvPr id="8" name="TextBox 7"/>
          <p:cNvSpPr txBox="1"/>
          <p:nvPr/>
        </p:nvSpPr>
        <p:spPr>
          <a:xfrm>
            <a:off x="3200400" y="5212080"/>
            <a:ext cx="5486400" cy="457200"/>
          </a:xfrm>
          <a:prstGeom prst="rect">
            <a:avLst/>
          </a:prstGeom>
          <a:noFill/>
        </p:spPr>
        <p:txBody>
          <a:bodyPr wrap="none">
            <a:spAutoFit/>
          </a:bodyPr>
          <a:lstStyle/>
          <a:p>
            <a:pPr>
              <a:spcBef>
                <a:spcPts val="600"/>
              </a:spcBef>
            </a:pPr>
            <a:r>
              <a:rPr sz="1200">
                <a:solidFill>
                  <a:srgbClr val="333333"/>
                </a:solidFill>
                <a:latin typeface="Open Sans"/>
              </a:rPr>
              <a:t>4 reviewers in parallel. 15-day SLA.</a:t>
            </a:r>
          </a:p>
        </p:txBody>
      </p:sp>
      <p:sp>
        <p:nvSpPr>
          <p:cNvPr id="9" name="Rounded Rectangle 8"/>
          <p:cNvSpPr/>
          <p:nvPr/>
        </p:nvSpPr>
        <p:spPr>
          <a:xfrm>
            <a:off x="685800" y="5852160"/>
            <a:ext cx="2286000" cy="4572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400"/>
              </a:spcBef>
            </a:pPr>
            <a:r>
              <a:rPr sz="1100" b="1">
                <a:solidFill>
                  <a:srgbClr val="FFFFFF"/>
                </a:solidFill>
                <a:latin typeface="Open Sans"/>
              </a:rPr>
              <a:t>Enhanced: 14-18 pts</a:t>
            </a:r>
          </a:p>
        </p:txBody>
      </p:sp>
      <p:sp>
        <p:nvSpPr>
          <p:cNvPr id="10" name="TextBox 9"/>
          <p:cNvSpPr txBox="1"/>
          <p:nvPr/>
        </p:nvSpPr>
        <p:spPr>
          <a:xfrm>
            <a:off x="3200400" y="5852160"/>
            <a:ext cx="5486400" cy="457200"/>
          </a:xfrm>
          <a:prstGeom prst="rect">
            <a:avLst/>
          </a:prstGeom>
          <a:noFill/>
        </p:spPr>
        <p:txBody>
          <a:bodyPr wrap="none">
            <a:spAutoFit/>
          </a:bodyPr>
          <a:lstStyle/>
          <a:p>
            <a:pPr>
              <a:spcBef>
                <a:spcPts val="600"/>
              </a:spcBef>
            </a:pPr>
            <a:r>
              <a:rPr sz="1200">
                <a:solidFill>
                  <a:srgbClr val="333333"/>
                </a:solidFill>
                <a:latin typeface="Open Sans"/>
              </a:rPr>
              <a:t>All 9 reviewers + executive briefing. 25-day SLA.</a:t>
            </a:r>
          </a:p>
        </p:txBody>
      </p:sp>
      <p:sp>
        <p:nvSpPr>
          <p:cNvPr id="11" name="Rectangle 10"/>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9</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Toolkit #6: SLA Escalation Playbook</a:t>
            </a:r>
          </a:p>
        </p:txBody>
      </p:sp>
      <p:graphicFrame>
        <p:nvGraphicFramePr>
          <p:cNvPr id="4" name="Table 3"/>
          <p:cNvGraphicFramePr>
            <a:graphicFrameLocks noGrp="1"/>
          </p:cNvGraphicFramePr>
          <p:nvPr/>
        </p:nvGraphicFramePr>
        <p:xfrm>
          <a:off x="685800" y="1371600"/>
          <a:ext cx="10820095" cy="2560320"/>
        </p:xfrm>
        <a:graphic>
          <a:graphicData uri="http://schemas.openxmlformats.org/drawingml/2006/table">
            <a:tbl>
              <a:tblPr firstRow="1" bandRow="1">
                <a:tableStyleId>{5C22544A-7EE6-4342-B048-85BDC9FD1C3A}</a:tableStyleId>
              </a:tblPr>
              <a:tblGrid>
                <a:gridCol w="2164019"/>
                <a:gridCol w="2164019"/>
                <a:gridCol w="2164019"/>
                <a:gridCol w="2164019"/>
                <a:gridCol w="2164019"/>
              </a:tblGrid>
              <a:tr h="365760">
                <a:tc>
                  <a:txBody>
                    <a:bodyPr/>
                    <a:lstStyle/>
                    <a:p>
                      <a:pPr>
                        <a:defRPr sz="1000" b="1">
                          <a:solidFill>
                            <a:srgbClr val="FFFFFF"/>
                          </a:solidFill>
                          <a:latin typeface="Open Sans"/>
                        </a:defRPr>
                      </a:pPr>
                      <a:r>
                        <a:t>Phase</a:t>
                      </a:r>
                    </a:p>
                  </a:txBody>
                  <a:tcPr>
                    <a:solidFill>
                      <a:srgbClr val="00338D"/>
                    </a:solidFill>
                  </a:tcPr>
                </a:tc>
                <a:tc>
                  <a:txBody>
                    <a:bodyPr/>
                    <a:lstStyle/>
                    <a:p>
                      <a:pPr>
                        <a:defRPr sz="1000" b="1">
                          <a:solidFill>
                            <a:srgbClr val="FFFFFF"/>
                          </a:solidFill>
                          <a:latin typeface="Open Sans"/>
                        </a:defRPr>
                      </a:pPr>
                      <a:r>
                        <a:t>SLA Target</a:t>
                      </a:r>
                    </a:p>
                  </a:txBody>
                  <a:tcPr>
                    <a:solidFill>
                      <a:srgbClr val="00338D"/>
                    </a:solidFill>
                  </a:tcPr>
                </a:tc>
                <a:tc>
                  <a:txBody>
                    <a:bodyPr/>
                    <a:lstStyle/>
                    <a:p>
                      <a:pPr>
                        <a:defRPr sz="1000" b="1">
                          <a:solidFill>
                            <a:srgbClr val="FFFFFF"/>
                          </a:solidFill>
                          <a:latin typeface="Open Sans"/>
                        </a:defRPr>
                      </a:pPr>
                      <a:r>
                        <a:t>50% Warning</a:t>
                      </a:r>
                    </a:p>
                  </a:txBody>
                  <a:tcPr>
                    <a:solidFill>
                      <a:srgbClr val="00338D"/>
                    </a:solidFill>
                  </a:tcPr>
                </a:tc>
                <a:tc>
                  <a:txBody>
                    <a:bodyPr/>
                    <a:lstStyle/>
                    <a:p>
                      <a:pPr>
                        <a:defRPr sz="1000" b="1">
                          <a:solidFill>
                            <a:srgbClr val="FFFFFF"/>
                          </a:solidFill>
                          <a:latin typeface="Open Sans"/>
                        </a:defRPr>
                      </a:pPr>
                      <a:r>
                        <a:t>100% Level 1</a:t>
                      </a:r>
                    </a:p>
                  </a:txBody>
                  <a:tcPr>
                    <a:solidFill>
                      <a:srgbClr val="00338D"/>
                    </a:solidFill>
                  </a:tcPr>
                </a:tc>
                <a:tc>
                  <a:txBody>
                    <a:bodyPr/>
                    <a:lstStyle/>
                    <a:p>
                      <a:pPr>
                        <a:defRPr sz="1000" b="1">
                          <a:solidFill>
                            <a:srgbClr val="FFFFFF"/>
                          </a:solidFill>
                          <a:latin typeface="Open Sans"/>
                        </a:defRPr>
                      </a:pPr>
                      <a:r>
                        <a:t>140% Level 2</a:t>
                      </a:r>
                    </a:p>
                  </a:txBody>
                  <a:tcPr>
                    <a:solidFill>
                      <a:srgbClr val="00338D"/>
                    </a:solidFill>
                  </a:tcPr>
                </a:tc>
              </a:tr>
              <a:tr h="365760">
                <a:tc>
                  <a:txBody>
                    <a:bodyPr/>
                    <a:lstStyle/>
                    <a:p>
                      <a:pPr>
                        <a:defRPr sz="1100">
                          <a:solidFill>
                            <a:srgbClr val="333333"/>
                          </a:solidFill>
                          <a:latin typeface="Open Sans"/>
                        </a:defRPr>
                      </a:pPr>
                      <a:r>
                        <a:t>Triage</a:t>
                      </a:r>
                    </a:p>
                  </a:txBody>
                  <a:tcPr/>
                </a:tc>
                <a:tc>
                  <a:txBody>
                    <a:bodyPr/>
                    <a:lstStyle/>
                    <a:p>
                      <a:pPr>
                        <a:defRPr sz="1100">
                          <a:solidFill>
                            <a:srgbClr val="333333"/>
                          </a:solidFill>
                          <a:latin typeface="Open Sans"/>
                        </a:defRPr>
                      </a:pPr>
                      <a:r>
                        <a:t>2 days</a:t>
                      </a:r>
                    </a:p>
                  </a:txBody>
                  <a:tcPr/>
                </a:tc>
                <a:tc>
                  <a:txBody>
                    <a:bodyPr/>
                    <a:lstStyle/>
                    <a:p>
                      <a:pPr>
                        <a:defRPr sz="1100">
                          <a:solidFill>
                            <a:srgbClr val="333333"/>
                          </a:solidFill>
                          <a:latin typeface="Open Sans"/>
                        </a:defRPr>
                      </a:pPr>
                      <a:r>
                        <a:t>Day 1</a:t>
                      </a:r>
                    </a:p>
                  </a:txBody>
                  <a:tcPr/>
                </a:tc>
                <a:tc>
                  <a:txBody>
                    <a:bodyPr/>
                    <a:lstStyle/>
                    <a:p>
                      <a:pPr>
                        <a:defRPr sz="1100">
                          <a:solidFill>
                            <a:srgbClr val="333333"/>
                          </a:solidFill>
                          <a:latin typeface="Open Sans"/>
                        </a:defRPr>
                      </a:pPr>
                      <a:r>
                        <a:t>Day 2: Reviewer's Manager</a:t>
                      </a:r>
                    </a:p>
                  </a:txBody>
                  <a:tcPr/>
                </a:tc>
                <a:tc>
                  <a:txBody>
                    <a:bodyPr/>
                    <a:lstStyle/>
                    <a:p>
                      <a:pPr>
                        <a:defRPr sz="1100">
                          <a:solidFill>
                            <a:srgbClr val="333333"/>
                          </a:solidFill>
                          <a:latin typeface="Open Sans"/>
                        </a:defRPr>
                      </a:pPr>
                      <a:r>
                        <a:t>Day 3: CISO</a:t>
                      </a:r>
                    </a:p>
                  </a:txBody>
                  <a:tcPr/>
                </a:tc>
              </a:tr>
              <a:tr h="365760">
                <a:tc>
                  <a:txBody>
                    <a:bodyPr/>
                    <a:lstStyle/>
                    <a:p>
                      <a:pPr>
                        <a:defRPr sz="1100">
                          <a:solidFill>
                            <a:srgbClr val="333333"/>
                          </a:solidFill>
                          <a:latin typeface="Open Sans"/>
                        </a:defRPr>
                      </a:pPr>
                      <a:r>
                        <a:t>Planning</a:t>
                      </a:r>
                    </a:p>
                  </a:txBody>
                  <a:tcPr>
                    <a:solidFill>
                      <a:srgbClr val="F5F5F5"/>
                    </a:solidFill>
                  </a:tcPr>
                </a:tc>
                <a:tc>
                  <a:txBody>
                    <a:bodyPr/>
                    <a:lstStyle/>
                    <a:p>
                      <a:pPr>
                        <a:defRPr sz="1100">
                          <a:solidFill>
                            <a:srgbClr val="333333"/>
                          </a:solidFill>
                          <a:latin typeface="Open Sans"/>
                        </a:defRPr>
                      </a:pPr>
                      <a:r>
                        <a:t>5 days</a:t>
                      </a:r>
                    </a:p>
                  </a:txBody>
                  <a:tcPr>
                    <a:solidFill>
                      <a:srgbClr val="F5F5F5"/>
                    </a:solidFill>
                  </a:tcPr>
                </a:tc>
                <a:tc>
                  <a:txBody>
                    <a:bodyPr/>
                    <a:lstStyle/>
                    <a:p>
                      <a:pPr>
                        <a:defRPr sz="1100">
                          <a:solidFill>
                            <a:srgbClr val="333333"/>
                          </a:solidFill>
                          <a:latin typeface="Open Sans"/>
                        </a:defRPr>
                      </a:pPr>
                      <a:r>
                        <a:t>Day 2-3</a:t>
                      </a:r>
                    </a:p>
                  </a:txBody>
                  <a:tcPr>
                    <a:solidFill>
                      <a:srgbClr val="F5F5F5"/>
                    </a:solidFill>
                  </a:tcPr>
                </a:tc>
                <a:tc>
                  <a:txBody>
                    <a:bodyPr/>
                    <a:lstStyle/>
                    <a:p>
                      <a:pPr>
                        <a:defRPr sz="1100">
                          <a:solidFill>
                            <a:srgbClr val="333333"/>
                          </a:solidFill>
                          <a:latin typeface="Open Sans"/>
                        </a:defRPr>
                      </a:pPr>
                      <a:r>
                        <a:t>Day 5: Reviewer's Manager</a:t>
                      </a:r>
                    </a:p>
                  </a:txBody>
                  <a:tcPr>
                    <a:solidFill>
                      <a:srgbClr val="F5F5F5"/>
                    </a:solidFill>
                  </a:tcPr>
                </a:tc>
                <a:tc>
                  <a:txBody>
                    <a:bodyPr/>
                    <a:lstStyle/>
                    <a:p>
                      <a:pPr>
                        <a:defRPr sz="1100">
                          <a:solidFill>
                            <a:srgbClr val="333333"/>
                          </a:solidFill>
                          <a:latin typeface="Open Sans"/>
                        </a:defRPr>
                      </a:pPr>
                      <a:r>
                        <a:t>Day 7: CRO</a:t>
                      </a:r>
                    </a:p>
                  </a:txBody>
                  <a:tcPr>
                    <a:solidFill>
                      <a:srgbClr val="F5F5F5"/>
                    </a:solidFill>
                  </a:tcPr>
                </a:tc>
              </a:tr>
              <a:tr h="365760">
                <a:tc>
                  <a:txBody>
                    <a:bodyPr/>
                    <a:lstStyle/>
                    <a:p>
                      <a:pPr>
                        <a:defRPr sz="1100">
                          <a:solidFill>
                            <a:srgbClr val="333333"/>
                          </a:solidFill>
                          <a:latin typeface="Open Sans"/>
                        </a:defRPr>
                      </a:pPr>
                      <a:r>
                        <a:t>Due Diligence</a:t>
                      </a:r>
                    </a:p>
                  </a:txBody>
                  <a:tcPr/>
                </a:tc>
                <a:tc>
                  <a:txBody>
                    <a:bodyPr/>
                    <a:lstStyle/>
                    <a:p>
                      <a:pPr>
                        <a:defRPr sz="1100">
                          <a:solidFill>
                            <a:srgbClr val="333333"/>
                          </a:solidFill>
                          <a:latin typeface="Open Sans"/>
                        </a:defRPr>
                      </a:pPr>
                      <a:r>
                        <a:t>10 days</a:t>
                      </a:r>
                    </a:p>
                  </a:txBody>
                  <a:tcPr/>
                </a:tc>
                <a:tc>
                  <a:txBody>
                    <a:bodyPr/>
                    <a:lstStyle/>
                    <a:p>
                      <a:pPr>
                        <a:defRPr sz="1100">
                          <a:solidFill>
                            <a:srgbClr val="333333"/>
                          </a:solidFill>
                          <a:latin typeface="Open Sans"/>
                        </a:defRPr>
                      </a:pPr>
                      <a:r>
                        <a:t>Day 5</a:t>
                      </a:r>
                    </a:p>
                  </a:txBody>
                  <a:tcPr/>
                </a:tc>
                <a:tc>
                  <a:txBody>
                    <a:bodyPr/>
                    <a:lstStyle/>
                    <a:p>
                      <a:pPr>
                        <a:defRPr sz="1100">
                          <a:solidFill>
                            <a:srgbClr val="333333"/>
                          </a:solidFill>
                          <a:latin typeface="Open Sans"/>
                        </a:defRPr>
                      </a:pPr>
                      <a:r>
                        <a:t>Day 10: Reviewer's Manager</a:t>
                      </a:r>
                    </a:p>
                  </a:txBody>
                  <a:tcPr/>
                </a:tc>
                <a:tc>
                  <a:txBody>
                    <a:bodyPr/>
                    <a:lstStyle/>
                    <a:p>
                      <a:pPr>
                        <a:defRPr sz="1100">
                          <a:solidFill>
                            <a:srgbClr val="333333"/>
                          </a:solidFill>
                          <a:latin typeface="Open Sans"/>
                        </a:defRPr>
                      </a:pPr>
                      <a:r>
                        <a:t>Day 14: CISO/CRO</a:t>
                      </a:r>
                    </a:p>
                  </a:txBody>
                  <a:tcPr/>
                </a:tc>
              </a:tr>
              <a:tr h="365760">
                <a:tc>
                  <a:txBody>
                    <a:bodyPr/>
                    <a:lstStyle/>
                    <a:p>
                      <a:pPr>
                        <a:defRPr sz="1100">
                          <a:solidFill>
                            <a:srgbClr val="333333"/>
                          </a:solidFill>
                          <a:latin typeface="Open Sans"/>
                        </a:defRPr>
                      </a:pPr>
                      <a:r>
                        <a:t>Gov Review</a:t>
                      </a:r>
                    </a:p>
                  </a:txBody>
                  <a:tcPr>
                    <a:solidFill>
                      <a:srgbClr val="F5F5F5"/>
                    </a:solidFill>
                  </a:tcPr>
                </a:tc>
                <a:tc>
                  <a:txBody>
                    <a:bodyPr/>
                    <a:lstStyle/>
                    <a:p>
                      <a:pPr>
                        <a:defRPr sz="1100">
                          <a:solidFill>
                            <a:srgbClr val="333333"/>
                          </a:solidFill>
                          <a:latin typeface="Open Sans"/>
                        </a:defRPr>
                      </a:pPr>
                      <a:r>
                        <a:t>5 days</a:t>
                      </a:r>
                    </a:p>
                  </a:txBody>
                  <a:tcPr>
                    <a:solidFill>
                      <a:srgbClr val="F5F5F5"/>
                    </a:solidFill>
                  </a:tcPr>
                </a:tc>
                <a:tc>
                  <a:txBody>
                    <a:bodyPr/>
                    <a:lstStyle/>
                    <a:p>
                      <a:pPr>
                        <a:defRPr sz="1100">
                          <a:solidFill>
                            <a:srgbClr val="333333"/>
                          </a:solidFill>
                          <a:latin typeface="Open Sans"/>
                        </a:defRPr>
                      </a:pPr>
                      <a:r>
                        <a:t>Day 2-3</a:t>
                      </a:r>
                    </a:p>
                  </a:txBody>
                  <a:tcPr>
                    <a:solidFill>
                      <a:srgbClr val="F5F5F5"/>
                    </a:solidFill>
                  </a:tcPr>
                </a:tc>
                <a:tc>
                  <a:txBody>
                    <a:bodyPr/>
                    <a:lstStyle/>
                    <a:p>
                      <a:pPr>
                        <a:defRPr sz="1100">
                          <a:solidFill>
                            <a:srgbClr val="333333"/>
                          </a:solidFill>
                          <a:latin typeface="Open Sans"/>
                        </a:defRPr>
                      </a:pPr>
                      <a:r>
                        <a:t>Day 5: Committee Chair</a:t>
                      </a:r>
                    </a:p>
                  </a:txBody>
                  <a:tcPr>
                    <a:solidFill>
                      <a:srgbClr val="F5F5F5"/>
                    </a:solidFill>
                  </a:tcPr>
                </a:tc>
                <a:tc>
                  <a:txBody>
                    <a:bodyPr/>
                    <a:lstStyle/>
                    <a:p>
                      <a:pPr>
                        <a:defRPr sz="1100">
                          <a:solidFill>
                            <a:srgbClr val="333333"/>
                          </a:solidFill>
                          <a:latin typeface="Open Sans"/>
                        </a:defRPr>
                      </a:pPr>
                      <a:r>
                        <a:t>Day 7: CFO</a:t>
                      </a:r>
                    </a:p>
                  </a:txBody>
                  <a:tcPr>
                    <a:solidFill>
                      <a:srgbClr val="F5F5F5"/>
                    </a:solidFill>
                  </a:tcPr>
                </a:tc>
              </a:tr>
              <a:tr h="365760">
                <a:tc>
                  <a:txBody>
                    <a:bodyPr/>
                    <a:lstStyle/>
                    <a:p>
                      <a:pPr>
                        <a:defRPr sz="1100">
                          <a:solidFill>
                            <a:srgbClr val="333333"/>
                          </a:solidFill>
                          <a:latin typeface="Open Sans"/>
                        </a:defRPr>
                      </a:pPr>
                      <a:r>
                        <a:t>Contracting</a:t>
                      </a:r>
                    </a:p>
                  </a:txBody>
                  <a:tcPr/>
                </a:tc>
                <a:tc>
                  <a:txBody>
                    <a:bodyPr/>
                    <a:lstStyle/>
                    <a:p>
                      <a:pPr>
                        <a:defRPr sz="1100">
                          <a:solidFill>
                            <a:srgbClr val="333333"/>
                          </a:solidFill>
                          <a:latin typeface="Open Sans"/>
                        </a:defRPr>
                      </a:pPr>
                      <a:r>
                        <a:t>7 days</a:t>
                      </a:r>
                    </a:p>
                  </a:txBody>
                  <a:tcPr/>
                </a:tc>
                <a:tc>
                  <a:txBody>
                    <a:bodyPr/>
                    <a:lstStyle/>
                    <a:p>
                      <a:pPr>
                        <a:defRPr sz="1100">
                          <a:solidFill>
                            <a:srgbClr val="333333"/>
                          </a:solidFill>
                          <a:latin typeface="Open Sans"/>
                        </a:defRPr>
                      </a:pPr>
                      <a:r>
                        <a:t>Day 3-4</a:t>
                      </a:r>
                    </a:p>
                  </a:txBody>
                  <a:tcPr/>
                </a:tc>
                <a:tc>
                  <a:txBody>
                    <a:bodyPr/>
                    <a:lstStyle/>
                    <a:p>
                      <a:pPr>
                        <a:defRPr sz="1100">
                          <a:solidFill>
                            <a:srgbClr val="333333"/>
                          </a:solidFill>
                          <a:latin typeface="Open Sans"/>
                        </a:defRPr>
                      </a:pPr>
                      <a:r>
                        <a:t>Day 7: Legal Lead</a:t>
                      </a:r>
                    </a:p>
                  </a:txBody>
                  <a:tcPr/>
                </a:tc>
                <a:tc>
                  <a:txBody>
                    <a:bodyPr/>
                    <a:lstStyle/>
                    <a:p>
                      <a:pPr>
                        <a:defRPr sz="1100">
                          <a:solidFill>
                            <a:srgbClr val="333333"/>
                          </a:solidFill>
                          <a:latin typeface="Open Sans"/>
                        </a:defRPr>
                      </a:pPr>
                      <a:r>
                        <a:t>Day 10: GC</a:t>
                      </a:r>
                    </a:p>
                  </a:txBody>
                  <a:tcPr/>
                </a:tc>
              </a:tr>
              <a:tr h="365760">
                <a:tc>
                  <a:txBody>
                    <a:bodyPr/>
                    <a:lstStyle/>
                    <a:p>
                      <a:pPr>
                        <a:defRPr sz="1100">
                          <a:solidFill>
                            <a:srgbClr val="333333"/>
                          </a:solidFill>
                          <a:latin typeface="Open Sans"/>
                        </a:defRPr>
                      </a:pPr>
                      <a:r>
                        <a:t>Go-Live</a:t>
                      </a:r>
                    </a:p>
                  </a:txBody>
                  <a:tcPr>
                    <a:solidFill>
                      <a:srgbClr val="F5F5F5"/>
                    </a:solidFill>
                  </a:tcPr>
                </a:tc>
                <a:tc>
                  <a:txBody>
                    <a:bodyPr/>
                    <a:lstStyle/>
                    <a:p>
                      <a:pPr>
                        <a:defRPr sz="1100">
                          <a:solidFill>
                            <a:srgbClr val="333333"/>
                          </a:solidFill>
                          <a:latin typeface="Open Sans"/>
                        </a:defRPr>
                      </a:pPr>
                      <a:r>
                        <a:t>5 days</a:t>
                      </a:r>
                    </a:p>
                  </a:txBody>
                  <a:tcPr>
                    <a:solidFill>
                      <a:srgbClr val="F5F5F5"/>
                    </a:solidFill>
                  </a:tcPr>
                </a:tc>
                <a:tc>
                  <a:txBody>
                    <a:bodyPr/>
                    <a:lstStyle/>
                    <a:p>
                      <a:pPr>
                        <a:defRPr sz="1100">
                          <a:solidFill>
                            <a:srgbClr val="333333"/>
                          </a:solidFill>
                          <a:latin typeface="Open Sans"/>
                        </a:defRPr>
                      </a:pPr>
                      <a:r>
                        <a:t>Day 2-3</a:t>
                      </a:r>
                    </a:p>
                  </a:txBody>
                  <a:tcPr>
                    <a:solidFill>
                      <a:srgbClr val="F5F5F5"/>
                    </a:solidFill>
                  </a:tcPr>
                </a:tc>
                <a:tc>
                  <a:txBody>
                    <a:bodyPr/>
                    <a:lstStyle/>
                    <a:p>
                      <a:pPr>
                        <a:defRPr sz="1100">
                          <a:solidFill>
                            <a:srgbClr val="333333"/>
                          </a:solidFill>
                          <a:latin typeface="Open Sans"/>
                        </a:defRPr>
                      </a:pPr>
                      <a:r>
                        <a:t>Day 5: Tech Lead</a:t>
                      </a:r>
                    </a:p>
                  </a:txBody>
                  <a:tcPr>
                    <a:solidFill>
                      <a:srgbClr val="F5F5F5"/>
                    </a:solidFill>
                  </a:tcPr>
                </a:tc>
                <a:tc>
                  <a:txBody>
                    <a:bodyPr/>
                    <a:lstStyle/>
                    <a:p>
                      <a:pPr>
                        <a:defRPr sz="1100">
                          <a:solidFill>
                            <a:srgbClr val="333333"/>
                          </a:solidFill>
                          <a:latin typeface="Open Sans"/>
                        </a:defRPr>
                      </a:pPr>
                      <a:r>
                        <a:t>Day 7: CTO</a:t>
                      </a:r>
                    </a:p>
                  </a:txBody>
                  <a:tcPr>
                    <a:solidFill>
                      <a:srgbClr val="F5F5F5"/>
                    </a:solidFill>
                  </a:tcPr>
                </a:tc>
              </a:tr>
            </a:tbl>
          </a:graphicData>
        </a:graphic>
      </p:graphicFrame>
      <p:sp>
        <p:nvSpPr>
          <p:cNvPr id="5" name="Rounded Rectangle 4"/>
          <p:cNvSpPr/>
          <p:nvPr/>
        </p:nvSpPr>
        <p:spPr>
          <a:xfrm>
            <a:off x="685800" y="4389120"/>
            <a:ext cx="34747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4389120"/>
            <a:ext cx="54864" cy="1828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526280"/>
            <a:ext cx="3108960" cy="457200"/>
          </a:xfrm>
          <a:prstGeom prst="rect">
            <a:avLst/>
          </a:prstGeom>
          <a:noFill/>
        </p:spPr>
        <p:txBody>
          <a:bodyPr wrap="square">
            <a:spAutoFit/>
          </a:bodyPr>
          <a:lstStyle/>
          <a:p>
            <a:r>
              <a:rPr sz="1400" b="1">
                <a:solidFill>
                  <a:srgbClr val="00338D"/>
                </a:solidFill>
                <a:latin typeface="Open Sans"/>
              </a:rPr>
              <a:t>Level 0: Friendly Reminder (50%)</a:t>
            </a:r>
          </a:p>
        </p:txBody>
      </p:sp>
      <p:sp>
        <p:nvSpPr>
          <p:cNvPr id="8" name="TextBox 7"/>
          <p:cNvSpPr txBox="1"/>
          <p:nvPr/>
        </p:nvSpPr>
        <p:spPr>
          <a:xfrm>
            <a:off x="868680" y="4892040"/>
            <a:ext cx="3108960" cy="1188720"/>
          </a:xfrm>
          <a:prstGeom prst="rect">
            <a:avLst/>
          </a:prstGeom>
          <a:noFill/>
        </p:spPr>
        <p:txBody>
          <a:bodyPr wrap="square">
            <a:spAutoFit/>
          </a:bodyPr>
          <a:lstStyle/>
          <a:p>
            <a:pPr>
              <a:lnSpc>
                <a:spcPts val="1600"/>
              </a:lnSpc>
            </a:pPr>
            <a:r>
              <a:rPr sz="1100">
                <a:solidFill>
                  <a:srgbClr val="666666"/>
                </a:solidFill>
                <a:latin typeface="Open Sans"/>
              </a:rPr>
              <a:t>Reminder email to reviewer with due date and offer of support.</a:t>
            </a:r>
          </a:p>
        </p:txBody>
      </p:sp>
      <p:sp>
        <p:nvSpPr>
          <p:cNvPr id="9" name="Rounded Rectangle 8"/>
          <p:cNvSpPr/>
          <p:nvPr/>
        </p:nvSpPr>
        <p:spPr>
          <a:xfrm>
            <a:off x="4343400" y="4389120"/>
            <a:ext cx="34747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4389120"/>
            <a:ext cx="54864" cy="18288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4526280"/>
            <a:ext cx="3108960" cy="457200"/>
          </a:xfrm>
          <a:prstGeom prst="rect">
            <a:avLst/>
          </a:prstGeom>
          <a:noFill/>
        </p:spPr>
        <p:txBody>
          <a:bodyPr wrap="square">
            <a:spAutoFit/>
          </a:bodyPr>
          <a:lstStyle/>
          <a:p>
            <a:r>
              <a:rPr sz="1400" b="1">
                <a:solidFill>
                  <a:srgbClr val="00338D"/>
                </a:solidFill>
                <a:latin typeface="Open Sans"/>
              </a:rPr>
              <a:t>Level 1: Formal Escalation (100%)</a:t>
            </a:r>
          </a:p>
        </p:txBody>
      </p:sp>
      <p:sp>
        <p:nvSpPr>
          <p:cNvPr id="12" name="TextBox 11"/>
          <p:cNvSpPr txBox="1"/>
          <p:nvPr/>
        </p:nvSpPr>
        <p:spPr>
          <a:xfrm>
            <a:off x="4526280" y="4892040"/>
            <a:ext cx="3108960" cy="1188720"/>
          </a:xfrm>
          <a:prstGeom prst="rect">
            <a:avLst/>
          </a:prstGeom>
          <a:noFill/>
        </p:spPr>
        <p:txBody>
          <a:bodyPr wrap="square">
            <a:spAutoFit/>
          </a:bodyPr>
          <a:lstStyle/>
          <a:p>
            <a:pPr>
              <a:lnSpc>
                <a:spcPts val="1600"/>
              </a:lnSpc>
            </a:pPr>
            <a:r>
              <a:rPr sz="1100">
                <a:solidFill>
                  <a:srgbClr val="666666"/>
                </a:solidFill>
                <a:latin typeface="Open Sans"/>
              </a:rPr>
              <a:t>Notification to reviewer and their manager. SLA breached, require completion by EOD or written explanation.</a:t>
            </a:r>
          </a:p>
        </p:txBody>
      </p:sp>
      <p:sp>
        <p:nvSpPr>
          <p:cNvPr id="13" name="Rounded Rectangle 12"/>
          <p:cNvSpPr/>
          <p:nvPr/>
        </p:nvSpPr>
        <p:spPr>
          <a:xfrm>
            <a:off x="8001000" y="4389120"/>
            <a:ext cx="34747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4389120"/>
            <a:ext cx="54864" cy="18288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4526280"/>
            <a:ext cx="3108960" cy="457200"/>
          </a:xfrm>
          <a:prstGeom prst="rect">
            <a:avLst/>
          </a:prstGeom>
          <a:noFill/>
        </p:spPr>
        <p:txBody>
          <a:bodyPr wrap="square">
            <a:spAutoFit/>
          </a:bodyPr>
          <a:lstStyle/>
          <a:p>
            <a:r>
              <a:rPr sz="1400" b="1">
                <a:solidFill>
                  <a:srgbClr val="00338D"/>
                </a:solidFill>
                <a:latin typeface="Open Sans"/>
              </a:rPr>
              <a:t>Level 2: Executive Escalation (140%)</a:t>
            </a:r>
          </a:p>
        </p:txBody>
      </p:sp>
      <p:sp>
        <p:nvSpPr>
          <p:cNvPr id="16" name="TextBox 15"/>
          <p:cNvSpPr txBox="1"/>
          <p:nvPr/>
        </p:nvSpPr>
        <p:spPr>
          <a:xfrm>
            <a:off x="8183880" y="4892040"/>
            <a:ext cx="3108960" cy="1188720"/>
          </a:xfrm>
          <a:prstGeom prst="rect">
            <a:avLst/>
          </a:prstGeom>
          <a:noFill/>
        </p:spPr>
        <p:txBody>
          <a:bodyPr wrap="square">
            <a:spAutoFit/>
          </a:bodyPr>
          <a:lstStyle/>
          <a:p>
            <a:pPr>
              <a:lnSpc>
                <a:spcPts val="1600"/>
              </a:lnSpc>
            </a:pPr>
            <a:r>
              <a:rPr sz="1100">
                <a:solidFill>
                  <a:srgbClr val="666666"/>
                </a:solidFill>
                <a:latin typeface="Open Sans"/>
              </a:rPr>
              <a:t>Notification to CISO/CRO/CFO. Business impact documented, requesting executive intervention within 48 hours.</a:t>
            </a:r>
          </a:p>
        </p:txBody>
      </p:sp>
      <p:sp>
        <p:nvSpPr>
          <p:cNvPr id="17" name="Rectangle 16"/>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10</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Toolkit #7: Phase Transition Checklists</a:t>
            </a:r>
          </a:p>
        </p:txBody>
      </p:sp>
      <p:sp>
        <p:nvSpPr>
          <p:cNvPr id="4" name="Rounded Rectangle 3"/>
          <p:cNvSpPr/>
          <p:nvPr/>
        </p:nvSpPr>
        <p:spPr>
          <a:xfrm>
            <a:off x="685800" y="1371600"/>
            <a:ext cx="3474720" cy="3200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71600"/>
            <a:ext cx="54864" cy="32004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3108960" cy="457200"/>
          </a:xfrm>
          <a:prstGeom prst="rect">
            <a:avLst/>
          </a:prstGeom>
          <a:noFill/>
        </p:spPr>
        <p:txBody>
          <a:bodyPr wrap="square">
            <a:spAutoFit/>
          </a:bodyPr>
          <a:lstStyle/>
          <a:p>
            <a:r>
              <a:rPr sz="1400" b="1">
                <a:solidFill>
                  <a:srgbClr val="00338D"/>
                </a:solidFill>
                <a:latin typeface="Open Sans"/>
              </a:rPr>
              <a:t>Intake to Due Diligence</a:t>
            </a:r>
          </a:p>
        </p:txBody>
      </p:sp>
      <p:sp>
        <p:nvSpPr>
          <p:cNvPr id="7" name="TextBox 6"/>
          <p:cNvSpPr txBox="1"/>
          <p:nvPr/>
        </p:nvSpPr>
        <p:spPr>
          <a:xfrm>
            <a:off x="868680" y="1874520"/>
            <a:ext cx="3108960" cy="2560320"/>
          </a:xfrm>
          <a:prstGeom prst="rect">
            <a:avLst/>
          </a:prstGeom>
          <a:noFill/>
        </p:spPr>
        <p:txBody>
          <a:bodyPr wrap="square">
            <a:spAutoFit/>
          </a:bodyPr>
          <a:lstStyle/>
          <a:p>
            <a:pPr>
              <a:lnSpc>
                <a:spcPts val="1600"/>
              </a:lnSpc>
            </a:pPr>
            <a:r>
              <a:rPr sz="1100">
                <a:solidFill>
                  <a:srgbClr val="666666"/>
                </a:solidFill>
                <a:latin typeface="Open Sans"/>
              </a:rPr>
              <a:t>☐  Pre-screen form completed  [Quarterback]
☐  Deal-killers cleared (all 5)  [Quarterback]
☐  Risk tier score calculated  [Quarterback]
☐  Executive sponsor confirmed  [Requester]
☐  Review package assembled  [Quarterback]</a:t>
            </a:r>
          </a:p>
        </p:txBody>
      </p:sp>
      <p:sp>
        <p:nvSpPr>
          <p:cNvPr id="8" name="Rounded Rectangle 7"/>
          <p:cNvSpPr/>
          <p:nvPr/>
        </p:nvSpPr>
        <p:spPr>
          <a:xfrm>
            <a:off x="4343400" y="1371600"/>
            <a:ext cx="3474720" cy="3200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371600"/>
            <a:ext cx="54864" cy="32004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508760"/>
            <a:ext cx="3108960" cy="457200"/>
          </a:xfrm>
          <a:prstGeom prst="rect">
            <a:avLst/>
          </a:prstGeom>
          <a:noFill/>
        </p:spPr>
        <p:txBody>
          <a:bodyPr wrap="square">
            <a:spAutoFit/>
          </a:bodyPr>
          <a:lstStyle/>
          <a:p>
            <a:r>
              <a:rPr sz="1400" b="1">
                <a:solidFill>
                  <a:srgbClr val="00338D"/>
                </a:solidFill>
                <a:latin typeface="Open Sans"/>
              </a:rPr>
              <a:t>Due Diligence to Gov Review</a:t>
            </a:r>
          </a:p>
        </p:txBody>
      </p:sp>
      <p:sp>
        <p:nvSpPr>
          <p:cNvPr id="11" name="TextBox 10"/>
          <p:cNvSpPr txBox="1"/>
          <p:nvPr/>
        </p:nvSpPr>
        <p:spPr>
          <a:xfrm>
            <a:off x="4526280" y="1874520"/>
            <a:ext cx="3108960" cy="2560320"/>
          </a:xfrm>
          <a:prstGeom prst="rect">
            <a:avLst/>
          </a:prstGeom>
          <a:noFill/>
        </p:spPr>
        <p:txBody>
          <a:bodyPr wrap="square">
            <a:spAutoFit/>
          </a:bodyPr>
          <a:lstStyle/>
          <a:p>
            <a:pPr>
              <a:lnSpc>
                <a:spcPts val="1600"/>
              </a:lnSpc>
            </a:pPr>
            <a:r>
              <a:rPr sz="1100">
                <a:solidFill>
                  <a:srgbClr val="666666"/>
                </a:solidFill>
                <a:latin typeface="Open Sans"/>
              </a:rPr>
              <a:t>☐  All assigned reviews complete  [Quarterback]
☐  No outstanding blockers  [Reviewers]
☐  Consolidated findings documented  [Quarterback]
☐  Risk summary prepared  [Risk]
☐  Governance packet submitted  [Quarterback]</a:t>
            </a:r>
          </a:p>
        </p:txBody>
      </p:sp>
      <p:sp>
        <p:nvSpPr>
          <p:cNvPr id="12" name="Rounded Rectangle 11"/>
          <p:cNvSpPr/>
          <p:nvPr/>
        </p:nvSpPr>
        <p:spPr>
          <a:xfrm>
            <a:off x="8001000" y="1371600"/>
            <a:ext cx="3474720" cy="3200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371600"/>
            <a:ext cx="54864" cy="32004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1508760"/>
            <a:ext cx="3108960" cy="457200"/>
          </a:xfrm>
          <a:prstGeom prst="rect">
            <a:avLst/>
          </a:prstGeom>
          <a:noFill/>
        </p:spPr>
        <p:txBody>
          <a:bodyPr wrap="square">
            <a:spAutoFit/>
          </a:bodyPr>
          <a:lstStyle/>
          <a:p>
            <a:r>
              <a:rPr sz="1400" b="1">
                <a:solidFill>
                  <a:srgbClr val="00338D"/>
                </a:solidFill>
                <a:latin typeface="Open Sans"/>
              </a:rPr>
              <a:t>Gov Review to Contracting</a:t>
            </a:r>
          </a:p>
        </p:txBody>
      </p:sp>
      <p:sp>
        <p:nvSpPr>
          <p:cNvPr id="15" name="TextBox 14"/>
          <p:cNvSpPr txBox="1"/>
          <p:nvPr/>
        </p:nvSpPr>
        <p:spPr>
          <a:xfrm>
            <a:off x="8183880" y="1874520"/>
            <a:ext cx="3108960" cy="2560320"/>
          </a:xfrm>
          <a:prstGeom prst="rect">
            <a:avLst/>
          </a:prstGeom>
          <a:noFill/>
        </p:spPr>
        <p:txBody>
          <a:bodyPr wrap="square">
            <a:spAutoFit/>
          </a:bodyPr>
          <a:lstStyle/>
          <a:p>
            <a:pPr>
              <a:lnSpc>
                <a:spcPts val="1600"/>
              </a:lnSpc>
            </a:pPr>
            <a:r>
              <a:rPr sz="1100">
                <a:solidFill>
                  <a:srgbClr val="666666"/>
                </a:solidFill>
                <a:latin typeface="Open Sans"/>
              </a:rPr>
              <a:t>☐  Governance approval obtained  [Gov Lead]
☐  Conditions documented (if any)  [Gov Lead]
☐  Legal notified of pending contract  [Quarterback]
☐  Budget confirmed and allocated  [Finance]
☐  Contract template selected  [Legal]</a:t>
            </a:r>
          </a:p>
        </p:txBody>
      </p:sp>
      <p:sp>
        <p:nvSpPr>
          <p:cNvPr id="16" name="Rounded Rectangle 15"/>
          <p:cNvSpPr/>
          <p:nvPr/>
        </p:nvSpPr>
        <p:spPr>
          <a:xfrm>
            <a:off x="685800" y="4754880"/>
            <a:ext cx="34747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4754880"/>
            <a:ext cx="54864" cy="18288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892040"/>
            <a:ext cx="3108960" cy="457200"/>
          </a:xfrm>
          <a:prstGeom prst="rect">
            <a:avLst/>
          </a:prstGeom>
          <a:noFill/>
        </p:spPr>
        <p:txBody>
          <a:bodyPr wrap="square">
            <a:spAutoFit/>
          </a:bodyPr>
          <a:lstStyle/>
          <a:p>
            <a:r>
              <a:rPr sz="1400" b="1">
                <a:solidFill>
                  <a:srgbClr val="00338D"/>
                </a:solidFill>
                <a:latin typeface="Open Sans"/>
              </a:rPr>
              <a:t>Contracting to Build/Config</a:t>
            </a:r>
          </a:p>
        </p:txBody>
      </p:sp>
      <p:sp>
        <p:nvSpPr>
          <p:cNvPr id="19" name="TextBox 18"/>
          <p:cNvSpPr txBox="1"/>
          <p:nvPr/>
        </p:nvSpPr>
        <p:spPr>
          <a:xfrm>
            <a:off x="868680" y="5257800"/>
            <a:ext cx="3108960" cy="1188720"/>
          </a:xfrm>
          <a:prstGeom prst="rect">
            <a:avLst/>
          </a:prstGeom>
          <a:noFill/>
        </p:spPr>
        <p:txBody>
          <a:bodyPr wrap="square">
            <a:spAutoFit/>
          </a:bodyPr>
          <a:lstStyle/>
          <a:p>
            <a:pPr>
              <a:lnSpc>
                <a:spcPts val="1600"/>
              </a:lnSpc>
            </a:pPr>
            <a:r>
              <a:rPr sz="1100">
                <a:solidFill>
                  <a:srgbClr val="666666"/>
                </a:solidFill>
                <a:latin typeface="Open Sans"/>
              </a:rPr>
              <a:t>☐  Contract fully executed  [Legal]
☐  Vendor onboarded in procurement  [Procurement]
☐  Technical requirements documented  [Architecture]
☐  Implementation team assigned  [PM]</a:t>
            </a:r>
          </a:p>
        </p:txBody>
      </p:sp>
      <p:sp>
        <p:nvSpPr>
          <p:cNvPr id="20" name="Rounded Rectangle 19"/>
          <p:cNvSpPr/>
          <p:nvPr/>
        </p:nvSpPr>
        <p:spPr>
          <a:xfrm>
            <a:off x="4343400" y="4754880"/>
            <a:ext cx="34747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43400" y="4754880"/>
            <a:ext cx="54864" cy="18288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4892040"/>
            <a:ext cx="3108960" cy="457200"/>
          </a:xfrm>
          <a:prstGeom prst="rect">
            <a:avLst/>
          </a:prstGeom>
          <a:noFill/>
        </p:spPr>
        <p:txBody>
          <a:bodyPr wrap="square">
            <a:spAutoFit/>
          </a:bodyPr>
          <a:lstStyle/>
          <a:p>
            <a:r>
              <a:rPr sz="1400" b="1">
                <a:solidFill>
                  <a:srgbClr val="00338D"/>
                </a:solidFill>
                <a:latin typeface="Open Sans"/>
              </a:rPr>
              <a:t>Build/Config to Go-Live</a:t>
            </a:r>
          </a:p>
        </p:txBody>
      </p:sp>
      <p:sp>
        <p:nvSpPr>
          <p:cNvPr id="23" name="TextBox 22"/>
          <p:cNvSpPr txBox="1"/>
          <p:nvPr/>
        </p:nvSpPr>
        <p:spPr>
          <a:xfrm>
            <a:off x="4526280" y="5257800"/>
            <a:ext cx="3108960" cy="1188720"/>
          </a:xfrm>
          <a:prstGeom prst="rect">
            <a:avLst/>
          </a:prstGeom>
          <a:noFill/>
        </p:spPr>
        <p:txBody>
          <a:bodyPr wrap="square">
            <a:spAutoFit/>
          </a:bodyPr>
          <a:lstStyle/>
          <a:p>
            <a:pPr>
              <a:lnSpc>
                <a:spcPts val="1600"/>
              </a:lnSpc>
            </a:pPr>
            <a:r>
              <a:rPr sz="1100">
                <a:solidFill>
                  <a:srgbClr val="666666"/>
                </a:solidFill>
                <a:latin typeface="Open Sans"/>
              </a:rPr>
              <a:t>☐  UAT completed and signed off  [Business]
☐  Security scan passed  [Security]
☐  Data migration validated  [Tech Lead]
☐  Training plan executed  [PM]</a:t>
            </a:r>
          </a:p>
        </p:txBody>
      </p:sp>
      <p:sp>
        <p:nvSpPr>
          <p:cNvPr id="24" name="Rounded Rectangle 23"/>
          <p:cNvSpPr/>
          <p:nvPr/>
        </p:nvSpPr>
        <p:spPr>
          <a:xfrm>
            <a:off x="8001000" y="4754880"/>
            <a:ext cx="3474720" cy="18288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01000" y="4754880"/>
            <a:ext cx="54864" cy="18288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80" y="4892040"/>
            <a:ext cx="3108960" cy="457200"/>
          </a:xfrm>
          <a:prstGeom prst="rect">
            <a:avLst/>
          </a:prstGeom>
          <a:noFill/>
        </p:spPr>
        <p:txBody>
          <a:bodyPr wrap="square">
            <a:spAutoFit/>
          </a:bodyPr>
          <a:lstStyle/>
          <a:p>
            <a:r>
              <a:rPr sz="1400" b="1">
                <a:solidFill>
                  <a:srgbClr val="00338D"/>
                </a:solidFill>
                <a:latin typeface="Open Sans"/>
              </a:rPr>
              <a:t>Go-Live to Operations</a:t>
            </a:r>
          </a:p>
        </p:txBody>
      </p:sp>
      <p:sp>
        <p:nvSpPr>
          <p:cNvPr id="27" name="TextBox 26"/>
          <p:cNvSpPr txBox="1"/>
          <p:nvPr/>
        </p:nvSpPr>
        <p:spPr>
          <a:xfrm>
            <a:off x="8183880" y="5257800"/>
            <a:ext cx="3108960" cy="1188720"/>
          </a:xfrm>
          <a:prstGeom prst="rect">
            <a:avLst/>
          </a:prstGeom>
          <a:noFill/>
        </p:spPr>
        <p:txBody>
          <a:bodyPr wrap="square">
            <a:spAutoFit/>
          </a:bodyPr>
          <a:lstStyle/>
          <a:p>
            <a:pPr>
              <a:lnSpc>
                <a:spcPts val="1600"/>
              </a:lnSpc>
            </a:pPr>
            <a:r>
              <a:rPr sz="1100">
                <a:solidFill>
                  <a:srgbClr val="666666"/>
                </a:solidFill>
                <a:latin typeface="Open Sans"/>
              </a:rPr>
              <a:t>☐  Go-live approval from sponsor  [Sponsor]
☐  Monitoring configured  [Operations]
☐  Support contacts established  [Quarterback]
☐  SLA actuals documented  [Quarterback]</a:t>
            </a:r>
          </a:p>
        </p:txBody>
      </p:sp>
      <p:sp>
        <p:nvSpPr>
          <p:cNvPr id="28" name="Rectangle 27"/>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11</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When Ready: The Automation Platform</a:t>
            </a:r>
          </a:p>
        </p:txBody>
      </p:sp>
      <p:sp>
        <p:nvSpPr>
          <p:cNvPr id="4" name="TextBox 3"/>
          <p:cNvSpPr txBox="1"/>
          <p:nvPr/>
        </p:nvSpPr>
        <p:spPr>
          <a:xfrm>
            <a:off x="685800" y="1005840"/>
            <a:ext cx="10820095" cy="457200"/>
          </a:xfrm>
          <a:prstGeom prst="rect">
            <a:avLst/>
          </a:prstGeom>
          <a:noFill/>
        </p:spPr>
        <p:txBody>
          <a:bodyPr wrap="square">
            <a:spAutoFit/>
          </a:bodyPr>
          <a:lstStyle/>
          <a:p>
            <a:r>
              <a:rPr sz="1400">
                <a:solidFill>
                  <a:srgbClr val="666666"/>
                </a:solidFill>
                <a:latin typeface="Open Sans"/>
              </a:rPr>
              <a:t>The process improvements above run manually. When the organization is ready, these tools enforce and accelerate them.</a:t>
            </a:r>
          </a:p>
        </p:txBody>
      </p:sp>
      <p:sp>
        <p:nvSpPr>
          <p:cNvPr id="5" name="Rounded Rectangle 4"/>
          <p:cNvSpPr/>
          <p:nvPr/>
        </p:nvSpPr>
        <p:spPr>
          <a:xfrm>
            <a:off x="685800" y="1645920"/>
            <a:ext cx="2651760" cy="3200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45920"/>
            <a:ext cx="54864" cy="32004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2286000" cy="457200"/>
          </a:xfrm>
          <a:prstGeom prst="rect">
            <a:avLst/>
          </a:prstGeom>
          <a:noFill/>
        </p:spPr>
        <p:txBody>
          <a:bodyPr wrap="square">
            <a:spAutoFit/>
          </a:bodyPr>
          <a:lstStyle/>
          <a:p>
            <a:r>
              <a:rPr sz="1400" b="1">
                <a:solidFill>
                  <a:srgbClr val="00338D"/>
                </a:solidFill>
                <a:latin typeface="Open Sans"/>
              </a:rPr>
              <a:t>Task Worker</a:t>
            </a:r>
          </a:p>
        </p:txBody>
      </p:sp>
      <p:sp>
        <p:nvSpPr>
          <p:cNvPr id="8" name="TextBox 7"/>
          <p:cNvSpPr txBox="1"/>
          <p:nvPr/>
        </p:nvSpPr>
        <p:spPr>
          <a:xfrm>
            <a:off x="868680" y="2148840"/>
            <a:ext cx="2286000" cy="2560320"/>
          </a:xfrm>
          <a:prstGeom prst="rect">
            <a:avLst/>
          </a:prstGeom>
          <a:noFill/>
        </p:spPr>
        <p:txBody>
          <a:bodyPr wrap="square">
            <a:spAutoFit/>
          </a:bodyPr>
          <a:lstStyle/>
          <a:p>
            <a:pPr>
              <a:lnSpc>
                <a:spcPts val="1600"/>
              </a:lnSpc>
            </a:pPr>
            <a:r>
              <a:rPr sz="1100">
                <a:solidFill>
                  <a:srgbClr val="666666"/>
                </a:solidFill>
                <a:latin typeface="Open Sans"/>
              </a:rPr>
              <a:t>Live Camunda 8 task management with dynamic JSON form rendering, persona-based filtering, auto-fill defaults. 5-phase process flow visualization.</a:t>
            </a:r>
          </a:p>
        </p:txBody>
      </p:sp>
      <p:sp>
        <p:nvSpPr>
          <p:cNvPr id="9" name="Rounded Rectangle 8"/>
          <p:cNvSpPr/>
          <p:nvPr/>
        </p:nvSpPr>
        <p:spPr>
          <a:xfrm>
            <a:off x="3520440" y="1645920"/>
            <a:ext cx="2651760" cy="3200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0440" y="1645920"/>
            <a:ext cx="54864" cy="32004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783080"/>
            <a:ext cx="2286000" cy="457200"/>
          </a:xfrm>
          <a:prstGeom prst="rect">
            <a:avLst/>
          </a:prstGeom>
          <a:noFill/>
        </p:spPr>
        <p:txBody>
          <a:bodyPr wrap="square">
            <a:spAutoFit/>
          </a:bodyPr>
          <a:lstStyle/>
          <a:p>
            <a:r>
              <a:rPr sz="1400" b="1">
                <a:solidFill>
                  <a:srgbClr val="00338D"/>
                </a:solidFill>
                <a:latin typeface="Open Sans"/>
              </a:rPr>
              <a:t>Process Owner Dashboard</a:t>
            </a:r>
          </a:p>
        </p:txBody>
      </p:sp>
      <p:sp>
        <p:nvSpPr>
          <p:cNvPr id="12" name="TextBox 11"/>
          <p:cNvSpPr txBox="1"/>
          <p:nvPr/>
        </p:nvSpPr>
        <p:spPr>
          <a:xfrm>
            <a:off x="3703320" y="2148840"/>
            <a:ext cx="2286000" cy="2560320"/>
          </a:xfrm>
          <a:prstGeom prst="rect">
            <a:avLst/>
          </a:prstGeom>
          <a:noFill/>
        </p:spPr>
        <p:txBody>
          <a:bodyPr wrap="square">
            <a:spAutoFit/>
          </a:bodyPr>
          <a:lstStyle/>
          <a:p>
            <a:pPr>
              <a:lnSpc>
                <a:spcPts val="1600"/>
              </a:lnSpc>
            </a:pPr>
            <a:r>
              <a:rPr sz="1100">
                <a:solidFill>
                  <a:srgbClr val="666666"/>
                </a:solidFill>
                <a:latin typeface="Open Sans"/>
              </a:rPr>
              <a:t>Real-time KPIs: active instances, cycle time, SLA breaches, task backlog. Phase distribution chart, sortable instance table, 10-second auto-refresh.</a:t>
            </a:r>
          </a:p>
        </p:txBody>
      </p:sp>
      <p:sp>
        <p:nvSpPr>
          <p:cNvPr id="13" name="Rounded Rectangle 12"/>
          <p:cNvSpPr/>
          <p:nvPr/>
        </p:nvSpPr>
        <p:spPr>
          <a:xfrm>
            <a:off x="6355080" y="1645920"/>
            <a:ext cx="2651760" cy="3200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45920"/>
            <a:ext cx="54864" cy="32004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783080"/>
            <a:ext cx="2286000" cy="457200"/>
          </a:xfrm>
          <a:prstGeom prst="rect">
            <a:avLst/>
          </a:prstGeom>
          <a:noFill/>
        </p:spPr>
        <p:txBody>
          <a:bodyPr wrap="square">
            <a:spAutoFit/>
          </a:bodyPr>
          <a:lstStyle/>
          <a:p>
            <a:r>
              <a:rPr sz="1400" b="1">
                <a:solidFill>
                  <a:srgbClr val="00338D"/>
                </a:solidFill>
                <a:latin typeface="Open Sans"/>
              </a:rPr>
              <a:t>Mini RFP Pre-Screen</a:t>
            </a:r>
          </a:p>
        </p:txBody>
      </p:sp>
      <p:sp>
        <p:nvSpPr>
          <p:cNvPr id="16" name="TextBox 15"/>
          <p:cNvSpPr txBox="1"/>
          <p:nvPr/>
        </p:nvSpPr>
        <p:spPr>
          <a:xfrm>
            <a:off x="6537960" y="2148840"/>
            <a:ext cx="2286000" cy="2560320"/>
          </a:xfrm>
          <a:prstGeom prst="rect">
            <a:avLst/>
          </a:prstGeom>
          <a:noFill/>
        </p:spPr>
        <p:txBody>
          <a:bodyPr wrap="square">
            <a:spAutoFit/>
          </a:bodyPr>
          <a:lstStyle/>
          <a:p>
            <a:pPr>
              <a:lnSpc>
                <a:spcPts val="1600"/>
              </a:lnSpc>
            </a:pPr>
            <a:r>
              <a:rPr sz="1100">
                <a:solidFill>
                  <a:srgbClr val="666666"/>
                </a:solidFill>
                <a:latin typeface="Open Sans"/>
              </a:rPr>
              <a:t>9-step self-service wizard for vendor pre-screening (SP0). Deal-killer alerts, vendor waiting screen with Day 3/7/11 reminders, scoring dashboard.</a:t>
            </a:r>
          </a:p>
        </p:txBody>
      </p:sp>
      <p:sp>
        <p:nvSpPr>
          <p:cNvPr id="17" name="Rounded Rectangle 16"/>
          <p:cNvSpPr/>
          <p:nvPr/>
        </p:nvSpPr>
        <p:spPr>
          <a:xfrm>
            <a:off x="9189720" y="1645920"/>
            <a:ext cx="2651760" cy="3200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89720" y="1645920"/>
            <a:ext cx="54864" cy="32004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1783080"/>
            <a:ext cx="2286000" cy="457200"/>
          </a:xfrm>
          <a:prstGeom prst="rect">
            <a:avLst/>
          </a:prstGeom>
          <a:noFill/>
        </p:spPr>
        <p:txBody>
          <a:bodyPr wrap="square">
            <a:spAutoFit/>
          </a:bodyPr>
          <a:lstStyle/>
          <a:p>
            <a:r>
              <a:rPr sz="1400" b="1">
                <a:solidFill>
                  <a:srgbClr val="00338D"/>
                </a:solidFill>
                <a:latin typeface="Open Sans"/>
              </a:rPr>
              <a:t>Concierge Dashboard</a:t>
            </a:r>
          </a:p>
        </p:txBody>
      </p:sp>
      <p:sp>
        <p:nvSpPr>
          <p:cNvPr id="20" name="TextBox 19"/>
          <p:cNvSpPr txBox="1"/>
          <p:nvPr/>
        </p:nvSpPr>
        <p:spPr>
          <a:xfrm>
            <a:off x="9372600" y="2148840"/>
            <a:ext cx="2286000" cy="2560320"/>
          </a:xfrm>
          <a:prstGeom prst="rect">
            <a:avLst/>
          </a:prstGeom>
          <a:noFill/>
        </p:spPr>
        <p:txBody>
          <a:bodyPr wrap="square">
            <a:spAutoFit/>
          </a:bodyPr>
          <a:lstStyle/>
          <a:p>
            <a:pPr>
              <a:lnSpc>
                <a:spcPts val="1600"/>
              </a:lnSpc>
            </a:pPr>
            <a:r>
              <a:rPr sz="1100">
                <a:solidFill>
                  <a:srgbClr val="666666"/>
                </a:solidFill>
                <a:latin typeface="Open Sans"/>
              </a:rPr>
              <a:t>Unified navigation hub connecting all showcase applications with role-based access and persona-driven views.</a:t>
            </a:r>
          </a:p>
        </p:txBody>
      </p:sp>
      <p:sp>
        <p:nvSpPr>
          <p:cNvPr id="21" name="Rectangle 20"/>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12</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Technical Architecture</a:t>
            </a:r>
          </a:p>
        </p:txBody>
      </p:sp>
      <p:sp>
        <p:nvSpPr>
          <p:cNvPr id="4" name="Rounded Rectangle 3"/>
          <p:cNvSpPr/>
          <p:nvPr/>
        </p:nvSpPr>
        <p:spPr>
          <a:xfrm>
            <a:off x="685800" y="1371600"/>
            <a:ext cx="5303520" cy="45720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71600"/>
            <a:ext cx="54864" cy="45720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937760" cy="457200"/>
          </a:xfrm>
          <a:prstGeom prst="rect">
            <a:avLst/>
          </a:prstGeom>
          <a:noFill/>
        </p:spPr>
        <p:txBody>
          <a:bodyPr wrap="square">
            <a:spAutoFit/>
          </a:bodyPr>
          <a:lstStyle/>
          <a:p>
            <a:r>
              <a:rPr sz="1400" b="1">
                <a:solidFill>
                  <a:srgbClr val="00338D"/>
                </a:solidFill>
                <a:latin typeface="Open Sans"/>
              </a:rPr>
              <a:t>Camunda 8 Cloud (SaaS)</a:t>
            </a:r>
          </a:p>
        </p:txBody>
      </p:sp>
      <p:sp>
        <p:nvSpPr>
          <p:cNvPr id="7" name="TextBox 6"/>
          <p:cNvSpPr txBox="1"/>
          <p:nvPr/>
        </p:nvSpPr>
        <p:spPr>
          <a:xfrm>
            <a:off x="868680" y="1874520"/>
            <a:ext cx="4937760" cy="3931920"/>
          </a:xfrm>
          <a:prstGeom prst="rect">
            <a:avLst/>
          </a:prstGeom>
          <a:noFill/>
        </p:spPr>
        <p:txBody>
          <a:bodyPr wrap="square">
            <a:spAutoFit/>
          </a:bodyPr>
          <a:lstStyle/>
          <a:p>
            <a:pPr>
              <a:lnSpc>
                <a:spcPts val="1600"/>
              </a:lnSpc>
            </a:pPr>
            <a:r>
              <a:rPr sz="1100">
                <a:solidFill>
                  <a:srgbClr val="666666"/>
                </a:solidFill>
                <a:latin typeface="Open Sans"/>
              </a:rPr>
              <a:t>•  Zeebe Engine: Process orchestration, BPMN execution
•  Tasklist: Human task management API
•  Operate: Process monitoring, incident management
Express.js Gateway (localhost:3847)
•  OAuth2 client credentials authentication
•  REST API proxy to Camunda Cloud
•  zbctl-managed token auto-refresh</a:t>
            </a:r>
          </a:p>
        </p:txBody>
      </p:sp>
      <p:sp>
        <p:nvSpPr>
          <p:cNvPr id="8" name="Rounded Rectangle 7"/>
          <p:cNvSpPr/>
          <p:nvPr/>
        </p:nvSpPr>
        <p:spPr>
          <a:xfrm>
            <a:off x="6400800" y="1371600"/>
            <a:ext cx="5120640" cy="45720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371600"/>
            <a:ext cx="54864" cy="45720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508760"/>
            <a:ext cx="4754880" cy="457200"/>
          </a:xfrm>
          <a:prstGeom prst="rect">
            <a:avLst/>
          </a:prstGeom>
          <a:noFill/>
        </p:spPr>
        <p:txBody>
          <a:bodyPr wrap="square">
            <a:spAutoFit/>
          </a:bodyPr>
          <a:lstStyle/>
          <a:p>
            <a:r>
              <a:rPr sz="1400" b="1">
                <a:solidFill>
                  <a:srgbClr val="00338D"/>
                </a:solidFill>
                <a:latin typeface="Open Sans"/>
              </a:rPr>
              <a:t>Process Configuration</a:t>
            </a:r>
          </a:p>
        </p:txBody>
      </p:sp>
      <p:sp>
        <p:nvSpPr>
          <p:cNvPr id="11" name="TextBox 10"/>
          <p:cNvSpPr txBox="1"/>
          <p:nvPr/>
        </p:nvSpPr>
        <p:spPr>
          <a:xfrm>
            <a:off x="6583680" y="1874520"/>
            <a:ext cx="4754880" cy="3931920"/>
          </a:xfrm>
          <a:prstGeom prst="rect">
            <a:avLst/>
          </a:prstGeom>
          <a:noFill/>
        </p:spPr>
        <p:txBody>
          <a:bodyPr wrap="square">
            <a:spAutoFit/>
          </a:bodyPr>
          <a:lstStyle/>
          <a:p>
            <a:pPr>
              <a:lnSpc>
                <a:spcPts val="1600"/>
              </a:lnSpc>
            </a:pPr>
            <a:r>
              <a:rPr sz="1100">
                <a:solidFill>
                  <a:srgbClr val="666666"/>
                </a:solidFill>
                <a:latin typeface="Open Sans"/>
              </a:rPr>
              <a:t>•  Process ID: Process_Onboarding_v8
•  JSON Forms: 48 form definitions
•  DMN Tables: 8 decision tables
•  Personas: 7 lane-based roles
Integration Points:
•  OneTrust TPRM
•  Jira SLA Project
•  Camunda Operate
•  zbctl CLI
Cluster: sla-onboarding-dev | us-east-1 | Camunda 8.8+</a:t>
            </a:r>
          </a:p>
        </p:txBody>
      </p:sp>
      <p:sp>
        <p:nvSpPr>
          <p:cNvPr id="12" name="Rectangle 11"/>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13</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5-Phase Onboarding Lifecycle</a:t>
            </a:r>
          </a:p>
        </p:txBody>
      </p:sp>
      <p:sp>
        <p:nvSpPr>
          <p:cNvPr id="4" name="Rounded Rectangle 3"/>
          <p:cNvSpPr/>
          <p:nvPr/>
        </p:nvSpPr>
        <p:spPr>
          <a:xfrm>
            <a:off x="685800" y="1463040"/>
            <a:ext cx="1920240" cy="731520"/>
          </a:xfrm>
          <a:prstGeom prst="round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Open Sans"/>
              </a:rPr>
              <a:t>SP1
Request &amp; Triage</a:t>
            </a:r>
          </a:p>
        </p:txBody>
      </p:sp>
      <p:sp>
        <p:nvSpPr>
          <p:cNvPr id="5" name="TextBox 4"/>
          <p:cNvSpPr txBox="1"/>
          <p:nvPr/>
        </p:nvSpPr>
        <p:spPr>
          <a:xfrm>
            <a:off x="2606040" y="1645920"/>
            <a:ext cx="274320" cy="365760"/>
          </a:xfrm>
          <a:prstGeom prst="rect">
            <a:avLst/>
          </a:prstGeom>
          <a:noFill/>
        </p:spPr>
        <p:txBody>
          <a:bodyPr wrap="none">
            <a:spAutoFit/>
          </a:bodyPr>
          <a:lstStyle/>
          <a:p>
            <a:pPr algn="ctr"/>
            <a:r>
              <a:rPr sz="1800">
                <a:solidFill>
                  <a:srgbClr val="666666"/>
                </a:solidFill>
              </a:rPr>
              <a:t>→</a:t>
            </a:r>
          </a:p>
        </p:txBody>
      </p:sp>
      <p:sp>
        <p:nvSpPr>
          <p:cNvPr id="6" name="Rounded Rectangle 5"/>
          <p:cNvSpPr/>
          <p:nvPr/>
        </p:nvSpPr>
        <p:spPr>
          <a:xfrm>
            <a:off x="2880360" y="1463040"/>
            <a:ext cx="1920240" cy="73152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Open Sans"/>
              </a:rPr>
              <a:t>SP2
Planning &amp; Routing</a:t>
            </a:r>
          </a:p>
        </p:txBody>
      </p:sp>
      <p:sp>
        <p:nvSpPr>
          <p:cNvPr id="7" name="TextBox 6"/>
          <p:cNvSpPr txBox="1"/>
          <p:nvPr/>
        </p:nvSpPr>
        <p:spPr>
          <a:xfrm>
            <a:off x="4800600" y="1645920"/>
            <a:ext cx="274320" cy="365760"/>
          </a:xfrm>
          <a:prstGeom prst="rect">
            <a:avLst/>
          </a:prstGeom>
          <a:noFill/>
        </p:spPr>
        <p:txBody>
          <a:bodyPr wrap="none">
            <a:spAutoFit/>
          </a:bodyPr>
          <a:lstStyle/>
          <a:p>
            <a:pPr algn="ctr"/>
            <a:r>
              <a:rPr sz="1800">
                <a:solidFill>
                  <a:srgbClr val="666666"/>
                </a:solidFill>
              </a:rPr>
              <a:t>→</a:t>
            </a:r>
          </a:p>
        </p:txBody>
      </p:sp>
      <p:sp>
        <p:nvSpPr>
          <p:cNvPr id="8" name="Rounded Rectangle 7"/>
          <p:cNvSpPr/>
          <p:nvPr/>
        </p:nvSpPr>
        <p:spPr>
          <a:xfrm>
            <a:off x="5074920" y="1463040"/>
            <a:ext cx="1920240" cy="73152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Open Sans"/>
              </a:rPr>
              <a:t>SP3
Evaluation &amp; DD</a:t>
            </a:r>
          </a:p>
        </p:txBody>
      </p:sp>
      <p:sp>
        <p:nvSpPr>
          <p:cNvPr id="9" name="TextBox 8"/>
          <p:cNvSpPr txBox="1"/>
          <p:nvPr/>
        </p:nvSpPr>
        <p:spPr>
          <a:xfrm>
            <a:off x="6995160" y="1645920"/>
            <a:ext cx="274320" cy="365760"/>
          </a:xfrm>
          <a:prstGeom prst="rect">
            <a:avLst/>
          </a:prstGeom>
          <a:noFill/>
        </p:spPr>
        <p:txBody>
          <a:bodyPr wrap="none">
            <a:spAutoFit/>
          </a:bodyPr>
          <a:lstStyle/>
          <a:p>
            <a:pPr algn="ctr"/>
            <a:r>
              <a:rPr sz="1800">
                <a:solidFill>
                  <a:srgbClr val="666666"/>
                </a:solidFill>
              </a:rPr>
              <a:t>→</a:t>
            </a:r>
          </a:p>
        </p:txBody>
      </p:sp>
      <p:sp>
        <p:nvSpPr>
          <p:cNvPr id="10" name="Rounded Rectangle 9"/>
          <p:cNvSpPr/>
          <p:nvPr/>
        </p:nvSpPr>
        <p:spPr>
          <a:xfrm>
            <a:off x="7269479" y="1463040"/>
            <a:ext cx="1920240" cy="73152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Open Sans"/>
              </a:rPr>
              <a:t>SP4
Contracting &amp; Build</a:t>
            </a:r>
          </a:p>
        </p:txBody>
      </p:sp>
      <p:sp>
        <p:nvSpPr>
          <p:cNvPr id="11" name="TextBox 10"/>
          <p:cNvSpPr txBox="1"/>
          <p:nvPr/>
        </p:nvSpPr>
        <p:spPr>
          <a:xfrm>
            <a:off x="9189719" y="1645920"/>
            <a:ext cx="274320" cy="365760"/>
          </a:xfrm>
          <a:prstGeom prst="rect">
            <a:avLst/>
          </a:prstGeom>
          <a:noFill/>
        </p:spPr>
        <p:txBody>
          <a:bodyPr wrap="none">
            <a:spAutoFit/>
          </a:bodyPr>
          <a:lstStyle/>
          <a:p>
            <a:pPr algn="ctr"/>
            <a:r>
              <a:rPr sz="1800">
                <a:solidFill>
                  <a:srgbClr val="666666"/>
                </a:solidFill>
              </a:rPr>
              <a:t>→</a:t>
            </a:r>
          </a:p>
        </p:txBody>
      </p:sp>
      <p:sp>
        <p:nvSpPr>
          <p:cNvPr id="12" name="Rounded Rectangle 11"/>
          <p:cNvSpPr/>
          <p:nvPr/>
        </p:nvSpPr>
        <p:spPr>
          <a:xfrm>
            <a:off x="9464040" y="1463040"/>
            <a:ext cx="1920240" cy="7315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Open Sans"/>
              </a:rPr>
              <a:t>SP5
UAT &amp; Go-Live</a:t>
            </a:r>
          </a:p>
        </p:txBody>
      </p:sp>
      <p:sp>
        <p:nvSpPr>
          <p:cNvPr id="13" name="TextBox 12"/>
          <p:cNvSpPr txBox="1"/>
          <p:nvPr/>
        </p:nvSpPr>
        <p:spPr>
          <a:xfrm>
            <a:off x="685800" y="2468880"/>
            <a:ext cx="3657600" cy="365760"/>
          </a:xfrm>
          <a:prstGeom prst="rect">
            <a:avLst/>
          </a:prstGeom>
          <a:noFill/>
        </p:spPr>
        <p:txBody>
          <a:bodyPr wrap="none">
            <a:spAutoFit/>
          </a:bodyPr>
          <a:lstStyle/>
          <a:p>
            <a:r>
              <a:rPr sz="1600" b="1">
                <a:solidFill>
                  <a:srgbClr val="00338D"/>
                </a:solidFill>
                <a:latin typeface="Open Sans Condensed"/>
              </a:rPr>
              <a:t>9+1 Governance Lanes</a:t>
            </a:r>
          </a:p>
        </p:txBody>
      </p:sp>
      <p:sp>
        <p:nvSpPr>
          <p:cNvPr id="14" name="Rounded Rectangle 13"/>
          <p:cNvSpPr/>
          <p:nvPr/>
        </p:nvSpPr>
        <p:spPr>
          <a:xfrm>
            <a:off x="685800" y="2926080"/>
            <a:ext cx="1920240" cy="365760"/>
          </a:xfrm>
          <a:prstGeom prst="round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Business</a:t>
            </a:r>
          </a:p>
        </p:txBody>
      </p:sp>
      <p:sp>
        <p:nvSpPr>
          <p:cNvPr id="15" name="Rounded Rectangle 14"/>
          <p:cNvSpPr/>
          <p:nvPr/>
        </p:nvSpPr>
        <p:spPr>
          <a:xfrm>
            <a:off x="2880360" y="2926080"/>
            <a:ext cx="1920240" cy="3657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Governance</a:t>
            </a:r>
          </a:p>
        </p:txBody>
      </p:sp>
      <p:sp>
        <p:nvSpPr>
          <p:cNvPr id="16" name="Rounded Rectangle 15"/>
          <p:cNvSpPr/>
          <p:nvPr/>
        </p:nvSpPr>
        <p:spPr>
          <a:xfrm>
            <a:off x="5074920" y="2926080"/>
            <a:ext cx="1920240" cy="3657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Contracting</a:t>
            </a:r>
          </a:p>
        </p:txBody>
      </p:sp>
      <p:sp>
        <p:nvSpPr>
          <p:cNvPr id="17" name="Rounded Rectangle 16"/>
          <p:cNvSpPr/>
          <p:nvPr/>
        </p:nvSpPr>
        <p:spPr>
          <a:xfrm>
            <a:off x="7269479" y="2926080"/>
            <a:ext cx="1920240" cy="365760"/>
          </a:xfrm>
          <a:prstGeom prst="roundRect">
            <a:avLst/>
          </a:prstGeom>
          <a:solidFill>
            <a:srgbClr val="0091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Technical Assessment</a:t>
            </a:r>
          </a:p>
        </p:txBody>
      </p:sp>
      <p:sp>
        <p:nvSpPr>
          <p:cNvPr id="18" name="Rounded Rectangle 17"/>
          <p:cNvSpPr/>
          <p:nvPr/>
        </p:nvSpPr>
        <p:spPr>
          <a:xfrm>
            <a:off x="9464040" y="2926080"/>
            <a:ext cx="1920240" cy="3657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AI Review</a:t>
            </a:r>
          </a:p>
        </p:txBody>
      </p:sp>
      <p:sp>
        <p:nvSpPr>
          <p:cNvPr id="19" name="Rounded Rectangle 18"/>
          <p:cNvSpPr/>
          <p:nvPr/>
        </p:nvSpPr>
        <p:spPr>
          <a:xfrm>
            <a:off x="685800" y="3429000"/>
            <a:ext cx="1920240" cy="3657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Compliance</a:t>
            </a:r>
          </a:p>
        </p:txBody>
      </p:sp>
      <p:sp>
        <p:nvSpPr>
          <p:cNvPr id="20" name="Rounded Rectangle 19"/>
          <p:cNvSpPr/>
          <p:nvPr/>
        </p:nvSpPr>
        <p:spPr>
          <a:xfrm>
            <a:off x="2880360" y="3429000"/>
            <a:ext cx="1920240" cy="365760"/>
          </a:xfrm>
          <a:prstGeom prst="round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Oversight</a:t>
            </a:r>
          </a:p>
        </p:txBody>
      </p:sp>
      <p:sp>
        <p:nvSpPr>
          <p:cNvPr id="21" name="Rounded Rectangle 20"/>
          <p:cNvSpPr/>
          <p:nvPr/>
        </p:nvSpPr>
        <p:spPr>
          <a:xfrm>
            <a:off x="5074920" y="3429000"/>
            <a:ext cx="1920240" cy="36576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Automation</a:t>
            </a:r>
          </a:p>
        </p:txBody>
      </p:sp>
      <p:sp>
        <p:nvSpPr>
          <p:cNvPr id="22" name="Rounded Rectangle 21"/>
          <p:cNvSpPr/>
          <p:nvPr/>
        </p:nvSpPr>
        <p:spPr>
          <a:xfrm>
            <a:off x="7269479" y="3429000"/>
            <a:ext cx="1920240" cy="365760"/>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pPr>
            <a:r>
              <a:rPr sz="1000" b="1">
                <a:solidFill>
                  <a:srgbClr val="FFFFFF"/>
                </a:solidFill>
                <a:latin typeface="Open Sans"/>
              </a:rPr>
              <a:t>Vendor Response</a:t>
            </a:r>
          </a:p>
        </p:txBody>
      </p:sp>
      <p:sp>
        <p:nvSpPr>
          <p:cNvPr id="23" name="TextBox 22"/>
          <p:cNvSpPr txBox="1"/>
          <p:nvPr/>
        </p:nvSpPr>
        <p:spPr>
          <a:xfrm>
            <a:off x="685800" y="4114800"/>
            <a:ext cx="3657600" cy="365760"/>
          </a:xfrm>
          <a:prstGeom prst="rect">
            <a:avLst/>
          </a:prstGeom>
          <a:noFill/>
        </p:spPr>
        <p:txBody>
          <a:bodyPr wrap="none">
            <a:spAutoFit/>
          </a:bodyPr>
          <a:lstStyle/>
          <a:p>
            <a:r>
              <a:rPr sz="1600" b="1">
                <a:solidFill>
                  <a:srgbClr val="00338D"/>
                </a:solidFill>
                <a:latin typeface="Open Sans Condensed"/>
              </a:rPr>
              <a:t>8 DMN Decision Tables</a:t>
            </a:r>
          </a:p>
        </p:txBody>
      </p:sp>
      <p:sp>
        <p:nvSpPr>
          <p:cNvPr id="24" name="Rounded Rectangle 23"/>
          <p:cNvSpPr/>
          <p:nvPr/>
        </p:nvSpPr>
        <p:spPr>
          <a:xfrm>
            <a:off x="685800" y="457200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617720"/>
            <a:ext cx="2377440" cy="411480"/>
          </a:xfrm>
          <a:prstGeom prst="rect">
            <a:avLst/>
          </a:prstGeom>
          <a:noFill/>
        </p:spPr>
        <p:txBody>
          <a:bodyPr wrap="square">
            <a:spAutoFit/>
          </a:bodyPr>
          <a:lstStyle/>
          <a:p>
            <a:r>
              <a:rPr sz="1000" b="1">
                <a:solidFill>
                  <a:srgbClr val="00338D"/>
                </a:solidFill>
                <a:latin typeface="Open Sans"/>
              </a:rPr>
              <a:t>DMN-1: </a:t>
            </a:r>
            <a:r>
              <a:rPr sz="1000">
                <a:solidFill>
                  <a:srgbClr val="333333"/>
                </a:solidFill>
                <a:latin typeface="Open Sans"/>
              </a:rPr>
              <a:t>Risk Tier Classification</a:t>
            </a:r>
          </a:p>
        </p:txBody>
      </p:sp>
      <p:sp>
        <p:nvSpPr>
          <p:cNvPr id="26" name="Rounded Rectangle 25"/>
          <p:cNvSpPr/>
          <p:nvPr/>
        </p:nvSpPr>
        <p:spPr>
          <a:xfrm>
            <a:off x="3429000" y="457200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20440" y="4617720"/>
            <a:ext cx="2377440" cy="411480"/>
          </a:xfrm>
          <a:prstGeom prst="rect">
            <a:avLst/>
          </a:prstGeom>
          <a:noFill/>
        </p:spPr>
        <p:txBody>
          <a:bodyPr wrap="square">
            <a:spAutoFit/>
          </a:bodyPr>
          <a:lstStyle/>
          <a:p>
            <a:r>
              <a:rPr sz="1000" b="1">
                <a:solidFill>
                  <a:srgbClr val="00338D"/>
                </a:solidFill>
                <a:latin typeface="Open Sans"/>
              </a:rPr>
              <a:t>DMN-2: </a:t>
            </a:r>
            <a:r>
              <a:rPr sz="1000">
                <a:solidFill>
                  <a:srgbClr val="333333"/>
                </a:solidFill>
                <a:latin typeface="Open Sans"/>
              </a:rPr>
              <a:t>Pathway Routing</a:t>
            </a:r>
          </a:p>
        </p:txBody>
      </p:sp>
      <p:sp>
        <p:nvSpPr>
          <p:cNvPr id="28" name="Rounded Rectangle 27"/>
          <p:cNvSpPr/>
          <p:nvPr/>
        </p:nvSpPr>
        <p:spPr>
          <a:xfrm>
            <a:off x="6172200" y="457200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4617720"/>
            <a:ext cx="2377440" cy="411480"/>
          </a:xfrm>
          <a:prstGeom prst="rect">
            <a:avLst/>
          </a:prstGeom>
          <a:noFill/>
        </p:spPr>
        <p:txBody>
          <a:bodyPr wrap="square">
            <a:spAutoFit/>
          </a:bodyPr>
          <a:lstStyle/>
          <a:p>
            <a:r>
              <a:rPr sz="1000" b="1">
                <a:solidFill>
                  <a:srgbClr val="00338D"/>
                </a:solidFill>
                <a:latin typeface="Open Sans"/>
              </a:rPr>
              <a:t>DMN-3: </a:t>
            </a:r>
            <a:r>
              <a:rPr sz="1000">
                <a:solidFill>
                  <a:srgbClr val="333333"/>
                </a:solidFill>
                <a:latin typeface="Open Sans"/>
              </a:rPr>
              <a:t>Governance Review Routing</a:t>
            </a:r>
          </a:p>
        </p:txBody>
      </p:sp>
      <p:sp>
        <p:nvSpPr>
          <p:cNvPr id="30" name="Rounded Rectangle 29"/>
          <p:cNvSpPr/>
          <p:nvPr/>
        </p:nvSpPr>
        <p:spPr>
          <a:xfrm>
            <a:off x="8915400" y="457200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06840" y="4617720"/>
            <a:ext cx="2377440" cy="411480"/>
          </a:xfrm>
          <a:prstGeom prst="rect">
            <a:avLst/>
          </a:prstGeom>
          <a:noFill/>
        </p:spPr>
        <p:txBody>
          <a:bodyPr wrap="square">
            <a:spAutoFit/>
          </a:bodyPr>
          <a:lstStyle/>
          <a:p>
            <a:r>
              <a:rPr sz="1000" b="1">
                <a:solidFill>
                  <a:srgbClr val="00338D"/>
                </a:solidFill>
                <a:latin typeface="Open Sans"/>
              </a:rPr>
              <a:t>DMN-4: </a:t>
            </a:r>
            <a:r>
              <a:rPr sz="1000">
                <a:solidFill>
                  <a:srgbClr val="333333"/>
                </a:solidFill>
                <a:latin typeface="Open Sans"/>
              </a:rPr>
              <a:t>Automation Tier Assignment</a:t>
            </a:r>
          </a:p>
        </p:txBody>
      </p:sp>
      <p:sp>
        <p:nvSpPr>
          <p:cNvPr id="32" name="Rounded Rectangle 31"/>
          <p:cNvSpPr/>
          <p:nvPr/>
        </p:nvSpPr>
        <p:spPr>
          <a:xfrm>
            <a:off x="685800" y="521208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5257800"/>
            <a:ext cx="2377440" cy="411480"/>
          </a:xfrm>
          <a:prstGeom prst="rect">
            <a:avLst/>
          </a:prstGeom>
          <a:noFill/>
        </p:spPr>
        <p:txBody>
          <a:bodyPr wrap="square">
            <a:spAutoFit/>
          </a:bodyPr>
          <a:lstStyle/>
          <a:p>
            <a:r>
              <a:rPr sz="1000" b="1">
                <a:solidFill>
                  <a:srgbClr val="00338D"/>
                </a:solidFill>
                <a:latin typeface="Open Sans"/>
              </a:rPr>
              <a:t>DMN-5: </a:t>
            </a:r>
            <a:r>
              <a:rPr sz="1000">
                <a:solidFill>
                  <a:srgbClr val="333333"/>
                </a:solidFill>
                <a:latin typeface="Open Sans"/>
              </a:rPr>
              <a:t>Agent Confidence Escalation</a:t>
            </a:r>
          </a:p>
        </p:txBody>
      </p:sp>
      <p:sp>
        <p:nvSpPr>
          <p:cNvPr id="34" name="Rounded Rectangle 33"/>
          <p:cNvSpPr/>
          <p:nvPr/>
        </p:nvSpPr>
        <p:spPr>
          <a:xfrm>
            <a:off x="3429000" y="521208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20440" y="5257800"/>
            <a:ext cx="2377440" cy="411480"/>
          </a:xfrm>
          <a:prstGeom prst="rect">
            <a:avLst/>
          </a:prstGeom>
          <a:noFill/>
        </p:spPr>
        <p:txBody>
          <a:bodyPr wrap="square">
            <a:spAutoFit/>
          </a:bodyPr>
          <a:lstStyle/>
          <a:p>
            <a:r>
              <a:rPr sz="1000" b="1">
                <a:solidFill>
                  <a:srgbClr val="00338D"/>
                </a:solidFill>
                <a:latin typeface="Open Sans"/>
              </a:rPr>
              <a:t>DMN-6: </a:t>
            </a:r>
            <a:r>
              <a:rPr sz="1000">
                <a:solidFill>
                  <a:srgbClr val="333333"/>
                </a:solidFill>
                <a:latin typeface="Open Sans"/>
              </a:rPr>
              <a:t>Change Risk Scoring</a:t>
            </a:r>
          </a:p>
        </p:txBody>
      </p:sp>
      <p:sp>
        <p:nvSpPr>
          <p:cNvPr id="36" name="Rounded Rectangle 35"/>
          <p:cNvSpPr/>
          <p:nvPr/>
        </p:nvSpPr>
        <p:spPr>
          <a:xfrm>
            <a:off x="6172200" y="521208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63640" y="5257800"/>
            <a:ext cx="2377440" cy="411480"/>
          </a:xfrm>
          <a:prstGeom prst="rect">
            <a:avLst/>
          </a:prstGeom>
          <a:noFill/>
        </p:spPr>
        <p:txBody>
          <a:bodyPr wrap="square">
            <a:spAutoFit/>
          </a:bodyPr>
          <a:lstStyle/>
          <a:p>
            <a:r>
              <a:rPr sz="1000" b="1">
                <a:solidFill>
                  <a:srgbClr val="00338D"/>
                </a:solidFill>
                <a:latin typeface="Open Sans"/>
              </a:rPr>
              <a:t>DMN-7: </a:t>
            </a:r>
            <a:r>
              <a:rPr sz="1000">
                <a:solidFill>
                  <a:srgbClr val="333333"/>
                </a:solidFill>
                <a:latin typeface="Open Sans"/>
              </a:rPr>
              <a:t>Vulnerability Remediation</a:t>
            </a:r>
          </a:p>
        </p:txBody>
      </p:sp>
      <p:sp>
        <p:nvSpPr>
          <p:cNvPr id="38" name="Rounded Rectangle 37"/>
          <p:cNvSpPr/>
          <p:nvPr/>
        </p:nvSpPr>
        <p:spPr>
          <a:xfrm>
            <a:off x="8915400" y="5212080"/>
            <a:ext cx="2560320" cy="50292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06840" y="5257800"/>
            <a:ext cx="2377440" cy="411480"/>
          </a:xfrm>
          <a:prstGeom prst="rect">
            <a:avLst/>
          </a:prstGeom>
          <a:noFill/>
        </p:spPr>
        <p:txBody>
          <a:bodyPr wrap="square">
            <a:spAutoFit/>
          </a:bodyPr>
          <a:lstStyle/>
          <a:p>
            <a:r>
              <a:rPr sz="1000" b="1">
                <a:solidFill>
                  <a:srgbClr val="00338D"/>
                </a:solidFill>
                <a:latin typeface="Open Sans"/>
              </a:rPr>
              <a:t>DMN-8: </a:t>
            </a:r>
            <a:r>
              <a:rPr sz="1000">
                <a:solidFill>
                  <a:srgbClr val="333333"/>
                </a:solidFill>
                <a:latin typeface="Open Sans"/>
              </a:rPr>
              <a:t>Monitoring Cadence Assignment</a:t>
            </a:r>
          </a:p>
        </p:txBody>
      </p:sp>
      <p:sp>
        <p:nvSpPr>
          <p:cNvPr id="40" name="Rectangle 39"/>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 y="457200"/>
            <a:ext cx="457200" cy="457200"/>
          </a:xfrm>
          <a:prstGeom prst="ellipse">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pPr>
            <a:r>
              <a:rPr sz="1600" b="1">
                <a:solidFill>
                  <a:srgbClr val="FFFFFF"/>
                </a:solidFill>
                <a:latin typeface="Open Sans"/>
              </a:rPr>
              <a:t>14</a:t>
            </a:r>
          </a:p>
        </p:txBody>
      </p:sp>
      <p:sp>
        <p:nvSpPr>
          <p:cNvPr id="3" name="TextBox 2"/>
          <p:cNvSpPr txBox="1"/>
          <p:nvPr/>
        </p:nvSpPr>
        <p:spPr>
          <a:xfrm>
            <a:off x="1371600" y="457200"/>
            <a:ext cx="9144000" cy="548640"/>
          </a:xfrm>
          <a:prstGeom prst="rect">
            <a:avLst/>
          </a:prstGeom>
          <a:noFill/>
        </p:spPr>
        <p:txBody>
          <a:bodyPr wrap="square">
            <a:spAutoFit/>
          </a:bodyPr>
          <a:lstStyle/>
          <a:p>
            <a:r>
              <a:rPr sz="2800" b="1">
                <a:solidFill>
                  <a:srgbClr val="00338D"/>
                </a:solidFill>
                <a:latin typeface="Open Sans Condensed"/>
              </a:rPr>
              <a:t>Next Steps</a:t>
            </a:r>
          </a:p>
        </p:txBody>
      </p:sp>
      <p:sp>
        <p:nvSpPr>
          <p:cNvPr id="4" name="Rounded Rectangle 3"/>
          <p:cNvSpPr/>
          <p:nvPr/>
        </p:nvSpPr>
        <p:spPr>
          <a:xfrm>
            <a:off x="685800" y="1371600"/>
            <a:ext cx="3474720" cy="36576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71600"/>
            <a:ext cx="54864" cy="36576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3108960" cy="457200"/>
          </a:xfrm>
          <a:prstGeom prst="rect">
            <a:avLst/>
          </a:prstGeom>
          <a:noFill/>
        </p:spPr>
        <p:txBody>
          <a:bodyPr wrap="square">
            <a:spAutoFit/>
          </a:bodyPr>
          <a:lstStyle/>
          <a:p>
            <a:r>
              <a:rPr sz="1400" b="1">
                <a:solidFill>
                  <a:srgbClr val="00338D"/>
                </a:solidFill>
                <a:latin typeface="Open Sans"/>
              </a:rPr>
              <a:t>This Week</a:t>
            </a:r>
          </a:p>
        </p:txBody>
      </p:sp>
      <p:sp>
        <p:nvSpPr>
          <p:cNvPr id="7" name="TextBox 6"/>
          <p:cNvSpPr txBox="1"/>
          <p:nvPr/>
        </p:nvSpPr>
        <p:spPr>
          <a:xfrm>
            <a:off x="868680" y="1874520"/>
            <a:ext cx="3108960" cy="3017520"/>
          </a:xfrm>
          <a:prstGeom prst="rect">
            <a:avLst/>
          </a:prstGeom>
          <a:noFill/>
        </p:spPr>
        <p:txBody>
          <a:bodyPr wrap="square">
            <a:spAutoFit/>
          </a:bodyPr>
          <a:lstStyle/>
          <a:p>
            <a:pPr>
              <a:lnSpc>
                <a:spcPts val="1600"/>
              </a:lnSpc>
            </a:pPr>
            <a:r>
              <a:rPr sz="1100">
                <a:solidFill>
                  <a:srgbClr val="666666"/>
                </a:solidFill>
                <a:latin typeface="Open Sans"/>
              </a:rPr>
              <a:t>•  Identify 2-3 Quarterback candidates
•  Schedule first weekly stand-up
•  Print and distribute pre-screen forms
•  Inventory all active requests</a:t>
            </a:r>
          </a:p>
        </p:txBody>
      </p:sp>
      <p:sp>
        <p:nvSpPr>
          <p:cNvPr id="8" name="Rounded Rectangle 7"/>
          <p:cNvSpPr/>
          <p:nvPr/>
        </p:nvSpPr>
        <p:spPr>
          <a:xfrm>
            <a:off x="4343400" y="1371600"/>
            <a:ext cx="3474720" cy="36576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371600"/>
            <a:ext cx="54864" cy="36576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508760"/>
            <a:ext cx="3108960" cy="457200"/>
          </a:xfrm>
          <a:prstGeom prst="rect">
            <a:avLst/>
          </a:prstGeom>
          <a:noFill/>
        </p:spPr>
        <p:txBody>
          <a:bodyPr wrap="square">
            <a:spAutoFit/>
          </a:bodyPr>
          <a:lstStyle/>
          <a:p>
            <a:r>
              <a:rPr sz="1400" b="1">
                <a:solidFill>
                  <a:srgbClr val="00338D"/>
                </a:solidFill>
                <a:latin typeface="Open Sans"/>
              </a:rPr>
              <a:t>This Month</a:t>
            </a:r>
          </a:p>
        </p:txBody>
      </p:sp>
      <p:sp>
        <p:nvSpPr>
          <p:cNvPr id="11" name="TextBox 10"/>
          <p:cNvSpPr txBox="1"/>
          <p:nvPr/>
        </p:nvSpPr>
        <p:spPr>
          <a:xfrm>
            <a:off x="4526280" y="1874520"/>
            <a:ext cx="3108960" cy="3017520"/>
          </a:xfrm>
          <a:prstGeom prst="rect">
            <a:avLst/>
          </a:prstGeom>
          <a:noFill/>
        </p:spPr>
        <p:txBody>
          <a:bodyPr wrap="square">
            <a:spAutoFit/>
          </a:bodyPr>
          <a:lstStyle/>
          <a:p>
            <a:pPr>
              <a:lnSpc>
                <a:spcPts val="1600"/>
              </a:lnSpc>
            </a:pPr>
            <a:r>
              <a:rPr sz="1100">
                <a:solidFill>
                  <a:srgbClr val="666666"/>
                </a:solidFill>
                <a:latin typeface="Open Sans"/>
              </a:rPr>
              <a:t>•  Run parallel reviews on next 3 requests
•  Classify entire backlog by risk tier
•  Publish tracking board where leadership walks by
•  Measure baseline cycle time</a:t>
            </a:r>
          </a:p>
        </p:txBody>
      </p:sp>
      <p:sp>
        <p:nvSpPr>
          <p:cNvPr id="12" name="Rounded Rectangle 11"/>
          <p:cNvSpPr/>
          <p:nvPr/>
        </p:nvSpPr>
        <p:spPr>
          <a:xfrm>
            <a:off x="8001000" y="1371600"/>
            <a:ext cx="3474720" cy="36576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371600"/>
            <a:ext cx="54864" cy="365760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80" y="1508760"/>
            <a:ext cx="3108960" cy="457200"/>
          </a:xfrm>
          <a:prstGeom prst="rect">
            <a:avLst/>
          </a:prstGeom>
          <a:noFill/>
        </p:spPr>
        <p:txBody>
          <a:bodyPr wrap="square">
            <a:spAutoFit/>
          </a:bodyPr>
          <a:lstStyle/>
          <a:p>
            <a:r>
              <a:rPr sz="1400" b="1">
                <a:solidFill>
                  <a:srgbClr val="00338D"/>
                </a:solidFill>
                <a:latin typeface="Open Sans"/>
              </a:rPr>
              <a:t>This Quarter</a:t>
            </a:r>
          </a:p>
        </p:txBody>
      </p:sp>
      <p:sp>
        <p:nvSpPr>
          <p:cNvPr id="15" name="TextBox 14"/>
          <p:cNvSpPr txBox="1"/>
          <p:nvPr/>
        </p:nvSpPr>
        <p:spPr>
          <a:xfrm>
            <a:off x="8183880" y="1874520"/>
            <a:ext cx="3108960" cy="3017520"/>
          </a:xfrm>
          <a:prstGeom prst="rect">
            <a:avLst/>
          </a:prstGeom>
          <a:noFill/>
        </p:spPr>
        <p:txBody>
          <a:bodyPr wrap="square">
            <a:spAutoFit/>
          </a:bodyPr>
          <a:lstStyle/>
          <a:p>
            <a:pPr>
              <a:lnSpc>
                <a:spcPts val="1600"/>
              </a:lnSpc>
            </a:pPr>
            <a:r>
              <a:rPr sz="1100">
                <a:solidFill>
                  <a:srgbClr val="666666"/>
                </a:solidFill>
                <a:latin typeface="Open Sans"/>
              </a:rPr>
              <a:t>•  Measure cycle time reduction vs baseline
•  Pilot Camunda 8 automation on Fast-Track tier
•  Expand to additional governance domains
•  Document wins for executive sponsor</a:t>
            </a:r>
          </a:p>
        </p:txBody>
      </p:sp>
      <p:sp>
        <p:nvSpPr>
          <p:cNvPr id="16" name="TextBox 15"/>
          <p:cNvSpPr txBox="1"/>
          <p:nvPr/>
        </p:nvSpPr>
        <p:spPr>
          <a:xfrm>
            <a:off x="685800" y="5486400"/>
            <a:ext cx="10820095" cy="457200"/>
          </a:xfrm>
          <a:prstGeom prst="rect">
            <a:avLst/>
          </a:prstGeom>
          <a:noFill/>
        </p:spPr>
        <p:txBody>
          <a:bodyPr wrap="square">
            <a:spAutoFit/>
          </a:bodyPr>
          <a:lstStyle/>
          <a:p>
            <a:pPr algn="ctr"/>
            <a:r>
              <a:rPr sz="1600" b="1" i="1">
                <a:solidFill>
                  <a:srgbClr val="00338D"/>
                </a:solidFill>
                <a:latin typeface="Open Sans"/>
              </a:rPr>
              <a:t>The process improvement comes first. The technology enforces it later.</a:t>
            </a:r>
          </a:p>
        </p:txBody>
      </p:sp>
      <p:sp>
        <p:nvSpPr>
          <p:cNvPr id="17" name="Rectangle 16"/>
          <p:cNvSpPr/>
          <p:nvPr/>
        </p:nvSpPr>
        <p:spPr>
          <a:xfrm>
            <a:off x="0" y="6492240"/>
            <a:ext cx="12191695" cy="365760"/>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r"/>
            <a:r>
              <a:rPr sz="800">
                <a:solidFill>
                  <a:srgbClr val="FFFFFF"/>
                </a:solidFill>
                <a:latin typeface="Open Sans"/>
              </a:rPr>
              <a:t>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