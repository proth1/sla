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147483645" r:id="rId3"/>
    <p:sldId id="265" r:id="rId4"/>
    <p:sldId id="214748364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2"/>
    <p:restoredTop sz="94690"/>
  </p:normalViewPr>
  <p:slideViewPr>
    <p:cSldViewPr snapToGrid="0">
      <p:cViewPr varScale="1">
        <p:scale>
          <a:sx n="98" d="100"/>
          <a:sy n="98" d="100"/>
        </p:scale>
        <p:origin x="2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2DBE2-BE76-294F-BEBE-2C238DDA6639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E52DA-197C-5B46-AAFA-85EFC771E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45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0BB1B-C01F-8A08-FFED-ADAFA6DA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3669E-BEE5-1DDE-7C6B-EA8FDE00B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753BA-EB35-184D-F811-49090B884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F9218-2BB8-466A-B064-67FAB49EB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97292-9D48-44EE-BB70-4CA92DB9169A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1109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58857-C6B4-C0AA-8315-BF8A05A2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F0422-C534-06B8-6D2B-E5EC38512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E16FC-180A-9BF5-4E87-7BDA51D8F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95FAE-DD24-8E91-5894-A74947081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97292-9D48-44EE-BB70-4CA92DB9169A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2876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438AB-4985-193A-2B83-6736AADAF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69974-6F76-4DE8-F9D3-7161B5451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E2B6B-754C-2CD6-69C2-A261AE985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EA9D5-B4B5-AE0F-711D-F093BC401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97292-9D48-44EE-BB70-4CA92DB9169A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5236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522D0-064A-DA50-FCD5-DDB5E883C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F1117-42FA-70A5-7D00-25BB56855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F2E27-90BF-F976-546B-C7E1054C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D2477-5735-1642-9436-F0D3F0A465FA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88892-EB6E-5C43-8344-7BC894B2A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7A9E0-5B0B-DE70-8EB7-44957EBC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457AEE-BC18-774D-A90B-3CB7E1538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26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26DC-1469-867B-9910-01DB7D27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E5E92-55EF-6EF6-1AF2-AB642E7C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06B1C-9736-5BED-4638-4F7200C910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D2477-5735-1642-9436-F0D3F0A465FA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9EE40-22FD-96DB-A248-4ED4A807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33AD2-2DC8-A77F-98F6-2FDDEDBA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457AEE-BC18-774D-A90B-3CB7E1538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35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1A32F-24C3-E5BE-CD44-05A17FDE8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5CBA2-7B16-6B49-4962-04E3BF8EB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84131-E7AD-F7EB-9445-1C56BEB4BE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D2477-5735-1642-9436-F0D3F0A465FA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23ADB-28DC-1497-0474-BABC9CD6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B7596-F51E-C8AA-979C-895F0FE32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457AEE-BC18-774D-A90B-3CB7E1538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94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DB2C-B04E-BE56-B4A4-2B21B7FB8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73F44-555F-3815-1571-596036EF97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64718-8FED-D3F7-3913-15DF3A66D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6E265-8E7C-53A4-C545-F67887B538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D2477-5735-1642-9436-F0D3F0A465FA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1FF90-5819-D93D-1DEB-C2F14B3A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086E2-E318-C7FF-7FBD-1F8A1AD3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457AEE-BC18-774D-A90B-3CB7E1538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9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44D1C-B2E4-324D-E610-966986D67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96915-1183-F19C-3606-7E72E0396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6FBA4-3355-79F0-8A0F-A21A2DF19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E25EE2-7F7C-802E-FC54-4EFE67C91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33229-CE70-FA2D-F1F2-CED66C8B2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4151F5-8EEB-8BD2-BACB-0AC4C080A1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D2477-5735-1642-9436-F0D3F0A465FA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2A0924-0755-4842-B84B-AE21D2A3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8D2F28-F671-AFF6-5D02-5AF6517C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457AEE-BC18-774D-A90B-3CB7E1538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9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25B3-7554-255A-0978-1E2193906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1AFA93-3047-4754-65E5-90A0D376CA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D2477-5735-1642-9436-F0D3F0A465FA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156BC-38CF-B38C-5C4C-2E0FC0CE6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4AF50-EDA4-C065-CDE9-BE02F777D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457AEE-BC18-774D-A90B-3CB7E1538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16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F3A2B9-35E3-DDE9-2B60-929B4850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D2477-5735-1642-9436-F0D3F0A465FA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3C8E63-D097-1CDE-83F8-18D8D1D2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985FD-9698-21D9-5B7A-A7E5E8C2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457AEE-BC18-774D-A90B-3CB7E1538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94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7C949-D856-5C8C-6A06-48BD3E8A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2BB1A-B117-2AB3-7950-F0205F8F9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1ECC0-1E28-17AD-104B-CDB5EEA32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45215-7906-3CAC-6150-C77D4643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D2477-5735-1642-9436-F0D3F0A465FA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F60A9-7354-7630-CA69-A872C496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8D219-7B42-02FA-E0BA-72C1F40E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457AEE-BC18-774D-A90B-3CB7E1538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84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2001-7F0E-E67F-2B63-D3051E5CE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7790F0-98CC-DAA0-B5CF-840DB07AE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3BADC-C724-3098-3D62-FB8BAAD3D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4084D-7D9D-41D7-53A0-80564DCAA9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D2477-5735-1642-9436-F0D3F0A465FA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2BF44-B8F4-F36E-5DE8-5897EB88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849E5-DAC3-D868-6D85-30B89B2D7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457AEE-BC18-774D-A90B-3CB7E1538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87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E402-A2EC-DE91-1430-31DE0BDF1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70866-B637-399F-FC05-83E0ABCB4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B5ECA-88F6-EA94-149C-498D3E2B6F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D2477-5735-1642-9436-F0D3F0A465FA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E6CD-CD18-5E8E-C5EC-45FF7821A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9FABA-2144-E9F6-3032-FED6C26FE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457AEE-BC18-774D-A90B-3CB7E1538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472223-521B-94CA-FBD9-32A653A2F8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14398-871C-7741-F8A0-CD6C2C25D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9A862-F94A-C08A-29E7-A5307B10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D2477-5735-1642-9436-F0D3F0A465FA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09889-C03A-3FD7-CC2C-94305FED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A3E62-0C5D-16AD-7AF5-F3D94A867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457AEE-BC18-774D-A90B-3CB7E1538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06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302D653-33F6-4C1C-AB50-E1B7D310BE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60" y="1803966"/>
            <a:ext cx="11130914" cy="4347744"/>
          </a:xfrm>
          <a:prstGeom prst="rect">
            <a:avLst/>
          </a:prstGeom>
        </p:spPr>
        <p:txBody>
          <a:bodyPr numCol="2" spcCol="360000"/>
          <a:lstStyle>
            <a:lvl1pPr>
              <a:defRPr sz="100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 sz="1000"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 sz="900"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 sz="800"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 sz="700"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F89B9E-08E3-4BC0-9C0C-CE6A2920DF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60" y="352988"/>
            <a:ext cx="11130913" cy="540630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INSERT TITLE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64C03B7A-31ED-49AD-8945-639BCC829C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0060" y="985116"/>
            <a:ext cx="11123611" cy="3916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rgbClr val="0070C0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14009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7A63BE-328D-0254-9697-8BCA8DC17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39043-F8A6-F208-7956-2AF78368B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9B523-E278-35B7-9471-674E6B15A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DD2477-5735-1642-9436-F0D3F0A465FA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55A92-18FF-7879-E9BF-B7FC922891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1C747-ECBA-2D62-D7B5-C692F363D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457AEE-BC18-774D-A90B-3CB7E1538D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5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841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5232-7663-6925-FD21-5082552F2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03E94-FAD8-0C3E-114C-FB3C2C104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405" y="254587"/>
            <a:ext cx="11130913" cy="1147365"/>
          </a:xfrm>
        </p:spPr>
        <p:txBody>
          <a:bodyPr>
            <a:spAutoFit/>
          </a:bodyPr>
          <a:lstStyle/>
          <a:p>
            <a:r>
              <a:rPr lang="en-US" dirty="0">
                <a:solidFill>
                  <a:srgbClr val="2586CD"/>
                </a:solidFill>
                <a:latin typeface="Arial" panose="020B0604020202020204" pitchFamily="34" charset="0"/>
              </a:rPr>
              <a:t>End-to-end Transparent AI governance program</a:t>
            </a:r>
            <a:br>
              <a:rPr lang="en-US" b="0" cap="none" dirty="0">
                <a:solidFill>
                  <a:srgbClr val="2586CD"/>
                </a:solidFill>
                <a:latin typeface="Arial" panose="020B0604020202020204" pitchFamily="34" charset="0"/>
              </a:rPr>
            </a:br>
            <a:r>
              <a:rPr lang="en-US" sz="2000" b="0" cap="none" dirty="0">
                <a:solidFill>
                  <a:srgbClr val="2586CD"/>
                </a:solidFill>
                <a:latin typeface="Arial" panose="020B0604020202020204" pitchFamily="34" charset="0"/>
              </a:rPr>
              <a:t>All processes and sub-processes are fully defined with RACI role definitions driving alignment across the organization and extended stakeholder teams</a:t>
            </a:r>
            <a:r>
              <a:rPr lang="en-US" b="0" cap="none" dirty="0">
                <a:solidFill>
                  <a:srgbClr val="2586CD"/>
                </a:solidFill>
                <a:latin typeface="Arial" panose="020B0604020202020204" pitchFamily="34" charset="0"/>
              </a:rPr>
              <a:t>.</a:t>
            </a:r>
            <a:endParaRPr lang="en-US" b="0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53DB3F8-E9E6-E178-1070-E7C494CC6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54" y="2214373"/>
            <a:ext cx="11473842" cy="2124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eft-Right Arrow 8">
            <a:extLst>
              <a:ext uri="{FF2B5EF4-FFF2-40B4-BE49-F238E27FC236}">
                <a16:creationId xmlns:a16="http://schemas.microsoft.com/office/drawing/2014/main" id="{2A530B5E-3709-4039-6883-2168CAD9985C}"/>
              </a:ext>
            </a:extLst>
          </p:cNvPr>
          <p:cNvSpPr/>
          <p:nvPr/>
        </p:nvSpPr>
        <p:spPr>
          <a:xfrm>
            <a:off x="613775" y="1989551"/>
            <a:ext cx="11007543" cy="475989"/>
          </a:xfrm>
          <a:prstGeom prst="leftRightArrow">
            <a:avLst/>
          </a:prstGeom>
          <a:solidFill>
            <a:srgbClr val="2586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solidFill>
                  <a:schemeClr val="bg1"/>
                </a:solidFill>
              </a:rPr>
              <a:t>Integrated and Transparent AI Governance Operating Model </a:t>
            </a:r>
            <a:r>
              <a:rPr lang="en-US" sz="1100" b="1" i="1" dirty="0">
                <a:solidFill>
                  <a:schemeClr val="bg1"/>
                </a:solidFill>
              </a:rPr>
              <a:t>(current thought process)</a:t>
            </a:r>
            <a:endParaRPr lang="en-US" sz="1400" b="1" i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3A995D-4AAE-F581-AF94-8BB0E73EB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0526" y="4218113"/>
            <a:ext cx="2871604" cy="17812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2CC7A5-C211-3D53-44D6-CA1CE00F2972}"/>
              </a:ext>
            </a:extLst>
          </p:cNvPr>
          <p:cNvSpPr txBox="1"/>
          <p:nvPr/>
        </p:nvSpPr>
        <p:spPr>
          <a:xfrm>
            <a:off x="10114168" y="5888164"/>
            <a:ext cx="1722928" cy="43316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endParaRPr lang="en-US" sz="1400" noProof="0" dirty="0">
              <a:solidFill>
                <a:srgbClr val="0070C0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F41E47C-A3A8-B458-D0A7-43E78427A11D}"/>
              </a:ext>
            </a:extLst>
          </p:cNvPr>
          <p:cNvGrpSpPr/>
          <p:nvPr/>
        </p:nvGrpSpPr>
        <p:grpSpPr>
          <a:xfrm>
            <a:off x="3424667" y="4819959"/>
            <a:ext cx="2524792" cy="2441209"/>
            <a:chOff x="3844215" y="4459822"/>
            <a:chExt cx="2185446" cy="211309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6B3E9DE-3FD1-EB78-A565-647796E88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2896" r="22908"/>
            <a:stretch/>
          </p:blipFill>
          <p:spPr>
            <a:xfrm>
              <a:off x="3844215" y="5083916"/>
              <a:ext cx="845988" cy="67975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1C27887-44B3-CB50-F36F-350017C5F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6353" r="47222"/>
            <a:stretch/>
          </p:blipFill>
          <p:spPr>
            <a:xfrm>
              <a:off x="4677134" y="4459822"/>
              <a:ext cx="844038" cy="62099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BA5DD6C-F7F3-8AF9-3875-C6767959E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73514"/>
            <a:stretch/>
          </p:blipFill>
          <p:spPr>
            <a:xfrm>
              <a:off x="3844216" y="4459822"/>
              <a:ext cx="845988" cy="62099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FD75BD5-DD04-FAA0-4DDA-D0D3CD49C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7152"/>
            <a:stretch/>
          </p:blipFill>
          <p:spPr>
            <a:xfrm>
              <a:off x="4677134" y="5083916"/>
              <a:ext cx="844038" cy="6797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9982CE5-0433-4AC4-C3C5-F8229619B84D}"/>
                </a:ext>
              </a:extLst>
            </p:cNvPr>
            <p:cNvSpPr txBox="1"/>
            <p:nvPr/>
          </p:nvSpPr>
          <p:spPr>
            <a:xfrm>
              <a:off x="6029661" y="6572919"/>
              <a:ext cx="0" cy="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600"/>
                </a:spcAft>
              </a:pPr>
              <a:endParaRPr lang="en-US" sz="1400" noProof="0" dirty="0"/>
            </a:p>
          </p:txBody>
        </p:sp>
      </p:grpSp>
      <p:sp>
        <p:nvSpPr>
          <p:cNvPr id="19" name="Right Bracket 18">
            <a:extLst>
              <a:ext uri="{FF2B5EF4-FFF2-40B4-BE49-F238E27FC236}">
                <a16:creationId xmlns:a16="http://schemas.microsoft.com/office/drawing/2014/main" id="{0C3FC21A-91DC-7F48-5AF0-36B099134C46}"/>
              </a:ext>
            </a:extLst>
          </p:cNvPr>
          <p:cNvSpPr/>
          <p:nvPr/>
        </p:nvSpPr>
        <p:spPr>
          <a:xfrm rot="16200000">
            <a:off x="2955121" y="2037516"/>
            <a:ext cx="309284" cy="4598473"/>
          </a:xfrm>
          <a:prstGeom prst="rightBracket">
            <a:avLst>
              <a:gd name="adj" fmla="val 0"/>
            </a:avLst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8F3DE1-90B4-0C14-BD2A-C1D7CD1B299F}"/>
              </a:ext>
            </a:extLst>
          </p:cNvPr>
          <p:cNvCxnSpPr/>
          <p:nvPr/>
        </p:nvCxnSpPr>
        <p:spPr>
          <a:xfrm>
            <a:off x="2673752" y="3276600"/>
            <a:ext cx="0" cy="90551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FBCBC1A-1F16-3879-A676-F5F3F877009E}"/>
              </a:ext>
            </a:extLst>
          </p:cNvPr>
          <p:cNvSpPr txBox="1"/>
          <p:nvPr/>
        </p:nvSpPr>
        <p:spPr>
          <a:xfrm>
            <a:off x="3675241" y="3975309"/>
            <a:ext cx="1722928" cy="43316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900" i="1" noProof="0" dirty="0">
                <a:solidFill>
                  <a:srgbClr val="0070C0"/>
                </a:solidFill>
              </a:rPr>
              <a:t>Risk Assessment Best Practice</a:t>
            </a:r>
          </a:p>
        </p:txBody>
      </p:sp>
      <p:sp>
        <p:nvSpPr>
          <p:cNvPr id="23" name="Right Bracket 22">
            <a:extLst>
              <a:ext uri="{FF2B5EF4-FFF2-40B4-BE49-F238E27FC236}">
                <a16:creationId xmlns:a16="http://schemas.microsoft.com/office/drawing/2014/main" id="{A4A8A651-0C0E-D9B4-6106-97FD1AE67FAA}"/>
              </a:ext>
            </a:extLst>
          </p:cNvPr>
          <p:cNvSpPr/>
          <p:nvPr/>
        </p:nvSpPr>
        <p:spPr>
          <a:xfrm rot="16200000">
            <a:off x="9198711" y="2325742"/>
            <a:ext cx="309284" cy="4094970"/>
          </a:xfrm>
          <a:prstGeom prst="rightBracket">
            <a:avLst>
              <a:gd name="adj" fmla="val 0"/>
            </a:avLst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1732C7-7A14-574D-30B1-FB3C510B1DE2}"/>
              </a:ext>
            </a:extLst>
          </p:cNvPr>
          <p:cNvCxnSpPr/>
          <p:nvPr/>
        </p:nvCxnSpPr>
        <p:spPr>
          <a:xfrm>
            <a:off x="9855511" y="3294412"/>
            <a:ext cx="0" cy="90551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29D4AB94-4720-65B1-10BD-678A9D6B6FC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057"/>
          <a:stretch/>
        </p:blipFill>
        <p:spPr>
          <a:xfrm>
            <a:off x="7371470" y="4269980"/>
            <a:ext cx="3974740" cy="159637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C030F6A-5F81-D3C3-7A2F-07D096820344}"/>
              </a:ext>
            </a:extLst>
          </p:cNvPr>
          <p:cNvSpPr txBox="1"/>
          <p:nvPr/>
        </p:nvSpPr>
        <p:spPr>
          <a:xfrm>
            <a:off x="12516787" y="387995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endParaRPr lang="en-US" sz="1400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5383DD-14FA-B6C8-51ED-9C8483D448DE}"/>
              </a:ext>
            </a:extLst>
          </p:cNvPr>
          <p:cNvSpPr txBox="1"/>
          <p:nvPr/>
        </p:nvSpPr>
        <p:spPr>
          <a:xfrm>
            <a:off x="7222941" y="4003302"/>
            <a:ext cx="1722928" cy="43316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900" i="1" noProof="0" dirty="0">
                <a:solidFill>
                  <a:srgbClr val="0070C0"/>
                </a:solidFill>
              </a:rPr>
              <a:t>Observability and Monitoring Best Practice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7418F3-3D42-7EC7-EA3A-5BAA455CE633}"/>
              </a:ext>
            </a:extLst>
          </p:cNvPr>
          <p:cNvSpPr txBox="1"/>
          <p:nvPr/>
        </p:nvSpPr>
        <p:spPr>
          <a:xfrm>
            <a:off x="6629127" y="2740441"/>
            <a:ext cx="471468" cy="25125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900" noProof="0" dirty="0"/>
              <a:t>SDLC</a:t>
            </a:r>
          </a:p>
        </p:txBody>
      </p:sp>
    </p:spTree>
    <p:extLst>
      <p:ext uri="{BB962C8B-B14F-4D97-AF65-F5344CB8AC3E}">
        <p14:creationId xmlns:p14="http://schemas.microsoft.com/office/powerpoint/2010/main" val="1300377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B2C8E-1C55-9156-B4D2-F42E235F8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884316F-E7B4-52F1-1C12-A065BBDB99F6}"/>
              </a:ext>
            </a:extLst>
          </p:cNvPr>
          <p:cNvSpPr txBox="1"/>
          <p:nvPr/>
        </p:nvSpPr>
        <p:spPr>
          <a:xfrm>
            <a:off x="10114168" y="5888164"/>
            <a:ext cx="1722928" cy="43316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endParaRPr lang="en-US" sz="1400" noProof="0" dirty="0">
              <a:solidFill>
                <a:srgbClr val="0070C0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8C7C71-5A73-8B10-9D82-AC22D117FA77}"/>
              </a:ext>
            </a:extLst>
          </p:cNvPr>
          <p:cNvGrpSpPr/>
          <p:nvPr/>
        </p:nvGrpSpPr>
        <p:grpSpPr>
          <a:xfrm>
            <a:off x="354904" y="1448787"/>
            <a:ext cx="11303043" cy="4769133"/>
            <a:chOff x="640709" y="1396536"/>
            <a:chExt cx="9634050" cy="406492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AB2BE97-901F-5BEA-8D29-44B6ED277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40709" y="1396536"/>
              <a:ext cx="6078271" cy="377024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5097B7A-31E6-E2CE-1F93-830FCDB61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2896" r="22908" b="23905"/>
            <a:stretch>
              <a:fillRect/>
            </a:stretch>
          </p:blipFill>
          <p:spPr>
            <a:xfrm>
              <a:off x="6174013" y="4196581"/>
              <a:ext cx="2068737" cy="126488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70C9542-72BE-FE5B-DA69-EEDE0DD95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6353" r="47222"/>
            <a:stretch/>
          </p:blipFill>
          <p:spPr>
            <a:xfrm>
              <a:off x="8210791" y="2670452"/>
              <a:ext cx="2063968" cy="151855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7897D7B-4162-DAFB-C468-FD6477E0F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73514"/>
            <a:stretch/>
          </p:blipFill>
          <p:spPr>
            <a:xfrm>
              <a:off x="6174015" y="2670452"/>
              <a:ext cx="2068737" cy="151855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0DD7F8A-ED05-2B09-3C6E-909E218B5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7152" b="23904"/>
            <a:stretch>
              <a:fillRect/>
            </a:stretch>
          </p:blipFill>
          <p:spPr>
            <a:xfrm>
              <a:off x="8210791" y="4196580"/>
              <a:ext cx="2063968" cy="1264885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4ED179C-C923-71ED-3A4D-B662EFA1A858}"/>
              </a:ext>
            </a:extLst>
          </p:cNvPr>
          <p:cNvSpPr txBox="1"/>
          <p:nvPr/>
        </p:nvSpPr>
        <p:spPr>
          <a:xfrm>
            <a:off x="11518193" y="783771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endParaRPr lang="en-US" sz="1400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B010F5-B00D-BF4F-CB0D-D21CCB760151}"/>
              </a:ext>
            </a:extLst>
          </p:cNvPr>
          <p:cNvSpPr txBox="1"/>
          <p:nvPr/>
        </p:nvSpPr>
        <p:spPr>
          <a:xfrm>
            <a:off x="12516787" y="387995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endParaRPr lang="en-US" sz="1400" noProof="0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9869CFBF-5E1B-75F9-1CB3-9F86BD3D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5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B7F9-45AD-7DFC-CC62-97EE5D598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CE2C0DA-84AD-9C4D-8457-F34CE5AC5443}"/>
              </a:ext>
            </a:extLst>
          </p:cNvPr>
          <p:cNvSpPr txBox="1"/>
          <p:nvPr/>
        </p:nvSpPr>
        <p:spPr>
          <a:xfrm>
            <a:off x="10114168" y="5888164"/>
            <a:ext cx="1722928" cy="43316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endParaRPr lang="en-US" sz="1400" noProof="0" dirty="0">
              <a:solidFill>
                <a:srgbClr val="0070C0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2F85757-6429-8C45-6AB3-C5DB9E2F9B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57"/>
          <a:stretch/>
        </p:blipFill>
        <p:spPr>
          <a:xfrm>
            <a:off x="480060" y="1497909"/>
            <a:ext cx="10931072" cy="439025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688699E-2A9F-D372-D412-5E65DFBA8C4A}"/>
              </a:ext>
            </a:extLst>
          </p:cNvPr>
          <p:cNvSpPr txBox="1"/>
          <p:nvPr/>
        </p:nvSpPr>
        <p:spPr>
          <a:xfrm>
            <a:off x="12516787" y="387995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endParaRPr lang="en-US" sz="1400" noProof="0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DA4FCCA9-8969-F720-8C03-9E1C615C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31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52</Words>
  <Application>Microsoft Macintosh PowerPoint</Application>
  <PresentationFormat>Widescreen</PresentationFormat>
  <Paragraphs>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PowerPoint Presentation</vt:lpstr>
      <vt:lpstr>End-to-end Transparent AI governance program All processes and sub-processes are fully defined with RACI role definitions driving alignment across the organization and extended stakeholder teams.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Johnson</dc:creator>
  <cp:lastModifiedBy>David Johnson</cp:lastModifiedBy>
  <cp:revision>1</cp:revision>
  <dcterms:created xsi:type="dcterms:W3CDTF">2026-03-01T16:09:45Z</dcterms:created>
  <dcterms:modified xsi:type="dcterms:W3CDTF">2026-03-01T19:40:15Z</dcterms:modified>
</cp:coreProperties>
</file>